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85" r:id="rId2"/>
    <p:sldId id="284" r:id="rId3"/>
    <p:sldId id="256" r:id="rId4"/>
    <p:sldId id="257" r:id="rId5"/>
    <p:sldId id="283" r:id="rId6"/>
    <p:sldId id="258" r:id="rId7"/>
    <p:sldId id="259" r:id="rId8"/>
    <p:sldId id="260" r:id="rId9"/>
    <p:sldId id="261" r:id="rId10"/>
    <p:sldId id="282" r:id="rId11"/>
    <p:sldId id="262" r:id="rId12"/>
    <p:sldId id="270" r:id="rId13"/>
    <p:sldId id="263" r:id="rId14"/>
    <p:sldId id="264" r:id="rId15"/>
    <p:sldId id="265" r:id="rId16"/>
    <p:sldId id="266" r:id="rId17"/>
    <p:sldId id="267" r:id="rId18"/>
    <p:sldId id="287" r:id="rId19"/>
    <p:sldId id="286" r:id="rId20"/>
    <p:sldId id="269" r:id="rId21"/>
    <p:sldId id="268" r:id="rId22"/>
    <p:sldId id="288" r:id="rId23"/>
    <p:sldId id="281" r:id="rId24"/>
    <p:sldId id="289" r:id="rId25"/>
    <p:sldId id="271" r:id="rId26"/>
    <p:sldId id="272" r:id="rId27"/>
    <p:sldId id="273" r:id="rId28"/>
    <p:sldId id="280" r:id="rId29"/>
    <p:sldId id="274" r:id="rId30"/>
    <p:sldId id="275" r:id="rId31"/>
    <p:sldId id="276" r:id="rId32"/>
    <p:sldId id="277" r:id="rId33"/>
    <p:sldId id="279" r:id="rId34"/>
    <p:sldId id="27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8" autoAdjust="0"/>
    <p:restoredTop sz="80377" autoAdjust="0"/>
  </p:normalViewPr>
  <p:slideViewPr>
    <p:cSldViewPr snapToGrid="0">
      <p:cViewPr varScale="1">
        <p:scale>
          <a:sx n="70" d="100"/>
          <a:sy n="70" d="100"/>
        </p:scale>
        <p:origin x="58" y="43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11D9A-13E3-44B5-8100-4ACE4FE32261}" type="datetimeFigureOut">
              <a:rPr lang="en-IN" smtClean="0"/>
              <a:t>18-08-2026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3163F-6DC8-4FED-88CC-A4425A34E4CD}" type="slidenum">
              <a:rPr lang="en-IN" smtClean="0"/>
              <a:t>‹#›</a:t>
            </a:fld>
            <a:endParaRPr lang="en-IN"/>
          </a:p>
        </p:txBody>
      </p:sp>
    </p:spTree>
    <p:extLst>
      <p:ext uri="{BB962C8B-B14F-4D97-AF65-F5344CB8AC3E}">
        <p14:creationId xmlns:p14="http://schemas.microsoft.com/office/powerpoint/2010/main" val="2281999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session here. Set the frame in one line: this is not a demo of clever tools, it is about doing HR work better and more safely with them. Say what people will leave with - a tool decision, a prompt method, a starter library, a data rule, and one prompt they built themselves. Ask how many have already used an assistant for work; the answer tells you how fast to move through the first section.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Two slides, five minutes. The point is balance - open with what AI genuinely does well, then the counterweight of what must stay human. Do not let this become a debate about job losses; park that and promise to return to accountability in the governance section.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AI is already strong at scale, pattern-spotting and administrative consistency. Walk the five strengths quickly and give one local example for each - the resume screen that took two days now takes an hour. Key line: these are places where volume and repetition are the problem, and that is exactly what machines are good at. Do not oversell; the next slide is the counterweight.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counterweight. Everything here needs context, empathy, accountability or a judgement call someone must own. Emphasise the ethics and bias audit line - the same system that speeds up screening can systematise discrimination if nobody checks it. Ask the room which of these five they would never hand over, and why. That answer becomes your governance principle later.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Four slides on capability, limitations and price. Keep it practical - the aim is one primary tool plus one specialist, not an exhaustive comparison. Flag that prices were verified in August 2026 and should be re-checked before any purchase.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assistants, four centres of gravity. ChatGPT is the broad workhorse, Claude the reasoning and long-document specialist, Gemini the Workspace-native option, NotebookLM the grounded research tool that only answers from what you upload. Tell them not to memorise this - the point is to match the tool to the job. Pricing and capabilities verified August 2026; re-check before you present.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has a real trade-off. Flag the two that bite hardest in HR: cost opacity and unpredictable usage limits on the top tiers, and NotebookLM's deliberate inability to look beyond your sources - which is a feature for policy work and a blocker for market research. Invite the room to name the limit that would hurt their own workflow most.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prices as of August 2026, annual billing usually cheaper. The headline: a serious individual subscription lands around twenty dollars a month, business seats around twenty to twenty-five. Do not let the conversation stall on price - the real cost is licences nobody uses. Recommend piloting with a small group before buying seats across the function.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answer: pick one primary tool, then add a second for its distinct strength. Most HR teams do well with one broad assistant plus a grounded research tool for policy work. If the organisation already runs Google Workspace, that decision is largely made for you. Stress the last row - team and business tiers are what give you admin control and no training on your data.</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the heart of the session. Eight slides covering the prompt anatomy, three core methods, six more worth knowing, a worked before and after, a fill-in template and the guardrails. This is where people should be taking notes; tell them the template slide is the one to photograph.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whole session. Role, Ask, Context, Examples, Format, plus a guardrail line. Most bad AI output in HR comes from a missing C or F, not from a weak model. Have the room rewrite one real ask using the five blocks before moving on - it makes the following method slides land much faster.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H.R. S.M.A.R.T as </a:t>
            </a:r>
            <a:r>
              <a:rPr lang="en-US" dirty="0"/>
              <a:t>the </a:t>
            </a:r>
            <a:r>
              <a:rPr lang="en-US"/>
              <a:t>longer-form version of </a:t>
            </a:r>
            <a:r>
              <a:rPr lang="en-US" dirty="0"/>
              <a:t>the </a:t>
            </a:r>
            <a:r>
              <a:rPr lang="en-US"/>
              <a:t>R-A-C-E-F anatomy you just covered</a:t>
            </a:r>
            <a:r>
              <a:rPr lang="en-US" dirty="0"/>
              <a:t>, </a:t>
            </a:r>
            <a:r>
              <a:rPr lang="en-US"/>
              <a:t>not a competing system. Walk the two halves: the first four elements build the brief</a:t>
            </a:r>
            <a:r>
              <a:rPr lang="en-US" dirty="0"/>
              <a:t>, </a:t>
            </a:r>
            <a:r>
              <a:rPr lang="en-US"/>
              <a:t>the last three shape the output. Then point at the third column - it maps every letter back to R-A-C-E-F so nobody has to choose between the two</a:t>
            </a:r>
            <a:r>
              <a:rPr lang="en-US" dirty="0"/>
              <a:t>. </a:t>
            </a:r>
            <a:r>
              <a:rPr lang="en-US"/>
              <a:t>Close on the bottom </a:t>
            </a:r>
            <a:r>
              <a:rPr lang="en-US" dirty="0"/>
              <a:t>row: </a:t>
            </a:r>
            <a:r>
              <a:rPr lang="en-US"/>
              <a:t>use the full seven only when </a:t>
            </a:r>
            <a:r>
              <a:rPr lang="en-US" dirty="0"/>
              <a:t>the </a:t>
            </a:r>
            <a:r>
              <a:rPr lang="en-US"/>
              <a:t>work is high stakes, sensitive</a:t>
            </a:r>
            <a:r>
              <a:rPr lang="en-US" dirty="0"/>
              <a:t>, </a:t>
            </a:r>
            <a:r>
              <a:rPr lang="en-US"/>
              <a:t>reused or reviewed; for </a:t>
            </a:r>
            <a:r>
              <a:rPr lang="en-US" dirty="0"/>
              <a:t>a </a:t>
            </a:r>
            <a:r>
              <a:rPr lang="en-US"/>
              <a:t>quick task</a:t>
            </a:r>
            <a:r>
              <a:rPr lang="en-US" dirty="0"/>
              <a:t>, the </a:t>
            </a:r>
            <a:r>
              <a:rPr lang="en-US"/>
              <a:t>smallest useful subset wins</a:t>
            </a:r>
            <a:r>
              <a:rPr lang="en-US" dirty="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one. Casting the model in a role sets vocabulary, depth and caution. Read the example aloud and point out how much is doing work: seniority, sector, headcount, audience, tone, length and an escalation instruction. The watch-out matters - a persona is not evidence, and a confident HR-lawyer voice can still be wrong.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two. Zero-shot asks directly, one-shot shows a single answer, few-shot shows two to five. Use few-shot whenever you want the same shape of output at volume - scorecards, JDs, exit-comment coding. Warn them that examples anchor hard: sloppy or biased samples get copied faithfully, so curate the examples you paste.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three. Asking for the reasoning path before the verdict makes the logic checkable instead of trusted. Ideal for pay equity, headcount planning and case review. Two costs: longer answers, and reasoning that looks sound but is not. Treat the output as a draft argument you interrogate, never as a finding.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combine with the first three rather than competing with them. Call out grounded prompting as the single best hallucination control in HR - answer only from the attached handbook, and say so if it is not there. Self-critique and perspective prompting are the cheapest quality wins; iterative chaining is how you handle a job too big for one prompt.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before and after of the same request. The vague version invents requirements and gets the seniority wrong. The structured version fixes role, context, example, format, length, language and an instruction to flag inferences. Ask the room which single addition they think changed the output most - usually it is the attached style example.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framework on one real brief - a Copilot adoption plan. Read the left column straight down so people hear how short each element actually is; the whole prompt is seven lines. Then use the right column to show what each element buys you. Ask the room to delete one element out loud and predict what breaks - drop M and you get one generic message for three audiences, drop T and you get a plan nobody can measure.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point of this slide is reach. One method covers the whole employee lifecycle - only the role, situation, action and format change from workflow to workflow. Move quickly across the six and ask each table which one they would use first thing Monday. Land the line in the subtitle: human review stays essential in every one of these, because each output touches either a candidate, an employee or a policy.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artefact. Copy this template, replace the bracketed fields, and delete a line only when it genuinely does not apply. Most new tasks need only a fresh Ask and Context - two fields, not ten. Encourage the team to store filled versions by use case so proven prompts get reused rather than reinvented.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Habits, not just technique. HR prompts touch personal data and career decisions, so the discipline matters as much as the wording. The non-negotiables: no identifiable data, always ground in your own policy, always ask for assumptions to be labelled, and always keep an accountable human on the decision. This sets up the confidentiality section later.</a:t>
            </a:r>
          </a:p>
        </p:txBody>
      </p:sp>
    </p:spTree>
    <p:extLst>
      <p:ext uri="{BB962C8B-B14F-4D97-AF65-F5344CB8AC3E}">
        <p14:creationId xmlns:p14="http://schemas.microsoft.com/office/powerpoint/2010/main" val="941037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practical close to the prompting section - a sixty-second check anyone can run before hitting send. Read the five aloud and have people test them against the prompt they wrote earlier in the session; most rooms find they missed context limits or the format line. Finish on the last check: the framework earns you a stronger draft, but the hiring, pay and performance decision still belongs to a person.</a:t>
            </a:r>
          </a:p>
        </p:txBody>
      </p:sp>
    </p:spTree>
    <p:extLst>
      <p:ext uri="{BB962C8B-B14F-4D97-AF65-F5344CB8AC3E}">
        <p14:creationId xmlns:p14="http://schemas.microsoft.com/office/powerpoint/2010/main" val="9410375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Four slides turning technique into an asset the team keeps. Emphasise that a library only survives if it has owners, versions and a required source - otherwise it becomes a folder nobody trusts within a quarter.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Structure the library by moment in the employee journey - recruitment, lifecycle, performance. The metadata row is what turns a folder of prompts into a real library: name and owner, version and what changed, the source that must be attached, and what a reviewer checks. Without that, the library rots within a quarter.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recruitment prompts covering most of the drafting load. Note what they have in common: they attach a source, they name the format and length, and they exclude prohibited questions explicitly. The candidate feedback prompt is the one to demo live - it shows how guardrails keep the tone kind and the content defensible.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highest-volume HR work. The policy Q&amp;A prompt is the flagship: answer only from the attached handbook, quote the clause and section, and route to HR if it is not covered. Exit-insight coding is the fastest win for anyone drowning in free-text comments. Remind them every one of these still needs a human read before it ships.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management is where prompt discipline pays for itself. Evidence first, adjectives later - the review prompt works only if an evidence log is attached. Calibration cards in an identical format make panels much faster. The difficult-conversation prompt is rehearsal, not a script to read out, and it must avoid legal conclusions.</a:t>
            </a:r>
          </a:p>
        </p:txBody>
      </p:sp>
    </p:spTree>
    <p:extLst>
      <p:ext uri="{BB962C8B-B14F-4D97-AF65-F5344CB8AC3E}">
        <p14:creationId xmlns:p14="http://schemas.microsoft.com/office/powerpoint/2010/main" val="2394356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Four slides, and the part your legal and privacy colleagues care about most. Slow down here. If you have an internal AI policy or DPA in place, name it now so the rules feel local rather than generic.</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everyone needs. Decide once, as a team, what is safe to paste, then make it visible wherever people work. Red is never, whatever the tool. Amber is fine only in an approved tool with an agreement in place. Green is anything already public or generic. If someone asks about a case that does not fit a column, that is a red until HR says otherwise.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HR questions can be answered with no real identifiers at all. Walk the before and after: the same question, stripped of name, ID and exact salary, still gets a useful answer. The subtle risk is the last technique - in a small team, two attributes can re-identify someone even with the name removed. Aggregate, or do not ask.</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caution is not a control. These six are what hold up under audit: approved tools with an agreement, training and history switched off and re-checked after updates, a rule people can actually follow, the same lawful basis you already owe employees, a log of where AI touched a decision, and a rehearsed response when something goes wrong.</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It is deliberately one page so it can be printed, pinned and linked from every tool. Read one Do and one Don't aloud, then land the three points at the bottom: you stay accountable for what you send, ask before you paste if you are unsure, and report a slip the same day. Make clear that reporting is safe - the goal is a fast fix, not blame.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the working part. Twenty minutes in pairs, four timed rounds. Get people to bring a real task from last week - invented briefs produce polite, useless prompts. Leave ten minutes for the debrief and for pasting keepers into the shared library before everyone leaves.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session. Pairs, twenty minutes, four five-minute rounds - keep time strictly or the first round eats the hour. Insist people bring a real task from last week; invented briefs produce polite, useless prompts. Round one deliberately produces a bad prompt so the rebuild has something to beat. Walk the room during round two and check two things: is the identifier stripped, and is a source attached. Debrief with two or three pairs reading their before and after aloud, then have everyone paste their keeper into the shared library before they leave the room.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81902-840E-D722-91F8-758D46A5A0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0B9FA87-6C0E-9CA3-D1E1-C07B9125F1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FDC840-2A29-E349-6FCC-E099D7FE9F71}"/>
              </a:ext>
            </a:extLst>
          </p:cNvPr>
          <p:cNvSpPr>
            <a:spLocks noGrp="1"/>
          </p:cNvSpPr>
          <p:nvPr>
            <p:ph type="dt" sz="half" idx="10"/>
          </p:nvPr>
        </p:nvSpPr>
        <p:spPr/>
        <p:txBody>
          <a:bodyPr/>
          <a:lstStyle/>
          <a:p>
            <a:fld id="{46FC2570-8A12-4492-BEAA-9A59C0047F98}" type="datetimeFigureOut">
              <a:rPr lang="en-IN" smtClean="0"/>
              <a:t>18-08-2026</a:t>
            </a:fld>
            <a:endParaRPr lang="en-IN"/>
          </a:p>
        </p:txBody>
      </p:sp>
      <p:sp>
        <p:nvSpPr>
          <p:cNvPr id="5" name="Footer Placeholder 4">
            <a:extLst>
              <a:ext uri="{FF2B5EF4-FFF2-40B4-BE49-F238E27FC236}">
                <a16:creationId xmlns:a16="http://schemas.microsoft.com/office/drawing/2014/main" id="{48CAA974-6F7C-F230-DD31-B2114B642A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B1D774-5502-A6CF-560D-12CAEC0586E0}"/>
              </a:ext>
            </a:extLst>
          </p:cNvPr>
          <p:cNvSpPr>
            <a:spLocks noGrp="1"/>
          </p:cNvSpPr>
          <p:nvPr>
            <p:ph type="sldNum" sz="quarter" idx="12"/>
          </p:nvPr>
        </p:nvSpPr>
        <p:spPr/>
        <p:txBody>
          <a:bodyPr/>
          <a:lstStyle/>
          <a:p>
            <a:fld id="{3E4400A0-9A42-4084-B3DD-980139E6B0FD}" type="slidenum">
              <a:rPr lang="en-IN" smtClean="0"/>
              <a:t>‹#›</a:t>
            </a:fld>
            <a:endParaRPr lang="en-IN"/>
          </a:p>
        </p:txBody>
      </p:sp>
    </p:spTree>
    <p:extLst>
      <p:ext uri="{BB962C8B-B14F-4D97-AF65-F5344CB8AC3E}">
        <p14:creationId xmlns:p14="http://schemas.microsoft.com/office/powerpoint/2010/main" val="2489916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F8C-8981-D348-8F8A-11076ACBF2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3CC1B7-34F9-E37C-537F-BD03F6D308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CE3973-B6AE-2EAB-603B-7F972060226D}"/>
              </a:ext>
            </a:extLst>
          </p:cNvPr>
          <p:cNvSpPr>
            <a:spLocks noGrp="1"/>
          </p:cNvSpPr>
          <p:nvPr>
            <p:ph type="dt" sz="half" idx="10"/>
          </p:nvPr>
        </p:nvSpPr>
        <p:spPr/>
        <p:txBody>
          <a:bodyPr/>
          <a:lstStyle/>
          <a:p>
            <a:fld id="{46FC2570-8A12-4492-BEAA-9A59C0047F98}" type="datetimeFigureOut">
              <a:rPr lang="en-IN" smtClean="0"/>
              <a:t>18-08-2026</a:t>
            </a:fld>
            <a:endParaRPr lang="en-IN"/>
          </a:p>
        </p:txBody>
      </p:sp>
      <p:sp>
        <p:nvSpPr>
          <p:cNvPr id="5" name="Footer Placeholder 4">
            <a:extLst>
              <a:ext uri="{FF2B5EF4-FFF2-40B4-BE49-F238E27FC236}">
                <a16:creationId xmlns:a16="http://schemas.microsoft.com/office/drawing/2014/main" id="{C05E7A65-EC19-866F-6F39-00C6E5B61D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211644-8FC6-51E6-BE39-C2A861E03E59}"/>
              </a:ext>
            </a:extLst>
          </p:cNvPr>
          <p:cNvSpPr>
            <a:spLocks noGrp="1"/>
          </p:cNvSpPr>
          <p:nvPr>
            <p:ph type="sldNum" sz="quarter" idx="12"/>
          </p:nvPr>
        </p:nvSpPr>
        <p:spPr/>
        <p:txBody>
          <a:bodyPr/>
          <a:lstStyle/>
          <a:p>
            <a:fld id="{3E4400A0-9A42-4084-B3DD-980139E6B0FD}" type="slidenum">
              <a:rPr lang="en-IN" smtClean="0"/>
              <a:t>‹#›</a:t>
            </a:fld>
            <a:endParaRPr lang="en-IN"/>
          </a:p>
        </p:txBody>
      </p:sp>
    </p:spTree>
    <p:extLst>
      <p:ext uri="{BB962C8B-B14F-4D97-AF65-F5344CB8AC3E}">
        <p14:creationId xmlns:p14="http://schemas.microsoft.com/office/powerpoint/2010/main" val="3953065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E7D31-D742-A51C-F196-2EB44D8ED0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BFC43B-7EBE-312B-2F57-1563318FD9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37A359-0EA4-B52F-0B26-3E6AF5AF639B}"/>
              </a:ext>
            </a:extLst>
          </p:cNvPr>
          <p:cNvSpPr>
            <a:spLocks noGrp="1"/>
          </p:cNvSpPr>
          <p:nvPr>
            <p:ph type="dt" sz="half" idx="10"/>
          </p:nvPr>
        </p:nvSpPr>
        <p:spPr/>
        <p:txBody>
          <a:bodyPr/>
          <a:lstStyle/>
          <a:p>
            <a:fld id="{46FC2570-8A12-4492-BEAA-9A59C0047F98}" type="datetimeFigureOut">
              <a:rPr lang="en-IN" smtClean="0"/>
              <a:t>18-08-2026</a:t>
            </a:fld>
            <a:endParaRPr lang="en-IN"/>
          </a:p>
        </p:txBody>
      </p:sp>
      <p:sp>
        <p:nvSpPr>
          <p:cNvPr id="5" name="Footer Placeholder 4">
            <a:extLst>
              <a:ext uri="{FF2B5EF4-FFF2-40B4-BE49-F238E27FC236}">
                <a16:creationId xmlns:a16="http://schemas.microsoft.com/office/drawing/2014/main" id="{68F85B42-3333-99CB-E6E6-C836F843A1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5D6234-07A6-05FB-729D-680F2A9FD3C8}"/>
              </a:ext>
            </a:extLst>
          </p:cNvPr>
          <p:cNvSpPr>
            <a:spLocks noGrp="1"/>
          </p:cNvSpPr>
          <p:nvPr>
            <p:ph type="sldNum" sz="quarter" idx="12"/>
          </p:nvPr>
        </p:nvSpPr>
        <p:spPr/>
        <p:txBody>
          <a:bodyPr/>
          <a:lstStyle/>
          <a:p>
            <a:fld id="{3E4400A0-9A42-4084-B3DD-980139E6B0FD}" type="slidenum">
              <a:rPr lang="en-IN" smtClean="0"/>
              <a:t>‹#›</a:t>
            </a:fld>
            <a:endParaRPr lang="en-IN"/>
          </a:p>
        </p:txBody>
      </p:sp>
    </p:spTree>
    <p:extLst>
      <p:ext uri="{BB962C8B-B14F-4D97-AF65-F5344CB8AC3E}">
        <p14:creationId xmlns:p14="http://schemas.microsoft.com/office/powerpoint/2010/main" val="85768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21B3C-E379-F1B0-E17D-E9CFA88B9B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5004CA-837C-134C-33E9-F3E780C5B1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5DD650-85EE-3BA3-62A4-F32B4E1890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7997739-739A-48E2-60E2-4E0F0CFB06C0}"/>
              </a:ext>
            </a:extLst>
          </p:cNvPr>
          <p:cNvSpPr>
            <a:spLocks noGrp="1"/>
          </p:cNvSpPr>
          <p:nvPr>
            <p:ph type="dt" sz="half" idx="10"/>
          </p:nvPr>
        </p:nvSpPr>
        <p:spPr/>
        <p:txBody>
          <a:bodyPr/>
          <a:lstStyle/>
          <a:p>
            <a:fld id="{46FC2570-8A12-4492-BEAA-9A59C0047F98}" type="datetimeFigureOut">
              <a:rPr lang="en-IN" smtClean="0"/>
              <a:t>18-08-2026</a:t>
            </a:fld>
            <a:endParaRPr lang="en-IN"/>
          </a:p>
        </p:txBody>
      </p:sp>
      <p:sp>
        <p:nvSpPr>
          <p:cNvPr id="6" name="Footer Placeholder 5">
            <a:extLst>
              <a:ext uri="{FF2B5EF4-FFF2-40B4-BE49-F238E27FC236}">
                <a16:creationId xmlns:a16="http://schemas.microsoft.com/office/drawing/2014/main" id="{0E2ACA09-F0D0-12E0-0C25-23529B42A9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7843F2-EA2D-4EA3-3EC1-5338A4688A60}"/>
              </a:ext>
            </a:extLst>
          </p:cNvPr>
          <p:cNvSpPr>
            <a:spLocks noGrp="1"/>
          </p:cNvSpPr>
          <p:nvPr>
            <p:ph type="sldNum" sz="quarter" idx="12"/>
          </p:nvPr>
        </p:nvSpPr>
        <p:spPr/>
        <p:txBody>
          <a:bodyPr/>
          <a:lstStyle/>
          <a:p>
            <a:fld id="{3E4400A0-9A42-4084-B3DD-980139E6B0FD}" type="slidenum">
              <a:rPr lang="en-IN" smtClean="0"/>
              <a:t>‹#›</a:t>
            </a:fld>
            <a:endParaRPr lang="en-IN"/>
          </a:p>
        </p:txBody>
      </p:sp>
    </p:spTree>
    <p:extLst>
      <p:ext uri="{BB962C8B-B14F-4D97-AF65-F5344CB8AC3E}">
        <p14:creationId xmlns:p14="http://schemas.microsoft.com/office/powerpoint/2010/main" val="1132778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EEAA-A855-3FE4-944D-C55A20E6B3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E4EEC1-457A-6B0D-7729-84FAEF26F5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E349A5-8C9C-870D-ED3C-6FE18001FD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BC8868-F4DB-174A-A877-F704EDA148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9124ED-E022-B62E-F2E1-1079F6B32F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5DDC6A2-5E7F-7788-68A6-500C242F49FA}"/>
              </a:ext>
            </a:extLst>
          </p:cNvPr>
          <p:cNvSpPr>
            <a:spLocks noGrp="1"/>
          </p:cNvSpPr>
          <p:nvPr>
            <p:ph type="dt" sz="half" idx="10"/>
          </p:nvPr>
        </p:nvSpPr>
        <p:spPr/>
        <p:txBody>
          <a:bodyPr/>
          <a:lstStyle/>
          <a:p>
            <a:fld id="{46FC2570-8A12-4492-BEAA-9A59C0047F98}" type="datetimeFigureOut">
              <a:rPr lang="en-IN" smtClean="0"/>
              <a:t>18-08-2026</a:t>
            </a:fld>
            <a:endParaRPr lang="en-IN"/>
          </a:p>
        </p:txBody>
      </p:sp>
      <p:sp>
        <p:nvSpPr>
          <p:cNvPr id="8" name="Footer Placeholder 7">
            <a:extLst>
              <a:ext uri="{FF2B5EF4-FFF2-40B4-BE49-F238E27FC236}">
                <a16:creationId xmlns:a16="http://schemas.microsoft.com/office/drawing/2014/main" id="{79AE5611-BD25-BB6C-10B9-B96B7F25C5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9E60C68-AC71-6478-63EB-87D91B07E533}"/>
              </a:ext>
            </a:extLst>
          </p:cNvPr>
          <p:cNvSpPr>
            <a:spLocks noGrp="1"/>
          </p:cNvSpPr>
          <p:nvPr>
            <p:ph type="sldNum" sz="quarter" idx="12"/>
          </p:nvPr>
        </p:nvSpPr>
        <p:spPr/>
        <p:txBody>
          <a:bodyPr/>
          <a:lstStyle/>
          <a:p>
            <a:fld id="{3E4400A0-9A42-4084-B3DD-980139E6B0FD}" type="slidenum">
              <a:rPr lang="en-IN" smtClean="0"/>
              <a:t>‹#›</a:t>
            </a:fld>
            <a:endParaRPr lang="en-IN"/>
          </a:p>
        </p:txBody>
      </p:sp>
    </p:spTree>
    <p:extLst>
      <p:ext uri="{BB962C8B-B14F-4D97-AF65-F5344CB8AC3E}">
        <p14:creationId xmlns:p14="http://schemas.microsoft.com/office/powerpoint/2010/main" val="3767267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B1CEF-0E2C-2A82-5BF0-FAE4033758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F12628F-E60D-D65B-140E-AD26718B72AF}"/>
              </a:ext>
            </a:extLst>
          </p:cNvPr>
          <p:cNvSpPr>
            <a:spLocks noGrp="1"/>
          </p:cNvSpPr>
          <p:nvPr>
            <p:ph type="dt" sz="half" idx="10"/>
          </p:nvPr>
        </p:nvSpPr>
        <p:spPr/>
        <p:txBody>
          <a:bodyPr/>
          <a:lstStyle/>
          <a:p>
            <a:fld id="{46FC2570-8A12-4492-BEAA-9A59C0047F98}" type="datetimeFigureOut">
              <a:rPr lang="en-IN" smtClean="0"/>
              <a:t>18-08-2026</a:t>
            </a:fld>
            <a:endParaRPr lang="en-IN"/>
          </a:p>
        </p:txBody>
      </p:sp>
      <p:sp>
        <p:nvSpPr>
          <p:cNvPr id="4" name="Footer Placeholder 3">
            <a:extLst>
              <a:ext uri="{FF2B5EF4-FFF2-40B4-BE49-F238E27FC236}">
                <a16:creationId xmlns:a16="http://schemas.microsoft.com/office/drawing/2014/main" id="{207A728A-C97A-C56E-76F9-ADDF1125585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BD4857-AE43-9DE8-6158-96848BE2339C}"/>
              </a:ext>
            </a:extLst>
          </p:cNvPr>
          <p:cNvSpPr>
            <a:spLocks noGrp="1"/>
          </p:cNvSpPr>
          <p:nvPr>
            <p:ph type="sldNum" sz="quarter" idx="12"/>
          </p:nvPr>
        </p:nvSpPr>
        <p:spPr/>
        <p:txBody>
          <a:bodyPr/>
          <a:lstStyle/>
          <a:p>
            <a:fld id="{3E4400A0-9A42-4084-B3DD-980139E6B0FD}" type="slidenum">
              <a:rPr lang="en-IN" smtClean="0"/>
              <a:t>‹#›</a:t>
            </a:fld>
            <a:endParaRPr lang="en-IN"/>
          </a:p>
        </p:txBody>
      </p:sp>
    </p:spTree>
    <p:extLst>
      <p:ext uri="{BB962C8B-B14F-4D97-AF65-F5344CB8AC3E}">
        <p14:creationId xmlns:p14="http://schemas.microsoft.com/office/powerpoint/2010/main" val="926919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71F739-BC7B-6D1D-865D-CCC44C6EFF51}"/>
              </a:ext>
            </a:extLst>
          </p:cNvPr>
          <p:cNvSpPr>
            <a:spLocks noGrp="1"/>
          </p:cNvSpPr>
          <p:nvPr>
            <p:ph type="dt" sz="half" idx="10"/>
          </p:nvPr>
        </p:nvSpPr>
        <p:spPr/>
        <p:txBody>
          <a:bodyPr/>
          <a:lstStyle/>
          <a:p>
            <a:fld id="{46FC2570-8A12-4492-BEAA-9A59C0047F98}" type="datetimeFigureOut">
              <a:rPr lang="en-IN" smtClean="0"/>
              <a:t>18-08-2026</a:t>
            </a:fld>
            <a:endParaRPr lang="en-IN"/>
          </a:p>
        </p:txBody>
      </p:sp>
      <p:sp>
        <p:nvSpPr>
          <p:cNvPr id="3" name="Footer Placeholder 2">
            <a:extLst>
              <a:ext uri="{FF2B5EF4-FFF2-40B4-BE49-F238E27FC236}">
                <a16:creationId xmlns:a16="http://schemas.microsoft.com/office/drawing/2014/main" id="{CC8610FD-AD53-FCF1-AC2D-640CA5E03F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60F62A1-0141-B843-158F-05F741E46A99}"/>
              </a:ext>
            </a:extLst>
          </p:cNvPr>
          <p:cNvSpPr>
            <a:spLocks noGrp="1"/>
          </p:cNvSpPr>
          <p:nvPr>
            <p:ph type="sldNum" sz="quarter" idx="12"/>
          </p:nvPr>
        </p:nvSpPr>
        <p:spPr/>
        <p:txBody>
          <a:bodyPr/>
          <a:lstStyle/>
          <a:p>
            <a:fld id="{3E4400A0-9A42-4084-B3DD-980139E6B0FD}" type="slidenum">
              <a:rPr lang="en-IN" smtClean="0"/>
              <a:t>‹#›</a:t>
            </a:fld>
            <a:endParaRPr lang="en-IN"/>
          </a:p>
        </p:txBody>
      </p:sp>
    </p:spTree>
    <p:extLst>
      <p:ext uri="{BB962C8B-B14F-4D97-AF65-F5344CB8AC3E}">
        <p14:creationId xmlns:p14="http://schemas.microsoft.com/office/powerpoint/2010/main" val="1204732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060E2-BF1B-1E7E-45C8-640998161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5F52CE-6EF2-BF09-DE87-9677B2C162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9FF655-35BC-2ADA-5B8C-04B97F5B27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7F6484-4A68-EE30-6150-2F20A5E56035}"/>
              </a:ext>
            </a:extLst>
          </p:cNvPr>
          <p:cNvSpPr>
            <a:spLocks noGrp="1"/>
          </p:cNvSpPr>
          <p:nvPr>
            <p:ph type="dt" sz="half" idx="10"/>
          </p:nvPr>
        </p:nvSpPr>
        <p:spPr/>
        <p:txBody>
          <a:bodyPr/>
          <a:lstStyle/>
          <a:p>
            <a:fld id="{46FC2570-8A12-4492-BEAA-9A59C0047F98}" type="datetimeFigureOut">
              <a:rPr lang="en-IN" smtClean="0"/>
              <a:t>18-08-2026</a:t>
            </a:fld>
            <a:endParaRPr lang="en-IN"/>
          </a:p>
        </p:txBody>
      </p:sp>
      <p:sp>
        <p:nvSpPr>
          <p:cNvPr id="6" name="Footer Placeholder 5">
            <a:extLst>
              <a:ext uri="{FF2B5EF4-FFF2-40B4-BE49-F238E27FC236}">
                <a16:creationId xmlns:a16="http://schemas.microsoft.com/office/drawing/2014/main" id="{4FE47E3A-4F27-621D-6372-B0FE1C027A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9BFE7B-8007-313E-EE5A-7E6E3B2DB099}"/>
              </a:ext>
            </a:extLst>
          </p:cNvPr>
          <p:cNvSpPr>
            <a:spLocks noGrp="1"/>
          </p:cNvSpPr>
          <p:nvPr>
            <p:ph type="sldNum" sz="quarter" idx="12"/>
          </p:nvPr>
        </p:nvSpPr>
        <p:spPr/>
        <p:txBody>
          <a:bodyPr/>
          <a:lstStyle/>
          <a:p>
            <a:fld id="{3E4400A0-9A42-4084-B3DD-980139E6B0FD}" type="slidenum">
              <a:rPr lang="en-IN" smtClean="0"/>
              <a:t>‹#›</a:t>
            </a:fld>
            <a:endParaRPr lang="en-IN"/>
          </a:p>
        </p:txBody>
      </p:sp>
    </p:spTree>
    <p:extLst>
      <p:ext uri="{BB962C8B-B14F-4D97-AF65-F5344CB8AC3E}">
        <p14:creationId xmlns:p14="http://schemas.microsoft.com/office/powerpoint/2010/main" val="779404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C0A77-92B3-2729-DC24-1534801F70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3C3BB3-9EEF-A761-C490-88229BD0BD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FA17E0-917E-208D-0F99-1D7ECC746E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50AFB9-10C6-C0B7-DC8E-1B7C1C63F0F6}"/>
              </a:ext>
            </a:extLst>
          </p:cNvPr>
          <p:cNvSpPr>
            <a:spLocks noGrp="1"/>
          </p:cNvSpPr>
          <p:nvPr>
            <p:ph type="dt" sz="half" idx="10"/>
          </p:nvPr>
        </p:nvSpPr>
        <p:spPr/>
        <p:txBody>
          <a:bodyPr/>
          <a:lstStyle/>
          <a:p>
            <a:fld id="{46FC2570-8A12-4492-BEAA-9A59C0047F98}" type="datetimeFigureOut">
              <a:rPr lang="en-IN" smtClean="0"/>
              <a:t>18-08-2026</a:t>
            </a:fld>
            <a:endParaRPr lang="en-IN"/>
          </a:p>
        </p:txBody>
      </p:sp>
      <p:sp>
        <p:nvSpPr>
          <p:cNvPr id="6" name="Footer Placeholder 5">
            <a:extLst>
              <a:ext uri="{FF2B5EF4-FFF2-40B4-BE49-F238E27FC236}">
                <a16:creationId xmlns:a16="http://schemas.microsoft.com/office/drawing/2014/main" id="{7BCBAF14-9BA9-2FAD-7075-344BFE4EAD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25D550-43C6-AFFB-4894-B1A1C4F16BAB}"/>
              </a:ext>
            </a:extLst>
          </p:cNvPr>
          <p:cNvSpPr>
            <a:spLocks noGrp="1"/>
          </p:cNvSpPr>
          <p:nvPr>
            <p:ph type="sldNum" sz="quarter" idx="12"/>
          </p:nvPr>
        </p:nvSpPr>
        <p:spPr/>
        <p:txBody>
          <a:bodyPr/>
          <a:lstStyle/>
          <a:p>
            <a:fld id="{3E4400A0-9A42-4084-B3DD-980139E6B0FD}" type="slidenum">
              <a:rPr lang="en-IN" smtClean="0"/>
              <a:t>‹#›</a:t>
            </a:fld>
            <a:endParaRPr lang="en-IN"/>
          </a:p>
        </p:txBody>
      </p:sp>
    </p:spTree>
    <p:extLst>
      <p:ext uri="{BB962C8B-B14F-4D97-AF65-F5344CB8AC3E}">
        <p14:creationId xmlns:p14="http://schemas.microsoft.com/office/powerpoint/2010/main" val="4232762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9B42D-95F5-475E-4716-0DFE462A9DC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7C916B-8A84-5C1D-519B-868A04647F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D9EB60-1E49-F147-7928-AB943B15026F}"/>
              </a:ext>
            </a:extLst>
          </p:cNvPr>
          <p:cNvSpPr>
            <a:spLocks noGrp="1"/>
          </p:cNvSpPr>
          <p:nvPr>
            <p:ph type="dt" sz="half" idx="10"/>
          </p:nvPr>
        </p:nvSpPr>
        <p:spPr/>
        <p:txBody>
          <a:bodyPr/>
          <a:lstStyle/>
          <a:p>
            <a:fld id="{46FC2570-8A12-4492-BEAA-9A59C0047F98}" type="datetimeFigureOut">
              <a:rPr lang="en-IN" smtClean="0"/>
              <a:t>18-08-2026</a:t>
            </a:fld>
            <a:endParaRPr lang="en-IN"/>
          </a:p>
        </p:txBody>
      </p:sp>
      <p:sp>
        <p:nvSpPr>
          <p:cNvPr id="5" name="Footer Placeholder 4">
            <a:extLst>
              <a:ext uri="{FF2B5EF4-FFF2-40B4-BE49-F238E27FC236}">
                <a16:creationId xmlns:a16="http://schemas.microsoft.com/office/drawing/2014/main" id="{FB6A8EFA-94D5-C79F-89B2-04FB6BBACE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5C8032-C606-D9C9-1718-FA6E22EF2C89}"/>
              </a:ext>
            </a:extLst>
          </p:cNvPr>
          <p:cNvSpPr>
            <a:spLocks noGrp="1"/>
          </p:cNvSpPr>
          <p:nvPr>
            <p:ph type="sldNum" sz="quarter" idx="12"/>
          </p:nvPr>
        </p:nvSpPr>
        <p:spPr/>
        <p:txBody>
          <a:bodyPr/>
          <a:lstStyle/>
          <a:p>
            <a:fld id="{3E4400A0-9A42-4084-B3DD-980139E6B0FD}" type="slidenum">
              <a:rPr lang="en-IN" smtClean="0"/>
              <a:t>‹#›</a:t>
            </a:fld>
            <a:endParaRPr lang="en-IN"/>
          </a:p>
        </p:txBody>
      </p:sp>
    </p:spTree>
    <p:extLst>
      <p:ext uri="{BB962C8B-B14F-4D97-AF65-F5344CB8AC3E}">
        <p14:creationId xmlns:p14="http://schemas.microsoft.com/office/powerpoint/2010/main" val="1209406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E217C4-9245-F9E3-C996-FC08C6FE4BF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B5F65C-F5AA-326F-8362-01E43ECBAC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6667DC-B735-AA31-002A-DB338E64862A}"/>
              </a:ext>
            </a:extLst>
          </p:cNvPr>
          <p:cNvSpPr>
            <a:spLocks noGrp="1"/>
          </p:cNvSpPr>
          <p:nvPr>
            <p:ph type="dt" sz="half" idx="10"/>
          </p:nvPr>
        </p:nvSpPr>
        <p:spPr/>
        <p:txBody>
          <a:bodyPr/>
          <a:lstStyle/>
          <a:p>
            <a:fld id="{46FC2570-8A12-4492-BEAA-9A59C0047F98}" type="datetimeFigureOut">
              <a:rPr lang="en-IN" smtClean="0"/>
              <a:t>18-08-2026</a:t>
            </a:fld>
            <a:endParaRPr lang="en-IN"/>
          </a:p>
        </p:txBody>
      </p:sp>
      <p:sp>
        <p:nvSpPr>
          <p:cNvPr id="5" name="Footer Placeholder 4">
            <a:extLst>
              <a:ext uri="{FF2B5EF4-FFF2-40B4-BE49-F238E27FC236}">
                <a16:creationId xmlns:a16="http://schemas.microsoft.com/office/drawing/2014/main" id="{11CC3642-AEE7-35D1-7A89-97BE060315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42BF61-4101-E851-2811-B2A6E71EBF76}"/>
              </a:ext>
            </a:extLst>
          </p:cNvPr>
          <p:cNvSpPr>
            <a:spLocks noGrp="1"/>
          </p:cNvSpPr>
          <p:nvPr>
            <p:ph type="sldNum" sz="quarter" idx="12"/>
          </p:nvPr>
        </p:nvSpPr>
        <p:spPr/>
        <p:txBody>
          <a:bodyPr/>
          <a:lstStyle/>
          <a:p>
            <a:fld id="{3E4400A0-9A42-4084-B3DD-980139E6B0FD}" type="slidenum">
              <a:rPr lang="en-IN" smtClean="0"/>
              <a:t>‹#›</a:t>
            </a:fld>
            <a:endParaRPr lang="en-IN"/>
          </a:p>
        </p:txBody>
      </p:sp>
    </p:spTree>
    <p:extLst>
      <p:ext uri="{BB962C8B-B14F-4D97-AF65-F5344CB8AC3E}">
        <p14:creationId xmlns:p14="http://schemas.microsoft.com/office/powerpoint/2010/main" val="755572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14F3E6-8BFF-8F77-1B51-6AFC3B9680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A9684F-F8D3-9CED-3D58-717B05C36C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D88562-76A9-3CB7-1A7E-EBC44C2FDC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FC2570-8A12-4492-BEAA-9A59C0047F98}" type="datetimeFigureOut">
              <a:rPr lang="en-IN" smtClean="0"/>
              <a:t>18-08-2026</a:t>
            </a:fld>
            <a:endParaRPr lang="en-IN"/>
          </a:p>
        </p:txBody>
      </p:sp>
      <p:sp>
        <p:nvSpPr>
          <p:cNvPr id="5" name="Footer Placeholder 4">
            <a:extLst>
              <a:ext uri="{FF2B5EF4-FFF2-40B4-BE49-F238E27FC236}">
                <a16:creationId xmlns:a16="http://schemas.microsoft.com/office/drawing/2014/main" id="{BB552AC6-3C91-78AE-20AC-EEEE1A9F36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8D28A3A-630F-60CF-41E5-85E63D78F4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4400A0-9A42-4084-B3DD-980139E6B0FD}" type="slidenum">
              <a:rPr lang="en-IN" smtClean="0"/>
              <a:t>‹#›</a:t>
            </a:fld>
            <a:endParaRPr lang="en-IN"/>
          </a:p>
        </p:txBody>
      </p:sp>
    </p:spTree>
    <p:extLst>
      <p:ext uri="{BB962C8B-B14F-4D97-AF65-F5344CB8AC3E}">
        <p14:creationId xmlns:p14="http://schemas.microsoft.com/office/powerpoint/2010/main" val="434589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11"/>
          <p:cNvSpPr/>
          <p:nvPr/>
        </p:nvSpPr>
        <p:spPr>
          <a:xfrm>
            <a:off x="0" y="0"/>
            <a:ext cx="12192000" cy="6858000"/>
          </a:xfrm>
          <a:prstGeom prst="rect">
            <a:avLst/>
          </a:prstGeom>
          <a:solidFill>
            <a:srgbClr val="F3EBDD"/>
          </a:solidFill>
          <a:ln>
            <a:noFill/>
          </a:ln>
        </p:spPr>
        <p:txBody>
          <a:bodyPr/>
          <a:lstStyle/>
          <a:p>
            <a:endParaRPr lang="en-US"/>
          </a:p>
        </p:txBody>
      </p:sp>
      <p:sp>
        <p:nvSpPr>
          <p:cNvPr id="12" name="s12"/>
          <p:cNvSpPr/>
          <p:nvPr/>
        </p:nvSpPr>
        <p:spPr>
          <a:xfrm>
            <a:off x="0" y="0"/>
            <a:ext cx="12192000" cy="80000"/>
          </a:xfrm>
          <a:prstGeom prst="rect">
            <a:avLst/>
          </a:prstGeom>
          <a:solidFill>
            <a:srgbClr val="B4553A"/>
          </a:solidFill>
          <a:ln>
            <a:noFill/>
          </a:ln>
        </p:spPr>
        <p:txBody>
          <a:bodyPr/>
          <a:lstStyle/>
          <a:p>
            <a:endParaRPr lang="en-US"/>
          </a:p>
        </p:txBody>
      </p:sp>
      <p:sp>
        <p:nvSpPr>
          <p:cNvPr id="13" name="g13"/>
          <p:cNvSpPr/>
          <p:nvPr/>
        </p:nvSpPr>
        <p:spPr>
          <a:xfrm>
            <a:off x="7010400" y="0"/>
            <a:ext cx="5181600" cy="6858000"/>
          </a:xfrm>
          <a:prstGeom prst="rect">
            <a:avLst/>
          </a:prstGeom>
          <a:solidFill>
            <a:srgbClr val="332E29"/>
          </a:solidFill>
          <a:ln>
            <a:noFill/>
          </a:ln>
        </p:spPr>
        <p:txBody>
          <a:bodyPr/>
          <a:lstStyle/>
          <a:p>
            <a:endParaRPr lang="en-US"/>
          </a:p>
        </p:txBody>
      </p:sp>
      <p:sp>
        <p:nvSpPr>
          <p:cNvPr id="14" name="g14"/>
          <p:cNvSpPr/>
          <p:nvPr/>
        </p:nvSpPr>
        <p:spPr>
          <a:xfrm>
            <a:off x="7410248" y="1238048"/>
            <a:ext cx="4381904" cy="4381904"/>
          </a:xfrm>
          <a:prstGeom prst="ellipse">
            <a:avLst/>
          </a:prstGeom>
          <a:noFill/>
          <a:ln w="22000">
            <a:solidFill>
              <a:srgbClr val="B4553A"/>
            </a:solidFill>
          </a:ln>
        </p:spPr>
        <p:txBody>
          <a:bodyPr/>
          <a:lstStyle/>
          <a:p>
            <a:endParaRPr lang="en-US"/>
          </a:p>
        </p:txBody>
      </p:sp>
      <p:sp>
        <p:nvSpPr>
          <p:cNvPr id="15" name="g15"/>
          <p:cNvSpPr/>
          <p:nvPr/>
        </p:nvSpPr>
        <p:spPr>
          <a:xfrm>
            <a:off x="8062872" y="1890672"/>
            <a:ext cx="3076656" cy="3076656"/>
          </a:xfrm>
          <a:prstGeom prst="ellipse">
            <a:avLst/>
          </a:prstGeom>
          <a:noFill/>
          <a:ln w="16000">
            <a:solidFill>
              <a:srgbClr val="7A7A4E"/>
            </a:solidFill>
          </a:ln>
        </p:spPr>
        <p:txBody>
          <a:bodyPr/>
          <a:lstStyle/>
          <a:p>
            <a:endParaRPr lang="en-US"/>
          </a:p>
        </p:txBody>
      </p:sp>
      <p:sp>
        <p:nvSpPr>
          <p:cNvPr id="16" name="g16"/>
          <p:cNvSpPr/>
          <p:nvPr/>
        </p:nvSpPr>
        <p:spPr>
          <a:xfrm>
            <a:off x="8668880" y="2496680"/>
            <a:ext cx="1864640" cy="1864640"/>
          </a:xfrm>
          <a:prstGeom prst="ellipse">
            <a:avLst/>
          </a:prstGeom>
          <a:noFill/>
          <a:ln w="14000">
            <a:solidFill>
              <a:srgbClr val="C08A2E"/>
            </a:solidFill>
          </a:ln>
        </p:spPr>
        <p:txBody>
          <a:bodyPr/>
          <a:lstStyle/>
          <a:p>
            <a:endParaRPr lang="en-US"/>
          </a:p>
        </p:txBody>
      </p:sp>
      <p:sp>
        <p:nvSpPr>
          <p:cNvPr id="17" name="g17"/>
          <p:cNvSpPr/>
          <p:nvPr/>
        </p:nvSpPr>
        <p:spPr>
          <a:xfrm>
            <a:off x="11647497" y="2791940"/>
            <a:ext cx="140000" cy="140000"/>
          </a:xfrm>
          <a:prstGeom prst="ellipse">
            <a:avLst/>
          </a:prstGeom>
          <a:solidFill>
            <a:srgbClr val="F3EBDD">
              <a:alpha val="55000"/>
            </a:srgbClr>
          </a:solidFill>
          <a:ln>
            <a:noFill/>
          </a:ln>
        </p:spPr>
        <p:txBody>
          <a:bodyPr/>
          <a:lstStyle/>
          <a:p>
            <a:endParaRPr lang="en-US"/>
          </a:p>
        </p:txBody>
      </p:sp>
      <p:sp>
        <p:nvSpPr>
          <p:cNvPr id="18" name="g18"/>
          <p:cNvSpPr/>
          <p:nvPr/>
        </p:nvSpPr>
        <p:spPr>
          <a:xfrm>
            <a:off x="11647497" y="3926060"/>
            <a:ext cx="140000" cy="140000"/>
          </a:xfrm>
          <a:prstGeom prst="ellipse">
            <a:avLst/>
          </a:prstGeom>
          <a:solidFill>
            <a:srgbClr val="F3EBDD">
              <a:alpha val="55000"/>
            </a:srgbClr>
          </a:solidFill>
          <a:ln>
            <a:noFill/>
          </a:ln>
        </p:spPr>
        <p:txBody>
          <a:bodyPr/>
          <a:lstStyle/>
          <a:p>
            <a:endParaRPr lang="en-US"/>
          </a:p>
        </p:txBody>
      </p:sp>
      <p:sp>
        <p:nvSpPr>
          <p:cNvPr id="19" name="g19"/>
          <p:cNvSpPr/>
          <p:nvPr/>
        </p:nvSpPr>
        <p:spPr>
          <a:xfrm>
            <a:off x="11080437" y="4908237"/>
            <a:ext cx="140000" cy="140000"/>
          </a:xfrm>
          <a:prstGeom prst="ellipse">
            <a:avLst/>
          </a:prstGeom>
          <a:solidFill>
            <a:srgbClr val="F3EBDD">
              <a:alpha val="55000"/>
            </a:srgbClr>
          </a:solidFill>
          <a:ln>
            <a:noFill/>
          </a:ln>
        </p:spPr>
        <p:txBody>
          <a:bodyPr/>
          <a:lstStyle/>
          <a:p>
            <a:endParaRPr lang="en-US"/>
          </a:p>
        </p:txBody>
      </p:sp>
      <p:sp>
        <p:nvSpPr>
          <p:cNvPr id="20" name="g20"/>
          <p:cNvSpPr/>
          <p:nvPr/>
        </p:nvSpPr>
        <p:spPr>
          <a:xfrm>
            <a:off x="10098260" y="5475297"/>
            <a:ext cx="140000" cy="140000"/>
          </a:xfrm>
          <a:prstGeom prst="ellipse">
            <a:avLst/>
          </a:prstGeom>
          <a:solidFill>
            <a:srgbClr val="F3EBDD">
              <a:alpha val="55000"/>
            </a:srgbClr>
          </a:solidFill>
          <a:ln>
            <a:noFill/>
          </a:ln>
        </p:spPr>
        <p:txBody>
          <a:bodyPr/>
          <a:lstStyle/>
          <a:p>
            <a:endParaRPr lang="en-US"/>
          </a:p>
        </p:txBody>
      </p:sp>
      <p:sp>
        <p:nvSpPr>
          <p:cNvPr id="21" name="g21"/>
          <p:cNvSpPr/>
          <p:nvPr/>
        </p:nvSpPr>
        <p:spPr>
          <a:xfrm>
            <a:off x="8964140" y="5475297"/>
            <a:ext cx="140000" cy="140000"/>
          </a:xfrm>
          <a:prstGeom prst="ellipse">
            <a:avLst/>
          </a:prstGeom>
          <a:solidFill>
            <a:srgbClr val="F3EBDD">
              <a:alpha val="55000"/>
            </a:srgbClr>
          </a:solidFill>
          <a:ln>
            <a:noFill/>
          </a:ln>
        </p:spPr>
        <p:txBody>
          <a:bodyPr/>
          <a:lstStyle/>
          <a:p>
            <a:endParaRPr lang="en-US"/>
          </a:p>
        </p:txBody>
      </p:sp>
      <p:sp>
        <p:nvSpPr>
          <p:cNvPr id="22" name="g22"/>
          <p:cNvSpPr/>
          <p:nvPr/>
        </p:nvSpPr>
        <p:spPr>
          <a:xfrm>
            <a:off x="7981963" y="4908237"/>
            <a:ext cx="140000" cy="140000"/>
          </a:xfrm>
          <a:prstGeom prst="ellipse">
            <a:avLst/>
          </a:prstGeom>
          <a:solidFill>
            <a:srgbClr val="F3EBDD">
              <a:alpha val="55000"/>
            </a:srgbClr>
          </a:solidFill>
          <a:ln>
            <a:noFill/>
          </a:ln>
        </p:spPr>
        <p:txBody>
          <a:bodyPr/>
          <a:lstStyle/>
          <a:p>
            <a:endParaRPr lang="en-US"/>
          </a:p>
        </p:txBody>
      </p:sp>
      <p:sp>
        <p:nvSpPr>
          <p:cNvPr id="23" name="g23"/>
          <p:cNvSpPr/>
          <p:nvPr/>
        </p:nvSpPr>
        <p:spPr>
          <a:xfrm>
            <a:off x="7414903" y="3926060"/>
            <a:ext cx="140000" cy="140000"/>
          </a:xfrm>
          <a:prstGeom prst="ellipse">
            <a:avLst/>
          </a:prstGeom>
          <a:solidFill>
            <a:srgbClr val="F3EBDD">
              <a:alpha val="55000"/>
            </a:srgbClr>
          </a:solidFill>
          <a:ln>
            <a:noFill/>
          </a:ln>
        </p:spPr>
        <p:txBody>
          <a:bodyPr/>
          <a:lstStyle/>
          <a:p>
            <a:endParaRPr lang="en-US"/>
          </a:p>
        </p:txBody>
      </p:sp>
      <p:sp>
        <p:nvSpPr>
          <p:cNvPr id="24" name="g24"/>
          <p:cNvSpPr/>
          <p:nvPr/>
        </p:nvSpPr>
        <p:spPr>
          <a:xfrm>
            <a:off x="7414903" y="2791940"/>
            <a:ext cx="140000" cy="140000"/>
          </a:xfrm>
          <a:prstGeom prst="ellipse">
            <a:avLst/>
          </a:prstGeom>
          <a:solidFill>
            <a:srgbClr val="F3EBDD">
              <a:alpha val="55000"/>
            </a:srgbClr>
          </a:solidFill>
          <a:ln>
            <a:noFill/>
          </a:ln>
        </p:spPr>
        <p:txBody>
          <a:bodyPr/>
          <a:lstStyle/>
          <a:p>
            <a:endParaRPr lang="en-US"/>
          </a:p>
        </p:txBody>
      </p:sp>
      <p:sp>
        <p:nvSpPr>
          <p:cNvPr id="25" name="g25"/>
          <p:cNvSpPr/>
          <p:nvPr/>
        </p:nvSpPr>
        <p:spPr>
          <a:xfrm>
            <a:off x="7981963" y="1809763"/>
            <a:ext cx="140000" cy="140000"/>
          </a:xfrm>
          <a:prstGeom prst="ellipse">
            <a:avLst/>
          </a:prstGeom>
          <a:solidFill>
            <a:srgbClr val="F3EBDD">
              <a:alpha val="55000"/>
            </a:srgbClr>
          </a:solidFill>
          <a:ln>
            <a:noFill/>
          </a:ln>
        </p:spPr>
        <p:txBody>
          <a:bodyPr/>
          <a:lstStyle/>
          <a:p>
            <a:endParaRPr lang="en-US"/>
          </a:p>
        </p:txBody>
      </p:sp>
      <p:sp>
        <p:nvSpPr>
          <p:cNvPr id="26" name="g26"/>
          <p:cNvSpPr/>
          <p:nvPr/>
        </p:nvSpPr>
        <p:spPr>
          <a:xfrm>
            <a:off x="8964140" y="1242703"/>
            <a:ext cx="140000" cy="140000"/>
          </a:xfrm>
          <a:prstGeom prst="ellipse">
            <a:avLst/>
          </a:prstGeom>
          <a:solidFill>
            <a:srgbClr val="F3EBDD">
              <a:alpha val="55000"/>
            </a:srgbClr>
          </a:solidFill>
          <a:ln>
            <a:noFill/>
          </a:ln>
        </p:spPr>
        <p:txBody>
          <a:bodyPr/>
          <a:lstStyle/>
          <a:p>
            <a:endParaRPr lang="en-US"/>
          </a:p>
        </p:txBody>
      </p:sp>
      <p:sp>
        <p:nvSpPr>
          <p:cNvPr id="27" name="g27"/>
          <p:cNvSpPr/>
          <p:nvPr/>
        </p:nvSpPr>
        <p:spPr>
          <a:xfrm>
            <a:off x="10098260" y="1242703"/>
            <a:ext cx="140000" cy="140000"/>
          </a:xfrm>
          <a:prstGeom prst="ellipse">
            <a:avLst/>
          </a:prstGeom>
          <a:solidFill>
            <a:srgbClr val="F3EBDD">
              <a:alpha val="55000"/>
            </a:srgbClr>
          </a:solidFill>
          <a:ln>
            <a:noFill/>
          </a:ln>
        </p:spPr>
        <p:txBody>
          <a:bodyPr/>
          <a:lstStyle/>
          <a:p>
            <a:endParaRPr lang="en-US"/>
          </a:p>
        </p:txBody>
      </p:sp>
      <p:sp>
        <p:nvSpPr>
          <p:cNvPr id="28" name="g28"/>
          <p:cNvSpPr/>
          <p:nvPr/>
        </p:nvSpPr>
        <p:spPr>
          <a:xfrm>
            <a:off x="11080437" y="1809763"/>
            <a:ext cx="140000" cy="140000"/>
          </a:xfrm>
          <a:prstGeom prst="ellipse">
            <a:avLst/>
          </a:prstGeom>
          <a:solidFill>
            <a:srgbClr val="F3EBDD">
              <a:alpha val="55000"/>
            </a:srgbClr>
          </a:solidFill>
          <a:ln>
            <a:noFill/>
          </a:ln>
        </p:spPr>
        <p:txBody>
          <a:bodyPr/>
          <a:lstStyle/>
          <a:p>
            <a:endParaRPr lang="en-US"/>
          </a:p>
        </p:txBody>
      </p:sp>
      <p:sp>
        <p:nvSpPr>
          <p:cNvPr id="29" name="g29"/>
          <p:cNvSpPr/>
          <p:nvPr/>
        </p:nvSpPr>
        <p:spPr>
          <a:xfrm>
            <a:off x="9041808" y="2869608"/>
            <a:ext cx="1118784" cy="1118784"/>
          </a:xfrm>
          <a:prstGeom prst="ellipse">
            <a:avLst/>
          </a:prstGeom>
          <a:solidFill>
            <a:srgbClr val="B4553A"/>
          </a:solidFill>
          <a:ln>
            <a:noFill/>
          </a:ln>
        </p:spPr>
        <p:txBody>
          <a:bodyPr/>
          <a:lstStyle/>
          <a:p>
            <a:endParaRPr lang="en-US"/>
          </a:p>
        </p:txBody>
      </p:sp>
      <p:sp>
        <p:nvSpPr>
          <p:cNvPr id="30" name="g30"/>
          <p:cNvSpPr/>
          <p:nvPr/>
        </p:nvSpPr>
        <p:spPr>
          <a:xfrm>
            <a:off x="10989528" y="2579760"/>
            <a:ext cx="300000" cy="300000"/>
          </a:xfrm>
          <a:prstGeom prst="ellipse">
            <a:avLst/>
          </a:prstGeom>
          <a:solidFill>
            <a:srgbClr val="C08A2E"/>
          </a:solidFill>
          <a:ln>
            <a:noFill/>
          </a:ln>
        </p:spPr>
        <p:txBody>
          <a:bodyPr/>
          <a:lstStyle/>
          <a:p>
            <a:endParaRPr lang="en-US"/>
          </a:p>
        </p:txBody>
      </p:sp>
      <p:sp>
        <p:nvSpPr>
          <p:cNvPr id="31" name="s31"/>
          <p:cNvSpPr/>
          <p:nvPr/>
        </p:nvSpPr>
        <p:spPr>
          <a:xfrm>
            <a:off x="838200" y="1180000"/>
            <a:ext cx="180000" cy="180000"/>
          </a:xfrm>
          <a:prstGeom prst="ellipse">
            <a:avLst/>
          </a:prstGeom>
          <a:solidFill>
            <a:srgbClr val="7A7A4E"/>
          </a:solidFill>
          <a:ln>
            <a:noFill/>
          </a:ln>
        </p:spPr>
        <p:txBody>
          <a:bodyPr/>
          <a:lstStyle/>
          <a:p>
            <a:endParaRPr lang="en-US"/>
          </a:p>
        </p:txBody>
      </p:sp>
      <p:sp>
        <p:nvSpPr>
          <p:cNvPr id="32" name="t32"/>
          <p:cNvSpPr txBox="1"/>
          <p:nvPr/>
        </p:nvSpPr>
        <p:spPr>
          <a:xfrm>
            <a:off x="1100000" y="1130000"/>
            <a:ext cx="46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A WORKSHOP FOR HR TEAMS</a:t>
            </a:r>
          </a:p>
        </p:txBody>
      </p:sp>
      <p:sp>
        <p:nvSpPr>
          <p:cNvPr id="33" name="t33"/>
          <p:cNvSpPr txBox="1"/>
          <p:nvPr/>
        </p:nvSpPr>
        <p:spPr>
          <a:xfrm>
            <a:off x="838200" y="1560000"/>
            <a:ext cx="5400000" cy="2100000"/>
          </a:xfrm>
          <a:prstGeom prst="rect">
            <a:avLst/>
          </a:prstGeom>
          <a:noFill/>
        </p:spPr>
        <p:txBody>
          <a:bodyPr wrap="square" lIns="0" tIns="0" rIns="0" bIns="0" anchor="t">
            <a:normAutofit/>
          </a:bodyPr>
          <a:lstStyle/>
          <a:p>
            <a:pPr algn="l">
              <a:lnSpc>
                <a:spcPct val="100000"/>
              </a:lnSpc>
              <a:spcBef>
                <a:spcPts val="0"/>
              </a:spcBef>
            </a:pPr>
            <a:r>
              <a:rPr lang="en-US" sz="4400" b="1" spc="0" dirty="0">
                <a:solidFill>
                  <a:srgbClr val="2E2A26"/>
                </a:solidFill>
                <a:latin typeface="Georgia"/>
                <a:cs typeface="Georgia"/>
              </a:rPr>
              <a:t>AI for HR, Used Well</a:t>
            </a:r>
          </a:p>
        </p:txBody>
      </p:sp>
      <p:sp>
        <p:nvSpPr>
          <p:cNvPr id="34" name="s34"/>
          <p:cNvSpPr/>
          <p:nvPr/>
        </p:nvSpPr>
        <p:spPr>
          <a:xfrm>
            <a:off x="838200" y="3560000"/>
            <a:ext cx="1800000" cy="30000"/>
          </a:xfrm>
          <a:prstGeom prst="rect">
            <a:avLst/>
          </a:prstGeom>
          <a:solidFill>
            <a:srgbClr val="B4553A"/>
          </a:solidFill>
          <a:ln>
            <a:noFill/>
          </a:ln>
        </p:spPr>
        <p:txBody>
          <a:bodyPr/>
          <a:lstStyle/>
          <a:p>
            <a:endParaRPr lang="en-US"/>
          </a:p>
        </p:txBody>
      </p:sp>
      <p:sp>
        <p:nvSpPr>
          <p:cNvPr id="35" name="t35"/>
          <p:cNvSpPr txBox="1"/>
          <p:nvPr/>
        </p:nvSpPr>
        <p:spPr>
          <a:xfrm>
            <a:off x="838200" y="3820000"/>
            <a:ext cx="5000000" cy="900000"/>
          </a:xfrm>
          <a:prstGeom prst="rect">
            <a:avLst/>
          </a:prstGeom>
          <a:noFill/>
        </p:spPr>
        <p:txBody>
          <a:bodyPr wrap="square" lIns="0" tIns="0" rIns="0" bIns="0" anchor="t">
            <a:normAutofit/>
          </a:bodyPr>
          <a:lstStyle/>
          <a:p>
            <a:pPr algn="l">
              <a:lnSpc>
                <a:spcPct val="128000"/>
              </a:lnSpc>
              <a:spcBef>
                <a:spcPts val="0"/>
              </a:spcBef>
            </a:pPr>
            <a:r>
              <a:rPr lang="en-US" sz="1400" b="0" spc="0" dirty="0">
                <a:solidFill>
                  <a:srgbClr val="4A423A"/>
                </a:solidFill>
                <a:latin typeface="Segoe UI"/>
                <a:cs typeface="Segoe UI"/>
              </a:rPr>
              <a:t>Choosing the right tools, prompting with discipline, and protecting employee data - with prompts your team can reuse from Monday.</a:t>
            </a:r>
          </a:p>
        </p:txBody>
      </p:sp>
      <p:sp>
        <p:nvSpPr>
          <p:cNvPr id="36" name="s36"/>
          <p:cNvSpPr/>
          <p:nvPr/>
        </p:nvSpPr>
        <p:spPr>
          <a:xfrm>
            <a:off x="838200" y="5180000"/>
            <a:ext cx="5000000" cy="12700"/>
          </a:xfrm>
          <a:prstGeom prst="rect">
            <a:avLst/>
          </a:prstGeom>
          <a:solidFill>
            <a:srgbClr val="E0CDB0"/>
          </a:solidFill>
          <a:ln>
            <a:noFill/>
          </a:ln>
        </p:spPr>
        <p:txBody>
          <a:bodyPr/>
          <a:lstStyle/>
          <a:p>
            <a:endParaRPr lang="en-US"/>
          </a:p>
        </p:txBody>
      </p:sp>
      <p:sp>
        <p:nvSpPr>
          <p:cNvPr id="37" name="t37"/>
          <p:cNvSpPr txBox="1"/>
          <p:nvPr/>
        </p:nvSpPr>
        <p:spPr>
          <a:xfrm>
            <a:off x="838200" y="5320000"/>
            <a:ext cx="5000000" cy="600000"/>
          </a:xfrm>
          <a:prstGeom prst="rect">
            <a:avLst/>
          </a:prstGeom>
          <a:noFill/>
        </p:spPr>
        <p:txBody>
          <a:bodyPr wrap="square" lIns="0" tIns="0" rIns="0" bIns="0" anchor="t">
            <a:normAutofit/>
          </a:bodyPr>
          <a:lstStyle/>
          <a:p>
            <a:pPr algn="l">
              <a:lnSpc>
                <a:spcPct val="100000"/>
              </a:lnSpc>
              <a:spcBef>
                <a:spcPts val="0"/>
              </a:spcBef>
            </a:pPr>
            <a:r>
              <a:rPr lang="en-US" sz="1300" b="1" spc="0" dirty="0">
                <a:solidFill>
                  <a:srgbClr val="2E2A26"/>
                </a:solidFill>
                <a:latin typeface="Segoe UI"/>
                <a:cs typeface="Segoe UI"/>
              </a:rPr>
              <a:t>Vijay Perepa</a:t>
            </a:r>
          </a:p>
          <a:p>
            <a:pPr algn="l">
              <a:lnSpc>
                <a:spcPct val="100000"/>
              </a:lnSpc>
              <a:spcBef>
                <a:spcPts val="220"/>
              </a:spcBef>
            </a:pPr>
            <a:r>
              <a:rPr lang="en-US" sz="1050" b="0" spc="100" dirty="0">
                <a:solidFill>
                  <a:srgbClr val="4A423A"/>
                </a:solidFill>
                <a:latin typeface="Segoe UI"/>
                <a:cs typeface="Segoe UI"/>
              </a:rPr>
              <a:t>HR &amp; AI enablement  |  Bangalore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38"/>
          <p:cNvSpPr/>
          <p:nvPr/>
        </p:nvSpPr>
        <p:spPr>
          <a:xfrm>
            <a:off x="0" y="0"/>
            <a:ext cx="12192000" cy="6858000"/>
          </a:xfrm>
          <a:prstGeom prst="rect">
            <a:avLst/>
          </a:prstGeom>
          <a:solidFill>
            <a:srgbClr val="F3EBDD"/>
          </a:solidFill>
          <a:ln>
            <a:noFill/>
          </a:ln>
        </p:spPr>
        <p:txBody>
          <a:bodyPr/>
          <a:lstStyle/>
          <a:p>
            <a:endParaRPr lang="en-US"/>
          </a:p>
        </p:txBody>
      </p:sp>
      <p:sp>
        <p:nvSpPr>
          <p:cNvPr id="39" name="s39"/>
          <p:cNvSpPr/>
          <p:nvPr/>
        </p:nvSpPr>
        <p:spPr>
          <a:xfrm>
            <a:off x="0" y="0"/>
            <a:ext cx="12192000" cy="80000"/>
          </a:xfrm>
          <a:prstGeom prst="rect">
            <a:avLst/>
          </a:prstGeom>
          <a:solidFill>
            <a:srgbClr val="B4553A"/>
          </a:solidFill>
          <a:ln>
            <a:noFill/>
          </a:ln>
        </p:spPr>
        <p:txBody>
          <a:bodyPr/>
          <a:lstStyle/>
          <a:p>
            <a:endParaRPr lang="en-US"/>
          </a:p>
        </p:txBody>
      </p:sp>
      <p:sp>
        <p:nvSpPr>
          <p:cNvPr id="40" name="g40"/>
          <p:cNvSpPr/>
          <p:nvPr/>
        </p:nvSpPr>
        <p:spPr>
          <a:xfrm>
            <a:off x="7010400" y="0"/>
            <a:ext cx="5181600" cy="6858000"/>
          </a:xfrm>
          <a:prstGeom prst="rect">
            <a:avLst/>
          </a:prstGeom>
          <a:solidFill>
            <a:srgbClr val="332E29"/>
          </a:solidFill>
          <a:ln>
            <a:noFill/>
          </a:ln>
        </p:spPr>
        <p:txBody>
          <a:bodyPr/>
          <a:lstStyle/>
          <a:p>
            <a:endParaRPr lang="en-US"/>
          </a:p>
        </p:txBody>
      </p:sp>
      <p:sp>
        <p:nvSpPr>
          <p:cNvPr id="41" name="g41"/>
          <p:cNvSpPr/>
          <p:nvPr/>
        </p:nvSpPr>
        <p:spPr>
          <a:xfrm>
            <a:off x="7270400" y="1098200"/>
            <a:ext cx="4661600" cy="4661600"/>
          </a:xfrm>
          <a:prstGeom prst="ellipse">
            <a:avLst/>
          </a:prstGeom>
          <a:noFill/>
          <a:ln w="22000">
            <a:solidFill>
              <a:srgbClr val="B4553A"/>
            </a:solidFill>
          </a:ln>
        </p:spPr>
        <p:txBody>
          <a:bodyPr/>
          <a:lstStyle/>
          <a:p>
            <a:endParaRPr lang="en-US"/>
          </a:p>
        </p:txBody>
      </p:sp>
      <p:sp>
        <p:nvSpPr>
          <p:cNvPr id="42" name="g42"/>
          <p:cNvSpPr/>
          <p:nvPr/>
        </p:nvSpPr>
        <p:spPr>
          <a:xfrm>
            <a:off x="7829792" y="1657592"/>
            <a:ext cx="3542816" cy="3542816"/>
          </a:xfrm>
          <a:prstGeom prst="ellipse">
            <a:avLst/>
          </a:prstGeom>
          <a:noFill/>
          <a:ln w="22000">
            <a:solidFill>
              <a:srgbClr val="C08A2E"/>
            </a:solidFill>
          </a:ln>
        </p:spPr>
        <p:txBody>
          <a:bodyPr/>
          <a:lstStyle/>
          <a:p>
            <a:endParaRPr lang="en-US"/>
          </a:p>
        </p:txBody>
      </p:sp>
      <p:sp>
        <p:nvSpPr>
          <p:cNvPr id="43" name="g43"/>
          <p:cNvSpPr/>
          <p:nvPr/>
        </p:nvSpPr>
        <p:spPr>
          <a:xfrm>
            <a:off x="8389184" y="2216984"/>
            <a:ext cx="2424032" cy="2424032"/>
          </a:xfrm>
          <a:prstGeom prst="ellipse">
            <a:avLst/>
          </a:prstGeom>
          <a:noFill/>
          <a:ln w="22000">
            <a:solidFill>
              <a:srgbClr val="7A7A4E"/>
            </a:solidFill>
          </a:ln>
        </p:spPr>
        <p:txBody>
          <a:bodyPr/>
          <a:lstStyle/>
          <a:p>
            <a:endParaRPr lang="en-US"/>
          </a:p>
        </p:txBody>
      </p:sp>
      <p:sp>
        <p:nvSpPr>
          <p:cNvPr id="44" name="g44"/>
          <p:cNvSpPr/>
          <p:nvPr/>
        </p:nvSpPr>
        <p:spPr>
          <a:xfrm>
            <a:off x="8901960" y="2729760"/>
            <a:ext cx="1398480" cy="1398480"/>
          </a:xfrm>
          <a:prstGeom prst="ellipse">
            <a:avLst/>
          </a:prstGeom>
          <a:solidFill>
            <a:srgbClr val="B4553A"/>
          </a:solidFill>
          <a:ln>
            <a:noFill/>
          </a:ln>
        </p:spPr>
        <p:txBody>
          <a:bodyPr/>
          <a:lstStyle/>
          <a:p>
            <a:endParaRPr lang="en-US"/>
          </a:p>
        </p:txBody>
      </p:sp>
      <p:sp>
        <p:nvSpPr>
          <p:cNvPr id="45" name="t45"/>
          <p:cNvSpPr txBox="1"/>
          <p:nvPr/>
        </p:nvSpPr>
        <p:spPr>
          <a:xfrm>
            <a:off x="838200" y="1900000"/>
            <a:ext cx="5400000" cy="340000"/>
          </a:xfrm>
          <a:prstGeom prst="rect">
            <a:avLst/>
          </a:prstGeom>
          <a:noFill/>
        </p:spPr>
        <p:txBody>
          <a:bodyPr wrap="square" lIns="0" tIns="0" rIns="0" bIns="0" anchor="t">
            <a:normAutofit/>
          </a:bodyPr>
          <a:lstStyle/>
          <a:p>
            <a:pPr algn="l">
              <a:lnSpc>
                <a:spcPct val="100000"/>
              </a:lnSpc>
              <a:spcBef>
                <a:spcPts val="0"/>
              </a:spcBef>
            </a:pPr>
            <a:r>
              <a:rPr lang="en-US" sz="1400" b="1" spc="400" dirty="0">
                <a:solidFill>
                  <a:srgbClr val="B4553A"/>
                </a:solidFill>
                <a:latin typeface="Segoe UI"/>
                <a:cs typeface="Segoe UI"/>
              </a:rPr>
              <a:t>01</a:t>
            </a:r>
          </a:p>
        </p:txBody>
      </p:sp>
      <p:sp>
        <p:nvSpPr>
          <p:cNvPr id="46" name="s46"/>
          <p:cNvSpPr/>
          <p:nvPr/>
        </p:nvSpPr>
        <p:spPr>
          <a:xfrm>
            <a:off x="838200" y="2360000"/>
            <a:ext cx="1400000" cy="26000"/>
          </a:xfrm>
          <a:prstGeom prst="rect">
            <a:avLst/>
          </a:prstGeom>
          <a:solidFill>
            <a:srgbClr val="B4553A"/>
          </a:solidFill>
          <a:ln>
            <a:noFill/>
          </a:ln>
        </p:spPr>
        <p:txBody>
          <a:bodyPr/>
          <a:lstStyle/>
          <a:p>
            <a:endParaRPr lang="en-US"/>
          </a:p>
        </p:txBody>
      </p:sp>
      <p:sp>
        <p:nvSpPr>
          <p:cNvPr id="47" name="t47"/>
          <p:cNvSpPr txBox="1"/>
          <p:nvPr/>
        </p:nvSpPr>
        <p:spPr>
          <a:xfrm>
            <a:off x="838200" y="2640000"/>
            <a:ext cx="5400000" cy="2000000"/>
          </a:xfrm>
          <a:prstGeom prst="rect">
            <a:avLst/>
          </a:prstGeom>
          <a:noFill/>
        </p:spPr>
        <p:txBody>
          <a:bodyPr wrap="square" lIns="0" tIns="0" rIns="0" bIns="0" anchor="t">
            <a:normAutofit/>
          </a:bodyPr>
          <a:lstStyle/>
          <a:p>
            <a:pPr algn="l">
              <a:lnSpc>
                <a:spcPct val="104000"/>
              </a:lnSpc>
              <a:spcBef>
                <a:spcPts val="0"/>
              </a:spcBef>
            </a:pPr>
            <a:r>
              <a:rPr lang="en-US" sz="3400" b="1" spc="0" dirty="0">
                <a:solidFill>
                  <a:srgbClr val="2E2A26"/>
                </a:solidFill>
                <a:latin typeface="Georgia"/>
                <a:cs typeface="Georgia"/>
              </a:rPr>
              <a:t>Where AI Helps, Where People Decide</a:t>
            </a:r>
          </a:p>
        </p:txBody>
      </p:sp>
      <p:sp>
        <p:nvSpPr>
          <p:cNvPr id="48" name="t48"/>
          <p:cNvSpPr txBox="1"/>
          <p:nvPr/>
        </p:nvSpPr>
        <p:spPr>
          <a:xfrm>
            <a:off x="838200" y="4600000"/>
            <a:ext cx="5400000" cy="1000000"/>
          </a:xfrm>
          <a:prstGeom prst="rect">
            <a:avLst/>
          </a:prstGeom>
          <a:noFill/>
        </p:spPr>
        <p:txBody>
          <a:bodyPr wrap="square" lIns="0" tIns="0" rIns="0" bIns="0" anchor="t">
            <a:normAutofit/>
          </a:bodyPr>
          <a:lstStyle/>
          <a:p>
            <a:pPr algn="l">
              <a:lnSpc>
                <a:spcPct val="125000"/>
              </a:lnSpc>
              <a:spcBef>
                <a:spcPts val="0"/>
              </a:spcBef>
            </a:pPr>
            <a:r>
              <a:rPr lang="en-US" sz="1300" b="0" spc="0" dirty="0">
                <a:solidFill>
                  <a:srgbClr val="4A423A"/>
                </a:solidFill>
                <a:latin typeface="Segoe UI"/>
                <a:cs typeface="Segoe UI"/>
              </a:rPr>
              <a:t>The honest split between what machines do well at scale and what still needs human judgement.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1"/>
          <p:cNvSpPr/>
          <p:nvPr/>
        </p:nvSpPr>
        <p:spPr>
          <a:xfrm>
            <a:off x="0" y="0"/>
            <a:ext cx="12192000" cy="6858000"/>
          </a:xfrm>
          <a:prstGeom prst="rect">
            <a:avLst/>
          </a:prstGeom>
          <a:solidFill>
            <a:srgbClr val="F3EBDD"/>
          </a:solidFill>
          <a:ln>
            <a:noFill/>
          </a:ln>
        </p:spPr>
        <p:txBody>
          <a:bodyPr/>
          <a:lstStyle/>
          <a:p>
            <a:endParaRPr lang="en-US"/>
          </a:p>
        </p:txBody>
      </p:sp>
      <p:sp>
        <p:nvSpPr>
          <p:cNvPr id="12" name="shape12"/>
          <p:cNvSpPr/>
          <p:nvPr/>
        </p:nvSpPr>
        <p:spPr>
          <a:xfrm>
            <a:off x="0" y="0"/>
            <a:ext cx="12192000" cy="80000"/>
          </a:xfrm>
          <a:prstGeom prst="rect">
            <a:avLst/>
          </a:prstGeom>
          <a:solidFill>
            <a:srgbClr val="B4553A"/>
          </a:solidFill>
          <a:ln>
            <a:noFill/>
          </a:ln>
        </p:spPr>
        <p:txBody>
          <a:bodyPr/>
          <a:lstStyle/>
          <a:p>
            <a:endParaRPr lang="en-US"/>
          </a:p>
        </p:txBody>
      </p:sp>
      <p:sp>
        <p:nvSpPr>
          <p:cNvPr id="13" name="shape13"/>
          <p:cNvSpPr/>
          <p:nvPr/>
        </p:nvSpPr>
        <p:spPr>
          <a:xfrm>
            <a:off x="838200" y="520700"/>
            <a:ext cx="180000" cy="180000"/>
          </a:xfrm>
          <a:prstGeom prst="ellipse">
            <a:avLst/>
          </a:prstGeom>
          <a:solidFill>
            <a:srgbClr val="7A7A4E"/>
          </a:solidFill>
          <a:ln>
            <a:noFill/>
          </a:ln>
        </p:spPr>
        <p:txBody>
          <a:bodyPr/>
          <a:lstStyle/>
          <a:p>
            <a:endParaRPr lang="en-US"/>
          </a:p>
        </p:txBody>
      </p:sp>
      <p:sp>
        <p:nvSpPr>
          <p:cNvPr id="14" name="txt14"/>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AI &amp; THE HR OPERATING MODEL</a:t>
            </a:r>
          </a:p>
        </p:txBody>
      </p:sp>
      <p:sp>
        <p:nvSpPr>
          <p:cNvPr id="15" name="txt15"/>
          <p:cNvSpPr txBox="1"/>
          <p:nvPr/>
        </p:nvSpPr>
        <p:spPr>
          <a:xfrm>
            <a:off x="838200" y="830000"/>
            <a:ext cx="9600000" cy="620000"/>
          </a:xfrm>
          <a:prstGeom prst="rect">
            <a:avLst/>
          </a:prstGeom>
          <a:noFill/>
        </p:spPr>
        <p:txBody>
          <a:bodyPr wrap="square" lIns="0" tIns="0" rIns="0" bIns="0" anchor="t">
            <a:normAutofit/>
          </a:bodyPr>
          <a:lstStyle/>
          <a:p>
            <a:pPr algn="l">
              <a:lnSpc>
                <a:spcPct val="100000"/>
              </a:lnSpc>
              <a:spcBef>
                <a:spcPts val="0"/>
              </a:spcBef>
            </a:pPr>
            <a:r>
              <a:rPr lang="en-US" sz="3200" b="1" spc="0" dirty="0">
                <a:solidFill>
                  <a:srgbClr val="2E2A26"/>
                </a:solidFill>
                <a:latin typeface="Georgia"/>
                <a:cs typeface="Georgia"/>
              </a:rPr>
              <a:t>Where AI Performs Exceptionally Well</a:t>
            </a:r>
          </a:p>
        </p:txBody>
      </p:sp>
      <p:sp>
        <p:nvSpPr>
          <p:cNvPr id="16" name="shape16"/>
          <p:cNvSpPr/>
          <p:nvPr/>
        </p:nvSpPr>
        <p:spPr>
          <a:xfrm>
            <a:off x="838200" y="1560000"/>
            <a:ext cx="3200000" cy="26000"/>
          </a:xfrm>
          <a:prstGeom prst="rect">
            <a:avLst/>
          </a:prstGeom>
          <a:solidFill>
            <a:srgbClr val="B4553A"/>
          </a:solidFill>
          <a:ln>
            <a:noFill/>
          </a:ln>
        </p:spPr>
        <p:txBody>
          <a:bodyPr/>
          <a:lstStyle/>
          <a:p>
            <a:endParaRPr lang="en-US"/>
          </a:p>
        </p:txBody>
      </p:sp>
      <p:sp>
        <p:nvSpPr>
          <p:cNvPr id="17" name="txt17"/>
          <p:cNvSpPr txBox="1"/>
          <p:nvPr/>
        </p:nvSpPr>
        <p:spPr>
          <a:xfrm>
            <a:off x="838200" y="1700000"/>
            <a:ext cx="10515600" cy="520000"/>
          </a:xfrm>
          <a:prstGeom prst="rect">
            <a:avLst/>
          </a:prstGeom>
          <a:noFill/>
        </p:spPr>
        <p:txBody>
          <a:bodyPr wrap="square" lIns="0" tIns="0" rIns="0" bIns="0" anchor="t">
            <a:normAutofit/>
          </a:bodyPr>
          <a:lstStyle/>
          <a:p>
            <a:pPr algn="l">
              <a:lnSpc>
                <a:spcPct val="125000"/>
              </a:lnSpc>
              <a:spcBef>
                <a:spcPts val="0"/>
              </a:spcBef>
            </a:pPr>
            <a:r>
              <a:rPr lang="en-US" sz="1400" b="0" spc="0" dirty="0">
                <a:solidFill>
                  <a:srgbClr val="554C43"/>
                </a:solidFill>
                <a:latin typeface="Segoe UI"/>
                <a:cs typeface="Segoe UI"/>
              </a:rPr>
              <a:t>AI excels at processing scale, pattern recognition, and administrative consistency, while humans remain indispensable for context, empathy, ethics, and non-linear interpersonal dynamics.</a:t>
            </a:r>
          </a:p>
        </p:txBody>
      </p:sp>
      <p:sp>
        <p:nvSpPr>
          <p:cNvPr id="18" name="shape18"/>
          <p:cNvSpPr/>
          <p:nvPr/>
        </p:nvSpPr>
        <p:spPr>
          <a:xfrm>
            <a:off x="838200" y="2400000"/>
            <a:ext cx="10515600" cy="596000"/>
          </a:xfrm>
          <a:prstGeom prst="roundRect">
            <a:avLst>
              <a:gd name="adj" fmla="val 8000"/>
            </a:avLst>
          </a:prstGeom>
          <a:solidFill>
            <a:srgbClr val="FBF6EC"/>
          </a:solidFill>
          <a:ln w="12700">
            <a:solidFill>
              <a:srgbClr val="E0CDB0"/>
            </a:solidFill>
          </a:ln>
        </p:spPr>
        <p:txBody>
          <a:bodyPr/>
          <a:lstStyle/>
          <a:p>
            <a:endParaRPr lang="en-US"/>
          </a:p>
        </p:txBody>
      </p:sp>
      <p:sp>
        <p:nvSpPr>
          <p:cNvPr id="19" name="shape19"/>
          <p:cNvSpPr/>
          <p:nvPr/>
        </p:nvSpPr>
        <p:spPr>
          <a:xfrm>
            <a:off x="1098200" y="2543040"/>
            <a:ext cx="309920" cy="309920"/>
          </a:xfrm>
          <a:prstGeom prst="ellipse">
            <a:avLst/>
          </a:prstGeom>
          <a:solidFill>
            <a:srgbClr val="B4553A"/>
          </a:solidFill>
          <a:ln>
            <a:noFill/>
          </a:ln>
        </p:spPr>
        <p:txBody>
          <a:bodyPr/>
          <a:lstStyle/>
          <a:p>
            <a:endParaRPr lang="en-US"/>
          </a:p>
        </p:txBody>
      </p:sp>
      <p:sp>
        <p:nvSpPr>
          <p:cNvPr id="20" name="shape20"/>
          <p:cNvSpPr/>
          <p:nvPr/>
        </p:nvSpPr>
        <p:spPr>
          <a:xfrm>
            <a:off x="1184978" y="2629818"/>
            <a:ext cx="136364" cy="136364"/>
          </a:xfrm>
          <a:prstGeom prst="flowChartExtract">
            <a:avLst/>
          </a:prstGeom>
          <a:solidFill>
            <a:srgbClr val="FFFFFF"/>
          </a:solidFill>
          <a:ln>
            <a:noFill/>
          </a:ln>
        </p:spPr>
        <p:txBody>
          <a:bodyPr/>
          <a:lstStyle/>
          <a:p>
            <a:endParaRPr lang="en-US"/>
          </a:p>
        </p:txBody>
      </p:sp>
      <p:sp>
        <p:nvSpPr>
          <p:cNvPr id="21" name="txt21"/>
          <p:cNvSpPr txBox="1"/>
          <p:nvPr/>
        </p:nvSpPr>
        <p:spPr>
          <a:xfrm>
            <a:off x="1708120" y="2495360"/>
            <a:ext cx="8300000" cy="417200"/>
          </a:xfrm>
          <a:prstGeom prst="rect">
            <a:avLst/>
          </a:prstGeom>
          <a:noFill/>
        </p:spPr>
        <p:txBody>
          <a:bodyPr wrap="square" lIns="0" tIns="0" rIns="0" bIns="0" anchor="t">
            <a:normAutofit fontScale="92500" lnSpcReduction="20000"/>
          </a:bodyPr>
          <a:lstStyle/>
          <a:p>
            <a:pPr algn="l">
              <a:lnSpc>
                <a:spcPct val="100000"/>
              </a:lnSpc>
              <a:spcBef>
                <a:spcPts val="0"/>
              </a:spcBef>
            </a:pPr>
            <a:r>
              <a:rPr lang="en-US" sz="1500" b="1" spc="0" dirty="0">
                <a:solidFill>
                  <a:srgbClr val="2E2A26"/>
                </a:solidFill>
                <a:latin typeface="Segoe UI"/>
                <a:cs typeface="Segoe UI"/>
              </a:rPr>
              <a:t>High-Volume Talent Sourcing &amp; Screening</a:t>
            </a:r>
          </a:p>
          <a:p>
            <a:pPr algn="l">
              <a:lnSpc>
                <a:spcPct val="115000"/>
              </a:lnSpc>
              <a:spcBef>
                <a:spcPts val="500"/>
              </a:spcBef>
            </a:pPr>
            <a:r>
              <a:rPr lang="en-US" sz="1200" b="0" spc="0" dirty="0">
                <a:solidFill>
                  <a:srgbClr val="554C43"/>
                </a:solidFill>
                <a:latin typeface="Segoe UI"/>
                <a:cs typeface="Segoe UI"/>
              </a:rPr>
              <a:t>Scanning thousands of resumes against skill frameworks, matching adjacent qualifications, and surfacing top candidates in seconds.</a:t>
            </a:r>
          </a:p>
        </p:txBody>
      </p:sp>
      <p:sp>
        <p:nvSpPr>
          <p:cNvPr id="22" name="shape22"/>
          <p:cNvSpPr/>
          <p:nvPr/>
        </p:nvSpPr>
        <p:spPr>
          <a:xfrm>
            <a:off x="838200" y="3196000"/>
            <a:ext cx="10515600" cy="596000"/>
          </a:xfrm>
          <a:prstGeom prst="roundRect">
            <a:avLst>
              <a:gd name="adj" fmla="val 8000"/>
            </a:avLst>
          </a:prstGeom>
          <a:solidFill>
            <a:srgbClr val="FBF6EC"/>
          </a:solidFill>
          <a:ln w="12700">
            <a:solidFill>
              <a:srgbClr val="E0CDB0"/>
            </a:solidFill>
          </a:ln>
        </p:spPr>
        <p:txBody>
          <a:bodyPr/>
          <a:lstStyle/>
          <a:p>
            <a:endParaRPr lang="en-US"/>
          </a:p>
        </p:txBody>
      </p:sp>
      <p:sp>
        <p:nvSpPr>
          <p:cNvPr id="23" name="shape23"/>
          <p:cNvSpPr/>
          <p:nvPr/>
        </p:nvSpPr>
        <p:spPr>
          <a:xfrm>
            <a:off x="1098200" y="3339040"/>
            <a:ext cx="309920" cy="309920"/>
          </a:xfrm>
          <a:prstGeom prst="ellipse">
            <a:avLst/>
          </a:prstGeom>
          <a:solidFill>
            <a:srgbClr val="B4553A"/>
          </a:solidFill>
          <a:ln>
            <a:noFill/>
          </a:ln>
        </p:spPr>
        <p:txBody>
          <a:bodyPr/>
          <a:lstStyle/>
          <a:p>
            <a:endParaRPr lang="en-US"/>
          </a:p>
        </p:txBody>
      </p:sp>
      <p:sp>
        <p:nvSpPr>
          <p:cNvPr id="24" name="shape24"/>
          <p:cNvSpPr/>
          <p:nvPr/>
        </p:nvSpPr>
        <p:spPr>
          <a:xfrm>
            <a:off x="1184978" y="3425818"/>
            <a:ext cx="136364" cy="136364"/>
          </a:xfrm>
          <a:prstGeom prst="wedgeRoundRectCallout">
            <a:avLst/>
          </a:prstGeom>
          <a:solidFill>
            <a:srgbClr val="FFFFFF"/>
          </a:solidFill>
          <a:ln>
            <a:noFill/>
          </a:ln>
        </p:spPr>
        <p:txBody>
          <a:bodyPr/>
          <a:lstStyle/>
          <a:p>
            <a:endParaRPr lang="en-US"/>
          </a:p>
        </p:txBody>
      </p:sp>
      <p:sp>
        <p:nvSpPr>
          <p:cNvPr id="25" name="txt25"/>
          <p:cNvSpPr txBox="1"/>
          <p:nvPr/>
        </p:nvSpPr>
        <p:spPr>
          <a:xfrm>
            <a:off x="1708120" y="3291360"/>
            <a:ext cx="8300000" cy="417200"/>
          </a:xfrm>
          <a:prstGeom prst="rect">
            <a:avLst/>
          </a:prstGeom>
          <a:noFill/>
        </p:spPr>
        <p:txBody>
          <a:bodyPr wrap="square" lIns="0" tIns="0" rIns="0" bIns="0" anchor="t">
            <a:normAutofit fontScale="92500" lnSpcReduction="20000"/>
          </a:bodyPr>
          <a:lstStyle/>
          <a:p>
            <a:pPr algn="l">
              <a:lnSpc>
                <a:spcPct val="100000"/>
              </a:lnSpc>
              <a:spcBef>
                <a:spcPts val="0"/>
              </a:spcBef>
            </a:pPr>
            <a:r>
              <a:rPr lang="en-US" sz="1500" b="1" spc="0" dirty="0">
                <a:solidFill>
                  <a:srgbClr val="2E2A26"/>
                </a:solidFill>
                <a:latin typeface="Segoe UI"/>
                <a:cs typeface="Segoe UI"/>
              </a:rPr>
              <a:t>Routine Administrative Self-Service</a:t>
            </a:r>
          </a:p>
          <a:p>
            <a:pPr algn="l">
              <a:lnSpc>
                <a:spcPct val="115000"/>
              </a:lnSpc>
              <a:spcBef>
                <a:spcPts val="500"/>
              </a:spcBef>
            </a:pPr>
            <a:r>
              <a:rPr lang="en-US" sz="1200" b="0" spc="0" dirty="0">
                <a:solidFill>
                  <a:srgbClr val="554C43"/>
                </a:solidFill>
                <a:latin typeface="Segoe UI"/>
                <a:cs typeface="Segoe UI"/>
              </a:rPr>
              <a:t>Handling repetitive benefit queries, policy lookups, PTO tracking, and onboarding documentation through conversational copilots.</a:t>
            </a:r>
          </a:p>
        </p:txBody>
      </p:sp>
      <p:sp>
        <p:nvSpPr>
          <p:cNvPr id="26" name="shape26"/>
          <p:cNvSpPr/>
          <p:nvPr/>
        </p:nvSpPr>
        <p:spPr>
          <a:xfrm>
            <a:off x="838200" y="3992000"/>
            <a:ext cx="10515600" cy="596000"/>
          </a:xfrm>
          <a:prstGeom prst="roundRect">
            <a:avLst>
              <a:gd name="adj" fmla="val 8000"/>
            </a:avLst>
          </a:prstGeom>
          <a:solidFill>
            <a:srgbClr val="FBF6EC"/>
          </a:solidFill>
          <a:ln w="12700">
            <a:solidFill>
              <a:srgbClr val="E0CDB0"/>
            </a:solidFill>
          </a:ln>
        </p:spPr>
        <p:txBody>
          <a:bodyPr/>
          <a:lstStyle/>
          <a:p>
            <a:endParaRPr lang="en-US"/>
          </a:p>
        </p:txBody>
      </p:sp>
      <p:sp>
        <p:nvSpPr>
          <p:cNvPr id="27" name="shape27"/>
          <p:cNvSpPr/>
          <p:nvPr/>
        </p:nvSpPr>
        <p:spPr>
          <a:xfrm>
            <a:off x="1098200" y="4135040"/>
            <a:ext cx="309920" cy="309920"/>
          </a:xfrm>
          <a:prstGeom prst="ellipse">
            <a:avLst/>
          </a:prstGeom>
          <a:solidFill>
            <a:srgbClr val="B4553A"/>
          </a:solidFill>
          <a:ln>
            <a:noFill/>
          </a:ln>
        </p:spPr>
        <p:txBody>
          <a:bodyPr/>
          <a:lstStyle/>
          <a:p>
            <a:endParaRPr lang="en-US"/>
          </a:p>
        </p:txBody>
      </p:sp>
      <p:sp>
        <p:nvSpPr>
          <p:cNvPr id="28" name="shape28"/>
          <p:cNvSpPr/>
          <p:nvPr/>
        </p:nvSpPr>
        <p:spPr>
          <a:xfrm>
            <a:off x="1184978" y="4221818"/>
            <a:ext cx="136364" cy="136364"/>
          </a:xfrm>
          <a:prstGeom prst="upArrow">
            <a:avLst/>
          </a:prstGeom>
          <a:solidFill>
            <a:srgbClr val="FFFFFF"/>
          </a:solidFill>
          <a:ln>
            <a:noFill/>
          </a:ln>
        </p:spPr>
        <p:txBody>
          <a:bodyPr/>
          <a:lstStyle/>
          <a:p>
            <a:endParaRPr lang="en-US"/>
          </a:p>
        </p:txBody>
      </p:sp>
      <p:sp>
        <p:nvSpPr>
          <p:cNvPr id="29" name="txt29"/>
          <p:cNvSpPr txBox="1"/>
          <p:nvPr/>
        </p:nvSpPr>
        <p:spPr>
          <a:xfrm>
            <a:off x="1708120" y="4087360"/>
            <a:ext cx="8300000" cy="417200"/>
          </a:xfrm>
          <a:prstGeom prst="rect">
            <a:avLst/>
          </a:prstGeom>
          <a:noFill/>
        </p:spPr>
        <p:txBody>
          <a:bodyPr wrap="square" lIns="0" tIns="0" rIns="0" bIns="0" anchor="t">
            <a:normAutofit fontScale="92500" lnSpcReduction="20000"/>
          </a:bodyPr>
          <a:lstStyle/>
          <a:p>
            <a:pPr algn="l">
              <a:lnSpc>
                <a:spcPct val="100000"/>
              </a:lnSpc>
              <a:spcBef>
                <a:spcPts val="0"/>
              </a:spcBef>
            </a:pPr>
            <a:r>
              <a:rPr lang="en-US" sz="1500" b="1" spc="0" dirty="0">
                <a:solidFill>
                  <a:srgbClr val="2E2A26"/>
                </a:solidFill>
                <a:latin typeface="Segoe UI"/>
                <a:cs typeface="Segoe UI"/>
              </a:rPr>
              <a:t>Predictive Analytics &amp; Risk Signals</a:t>
            </a:r>
          </a:p>
          <a:p>
            <a:pPr algn="l">
              <a:lnSpc>
                <a:spcPct val="115000"/>
              </a:lnSpc>
              <a:spcBef>
                <a:spcPts val="500"/>
              </a:spcBef>
            </a:pPr>
            <a:r>
              <a:rPr lang="en-US" sz="1200" b="0" spc="0" dirty="0">
                <a:solidFill>
                  <a:srgbClr val="554C43"/>
                </a:solidFill>
                <a:latin typeface="Segoe UI"/>
                <a:cs typeface="Segoe UI"/>
              </a:rPr>
              <a:t>Identifying turnover risks, forecasting future workforce skills gaps, and analyzing pay-equity trends across large datasets.</a:t>
            </a:r>
          </a:p>
        </p:txBody>
      </p:sp>
      <p:sp>
        <p:nvSpPr>
          <p:cNvPr id="30" name="shape30"/>
          <p:cNvSpPr/>
          <p:nvPr/>
        </p:nvSpPr>
        <p:spPr>
          <a:xfrm>
            <a:off x="838200" y="4788000"/>
            <a:ext cx="10515600" cy="596000"/>
          </a:xfrm>
          <a:prstGeom prst="roundRect">
            <a:avLst>
              <a:gd name="adj" fmla="val 8000"/>
            </a:avLst>
          </a:prstGeom>
          <a:solidFill>
            <a:srgbClr val="FBF6EC"/>
          </a:solidFill>
          <a:ln w="12700">
            <a:solidFill>
              <a:srgbClr val="E0CDB0"/>
            </a:solidFill>
          </a:ln>
        </p:spPr>
        <p:txBody>
          <a:bodyPr/>
          <a:lstStyle/>
          <a:p>
            <a:endParaRPr lang="en-US"/>
          </a:p>
        </p:txBody>
      </p:sp>
      <p:sp>
        <p:nvSpPr>
          <p:cNvPr id="31" name="shape31"/>
          <p:cNvSpPr/>
          <p:nvPr/>
        </p:nvSpPr>
        <p:spPr>
          <a:xfrm>
            <a:off x="1098200" y="4931040"/>
            <a:ext cx="309920" cy="309920"/>
          </a:xfrm>
          <a:prstGeom prst="ellipse">
            <a:avLst/>
          </a:prstGeom>
          <a:solidFill>
            <a:srgbClr val="B4553A"/>
          </a:solidFill>
          <a:ln>
            <a:noFill/>
          </a:ln>
        </p:spPr>
        <p:txBody>
          <a:bodyPr/>
          <a:lstStyle/>
          <a:p>
            <a:endParaRPr lang="en-US"/>
          </a:p>
        </p:txBody>
      </p:sp>
      <p:sp>
        <p:nvSpPr>
          <p:cNvPr id="32" name="shape32"/>
          <p:cNvSpPr/>
          <p:nvPr/>
        </p:nvSpPr>
        <p:spPr>
          <a:xfrm>
            <a:off x="1184978" y="5017818"/>
            <a:ext cx="136364" cy="136364"/>
          </a:xfrm>
          <a:prstGeom prst="flowChartDocument">
            <a:avLst/>
          </a:prstGeom>
          <a:solidFill>
            <a:srgbClr val="FFFFFF"/>
          </a:solidFill>
          <a:ln>
            <a:noFill/>
          </a:ln>
        </p:spPr>
        <p:txBody>
          <a:bodyPr/>
          <a:lstStyle/>
          <a:p>
            <a:endParaRPr lang="en-US"/>
          </a:p>
        </p:txBody>
      </p:sp>
      <p:sp>
        <p:nvSpPr>
          <p:cNvPr id="33" name="txt33"/>
          <p:cNvSpPr txBox="1"/>
          <p:nvPr/>
        </p:nvSpPr>
        <p:spPr>
          <a:xfrm>
            <a:off x="1708120" y="4883360"/>
            <a:ext cx="8300000" cy="417200"/>
          </a:xfrm>
          <a:prstGeom prst="rect">
            <a:avLst/>
          </a:prstGeom>
          <a:noFill/>
        </p:spPr>
        <p:txBody>
          <a:bodyPr wrap="square" lIns="0" tIns="0" rIns="0" bIns="0" anchor="t">
            <a:normAutofit fontScale="92500" lnSpcReduction="20000"/>
          </a:bodyPr>
          <a:lstStyle/>
          <a:p>
            <a:pPr algn="l">
              <a:lnSpc>
                <a:spcPct val="100000"/>
              </a:lnSpc>
              <a:spcBef>
                <a:spcPts val="0"/>
              </a:spcBef>
            </a:pPr>
            <a:r>
              <a:rPr lang="en-US" sz="1500" b="1" spc="0" dirty="0">
                <a:solidFill>
                  <a:srgbClr val="2E2A26"/>
                </a:solidFill>
                <a:latin typeface="Segoe UI"/>
                <a:cs typeface="Segoe UI"/>
              </a:rPr>
              <a:t>Content Generation &amp; Personalization</a:t>
            </a:r>
          </a:p>
          <a:p>
            <a:pPr algn="l">
              <a:lnSpc>
                <a:spcPct val="115000"/>
              </a:lnSpc>
              <a:spcBef>
                <a:spcPts val="500"/>
              </a:spcBef>
            </a:pPr>
            <a:r>
              <a:rPr lang="en-US" sz="1200" b="0" spc="0" dirty="0">
                <a:solidFill>
                  <a:srgbClr val="554C43"/>
                </a:solidFill>
                <a:latin typeface="Segoe UI"/>
                <a:cs typeface="Segoe UI"/>
              </a:rPr>
              <a:t>Drafting job descriptions, structuring personalized learning paths, and creating customized onboarding modules.</a:t>
            </a:r>
          </a:p>
        </p:txBody>
      </p:sp>
      <p:sp>
        <p:nvSpPr>
          <p:cNvPr id="34" name="shape34"/>
          <p:cNvSpPr/>
          <p:nvPr/>
        </p:nvSpPr>
        <p:spPr>
          <a:xfrm>
            <a:off x="838200" y="5584000"/>
            <a:ext cx="10515600" cy="596000"/>
          </a:xfrm>
          <a:prstGeom prst="roundRect">
            <a:avLst>
              <a:gd name="adj" fmla="val 8000"/>
            </a:avLst>
          </a:prstGeom>
          <a:solidFill>
            <a:srgbClr val="FBF6EC"/>
          </a:solidFill>
          <a:ln w="12700">
            <a:solidFill>
              <a:srgbClr val="E0CDB0"/>
            </a:solidFill>
          </a:ln>
        </p:spPr>
        <p:txBody>
          <a:bodyPr/>
          <a:lstStyle/>
          <a:p>
            <a:endParaRPr lang="en-US"/>
          </a:p>
        </p:txBody>
      </p:sp>
      <p:sp>
        <p:nvSpPr>
          <p:cNvPr id="35" name="shape35"/>
          <p:cNvSpPr/>
          <p:nvPr/>
        </p:nvSpPr>
        <p:spPr>
          <a:xfrm>
            <a:off x="1098200" y="5727040"/>
            <a:ext cx="309920" cy="309920"/>
          </a:xfrm>
          <a:prstGeom prst="ellipse">
            <a:avLst/>
          </a:prstGeom>
          <a:solidFill>
            <a:srgbClr val="B4553A"/>
          </a:solidFill>
          <a:ln>
            <a:noFill/>
          </a:ln>
        </p:spPr>
        <p:txBody>
          <a:bodyPr/>
          <a:lstStyle/>
          <a:p>
            <a:endParaRPr lang="en-US"/>
          </a:p>
        </p:txBody>
      </p:sp>
      <p:sp>
        <p:nvSpPr>
          <p:cNvPr id="36" name="shape36"/>
          <p:cNvSpPr/>
          <p:nvPr/>
        </p:nvSpPr>
        <p:spPr>
          <a:xfrm>
            <a:off x="1184978" y="5813818"/>
            <a:ext cx="136364" cy="136364"/>
          </a:xfrm>
          <a:prstGeom prst="flowChartMultidocument">
            <a:avLst/>
          </a:prstGeom>
          <a:solidFill>
            <a:srgbClr val="FFFFFF"/>
          </a:solidFill>
          <a:ln>
            <a:noFill/>
          </a:ln>
        </p:spPr>
        <p:txBody>
          <a:bodyPr/>
          <a:lstStyle/>
          <a:p>
            <a:endParaRPr lang="en-US"/>
          </a:p>
        </p:txBody>
      </p:sp>
      <p:sp>
        <p:nvSpPr>
          <p:cNvPr id="37" name="txt37"/>
          <p:cNvSpPr txBox="1"/>
          <p:nvPr/>
        </p:nvSpPr>
        <p:spPr>
          <a:xfrm>
            <a:off x="1708120" y="5679360"/>
            <a:ext cx="8300000" cy="417200"/>
          </a:xfrm>
          <a:prstGeom prst="rect">
            <a:avLst/>
          </a:prstGeom>
          <a:noFill/>
        </p:spPr>
        <p:txBody>
          <a:bodyPr wrap="square" lIns="0" tIns="0" rIns="0" bIns="0" anchor="t">
            <a:normAutofit fontScale="92500" lnSpcReduction="20000"/>
          </a:bodyPr>
          <a:lstStyle/>
          <a:p>
            <a:pPr algn="l">
              <a:lnSpc>
                <a:spcPct val="100000"/>
              </a:lnSpc>
              <a:spcBef>
                <a:spcPts val="0"/>
              </a:spcBef>
            </a:pPr>
            <a:r>
              <a:rPr lang="en-US" sz="1500" b="1" spc="0" dirty="0">
                <a:solidFill>
                  <a:srgbClr val="2E2A26"/>
                </a:solidFill>
                <a:latin typeface="Segoe UI"/>
                <a:cs typeface="Segoe UI"/>
              </a:rPr>
              <a:t>Sentiment &amp; Feedback Processing</a:t>
            </a:r>
          </a:p>
          <a:p>
            <a:pPr algn="l">
              <a:lnSpc>
                <a:spcPct val="115000"/>
              </a:lnSpc>
              <a:spcBef>
                <a:spcPts val="500"/>
              </a:spcBef>
            </a:pPr>
            <a:r>
              <a:rPr lang="en-US" sz="1200" b="0" spc="0" dirty="0">
                <a:solidFill>
                  <a:srgbClr val="554C43"/>
                </a:solidFill>
                <a:latin typeface="Segoe UI"/>
                <a:cs typeface="Segoe UI"/>
              </a:rPr>
              <a:t>Ingesting employee pulse surveys to spot organizational friction points or declining morale.</a:t>
            </a:r>
          </a:p>
        </p:txBody>
      </p:sp>
      <p:sp>
        <p:nvSpPr>
          <p:cNvPr id="38" name="shape38"/>
          <p:cNvSpPr/>
          <p:nvPr/>
        </p:nvSpPr>
        <p:spPr>
          <a:xfrm>
            <a:off x="838200" y="6420000"/>
            <a:ext cx="10515600" cy="12700"/>
          </a:xfrm>
          <a:prstGeom prst="rect">
            <a:avLst/>
          </a:prstGeom>
          <a:solidFill>
            <a:srgbClr val="E0CDB0"/>
          </a:solidFill>
          <a:ln>
            <a:noFill/>
          </a:ln>
        </p:spPr>
        <p:txBody>
          <a:bodyPr/>
          <a:lstStyle/>
          <a:p>
            <a:endParaRPr lang="en-US"/>
          </a:p>
        </p:txBody>
      </p:sp>
      <p:sp>
        <p:nvSpPr>
          <p:cNvPr id="39" name="txt39"/>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554C43"/>
                </a:solidFill>
                <a:latin typeface="Segoe UI"/>
                <a:cs typeface="Segoe UI"/>
              </a:rPr>
              <a:t>Human-in-the-loop HR operating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hape40"/>
          <p:cNvSpPr/>
          <p:nvPr/>
        </p:nvSpPr>
        <p:spPr>
          <a:xfrm>
            <a:off x="0" y="0"/>
            <a:ext cx="12192000" cy="6858000"/>
          </a:xfrm>
          <a:prstGeom prst="rect">
            <a:avLst/>
          </a:prstGeom>
          <a:solidFill>
            <a:srgbClr val="F3EBDD"/>
          </a:solidFill>
          <a:ln>
            <a:noFill/>
          </a:ln>
        </p:spPr>
        <p:txBody>
          <a:bodyPr/>
          <a:lstStyle/>
          <a:p>
            <a:endParaRPr lang="en-US"/>
          </a:p>
        </p:txBody>
      </p:sp>
      <p:sp>
        <p:nvSpPr>
          <p:cNvPr id="41" name="shape41"/>
          <p:cNvSpPr/>
          <p:nvPr/>
        </p:nvSpPr>
        <p:spPr>
          <a:xfrm>
            <a:off x="0" y="0"/>
            <a:ext cx="12192000" cy="80000"/>
          </a:xfrm>
          <a:prstGeom prst="rect">
            <a:avLst/>
          </a:prstGeom>
          <a:solidFill>
            <a:srgbClr val="B4553A"/>
          </a:solidFill>
          <a:ln>
            <a:noFill/>
          </a:ln>
        </p:spPr>
        <p:txBody>
          <a:bodyPr/>
          <a:lstStyle/>
          <a:p>
            <a:endParaRPr lang="en-US"/>
          </a:p>
        </p:txBody>
      </p:sp>
      <p:sp>
        <p:nvSpPr>
          <p:cNvPr id="42" name="shape42"/>
          <p:cNvSpPr/>
          <p:nvPr/>
        </p:nvSpPr>
        <p:spPr>
          <a:xfrm>
            <a:off x="838200" y="520700"/>
            <a:ext cx="180000" cy="180000"/>
          </a:xfrm>
          <a:prstGeom prst="ellipse">
            <a:avLst/>
          </a:prstGeom>
          <a:solidFill>
            <a:srgbClr val="7A7A4E"/>
          </a:solidFill>
          <a:ln>
            <a:noFill/>
          </a:ln>
        </p:spPr>
        <p:txBody>
          <a:bodyPr/>
          <a:lstStyle/>
          <a:p>
            <a:endParaRPr lang="en-US"/>
          </a:p>
        </p:txBody>
      </p:sp>
      <p:sp>
        <p:nvSpPr>
          <p:cNvPr id="43" name="txt43"/>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AI &amp; THE HR OPERATING MODEL</a:t>
            </a:r>
          </a:p>
        </p:txBody>
      </p:sp>
      <p:sp>
        <p:nvSpPr>
          <p:cNvPr id="44" name="txt44"/>
          <p:cNvSpPr txBox="1"/>
          <p:nvPr/>
        </p:nvSpPr>
        <p:spPr>
          <a:xfrm>
            <a:off x="838200" y="830000"/>
            <a:ext cx="9600000" cy="620000"/>
          </a:xfrm>
          <a:prstGeom prst="rect">
            <a:avLst/>
          </a:prstGeom>
          <a:noFill/>
        </p:spPr>
        <p:txBody>
          <a:bodyPr wrap="square" lIns="0" tIns="0" rIns="0" bIns="0" anchor="t">
            <a:normAutofit/>
          </a:bodyPr>
          <a:lstStyle/>
          <a:p>
            <a:pPr algn="l">
              <a:lnSpc>
                <a:spcPct val="100000"/>
              </a:lnSpc>
              <a:spcBef>
                <a:spcPts val="0"/>
              </a:spcBef>
            </a:pPr>
            <a:r>
              <a:rPr lang="en-US" sz="3200" b="1" spc="0" dirty="0">
                <a:solidFill>
                  <a:srgbClr val="2E2A26"/>
                </a:solidFill>
                <a:latin typeface="Georgia"/>
                <a:cs typeface="Georgia"/>
              </a:rPr>
              <a:t>Where Human Judgment Remains Essential</a:t>
            </a:r>
          </a:p>
        </p:txBody>
      </p:sp>
      <p:sp>
        <p:nvSpPr>
          <p:cNvPr id="45" name="shape45"/>
          <p:cNvSpPr/>
          <p:nvPr/>
        </p:nvSpPr>
        <p:spPr>
          <a:xfrm>
            <a:off x="838200" y="1560000"/>
            <a:ext cx="3200000" cy="26000"/>
          </a:xfrm>
          <a:prstGeom prst="rect">
            <a:avLst/>
          </a:prstGeom>
          <a:solidFill>
            <a:srgbClr val="B4553A"/>
          </a:solidFill>
          <a:ln>
            <a:noFill/>
          </a:ln>
        </p:spPr>
        <p:txBody>
          <a:bodyPr/>
          <a:lstStyle/>
          <a:p>
            <a:endParaRPr lang="en-US"/>
          </a:p>
        </p:txBody>
      </p:sp>
      <p:sp>
        <p:nvSpPr>
          <p:cNvPr id="46" name="shape46"/>
          <p:cNvSpPr/>
          <p:nvPr/>
        </p:nvSpPr>
        <p:spPr>
          <a:xfrm>
            <a:off x="838200" y="1860000"/>
            <a:ext cx="10515600" cy="704000"/>
          </a:xfrm>
          <a:prstGeom prst="roundRect">
            <a:avLst>
              <a:gd name="adj" fmla="val 8000"/>
            </a:avLst>
          </a:prstGeom>
          <a:solidFill>
            <a:srgbClr val="FBF6EC"/>
          </a:solidFill>
          <a:ln w="12700">
            <a:solidFill>
              <a:srgbClr val="E0CDB0"/>
            </a:solidFill>
          </a:ln>
        </p:spPr>
        <p:txBody>
          <a:bodyPr/>
          <a:lstStyle/>
          <a:p>
            <a:endParaRPr lang="en-US"/>
          </a:p>
        </p:txBody>
      </p:sp>
      <p:sp>
        <p:nvSpPr>
          <p:cNvPr id="47" name="shape47"/>
          <p:cNvSpPr/>
          <p:nvPr/>
        </p:nvSpPr>
        <p:spPr>
          <a:xfrm>
            <a:off x="1098200" y="2028960"/>
            <a:ext cx="366080" cy="366080"/>
          </a:xfrm>
          <a:prstGeom prst="ellipse">
            <a:avLst/>
          </a:prstGeom>
          <a:solidFill>
            <a:srgbClr val="B4553A"/>
          </a:solidFill>
          <a:ln>
            <a:noFill/>
          </a:ln>
        </p:spPr>
        <p:txBody>
          <a:bodyPr/>
          <a:lstStyle/>
          <a:p>
            <a:endParaRPr lang="en-US"/>
          </a:p>
        </p:txBody>
      </p:sp>
      <p:sp>
        <p:nvSpPr>
          <p:cNvPr id="48" name="shape48"/>
          <p:cNvSpPr/>
          <p:nvPr/>
        </p:nvSpPr>
        <p:spPr>
          <a:xfrm>
            <a:off x="1200702" y="2131462"/>
            <a:ext cx="161075" cy="161075"/>
          </a:xfrm>
          <a:prstGeom prst="star5">
            <a:avLst/>
          </a:prstGeom>
          <a:solidFill>
            <a:srgbClr val="FFFFFF"/>
          </a:solidFill>
          <a:ln>
            <a:noFill/>
          </a:ln>
        </p:spPr>
        <p:txBody>
          <a:bodyPr/>
          <a:lstStyle/>
          <a:p>
            <a:endParaRPr lang="en-US"/>
          </a:p>
        </p:txBody>
      </p:sp>
      <p:sp>
        <p:nvSpPr>
          <p:cNvPr id="49" name="txt49"/>
          <p:cNvSpPr txBox="1"/>
          <p:nvPr/>
        </p:nvSpPr>
        <p:spPr>
          <a:xfrm>
            <a:off x="1764280" y="1972640"/>
            <a:ext cx="8300000" cy="492799"/>
          </a:xfrm>
          <a:prstGeom prst="rect">
            <a:avLst/>
          </a:prstGeom>
          <a:noFill/>
        </p:spPr>
        <p:txBody>
          <a:bodyPr wrap="square" lIns="0" tIns="0" rIns="0" bIns="0" anchor="t">
            <a:normAutofit/>
          </a:bodyPr>
          <a:lstStyle/>
          <a:p>
            <a:pPr algn="l">
              <a:lnSpc>
                <a:spcPct val="100000"/>
              </a:lnSpc>
              <a:spcBef>
                <a:spcPts val="0"/>
              </a:spcBef>
            </a:pPr>
            <a:r>
              <a:rPr lang="en-US" sz="1500" b="1" spc="0" dirty="0">
                <a:solidFill>
                  <a:srgbClr val="2E2A26"/>
                </a:solidFill>
                <a:latin typeface="Segoe UI"/>
                <a:cs typeface="Segoe UI"/>
              </a:rPr>
              <a:t>Final Hiring &amp; Fit Decisions</a:t>
            </a:r>
          </a:p>
          <a:p>
            <a:pPr algn="l">
              <a:lnSpc>
                <a:spcPct val="115000"/>
              </a:lnSpc>
              <a:spcBef>
                <a:spcPts val="500"/>
              </a:spcBef>
            </a:pPr>
            <a:r>
              <a:rPr lang="en-US" sz="1200" b="0" spc="0" dirty="0">
                <a:solidFill>
                  <a:srgbClr val="554C43"/>
                </a:solidFill>
                <a:latin typeface="Segoe UI"/>
                <a:cs typeface="Segoe UI"/>
              </a:rPr>
              <a:t>Evaluating nuanced soft skills, cultural contribution, character integrity, and adaptability that resume parsers miss.</a:t>
            </a:r>
          </a:p>
        </p:txBody>
      </p:sp>
      <p:sp>
        <p:nvSpPr>
          <p:cNvPr id="50" name="shape50"/>
          <p:cNvSpPr/>
          <p:nvPr/>
        </p:nvSpPr>
        <p:spPr>
          <a:xfrm>
            <a:off x="838200" y="2764000"/>
            <a:ext cx="10515600" cy="704000"/>
          </a:xfrm>
          <a:prstGeom prst="roundRect">
            <a:avLst>
              <a:gd name="adj" fmla="val 8000"/>
            </a:avLst>
          </a:prstGeom>
          <a:solidFill>
            <a:srgbClr val="FBF6EC"/>
          </a:solidFill>
          <a:ln w="12700">
            <a:solidFill>
              <a:srgbClr val="E0CDB0"/>
            </a:solidFill>
          </a:ln>
        </p:spPr>
        <p:txBody>
          <a:bodyPr/>
          <a:lstStyle/>
          <a:p>
            <a:endParaRPr lang="en-US"/>
          </a:p>
        </p:txBody>
      </p:sp>
      <p:sp>
        <p:nvSpPr>
          <p:cNvPr id="51" name="shape51"/>
          <p:cNvSpPr/>
          <p:nvPr/>
        </p:nvSpPr>
        <p:spPr>
          <a:xfrm>
            <a:off x="1098200" y="2932960"/>
            <a:ext cx="366080" cy="366080"/>
          </a:xfrm>
          <a:prstGeom prst="ellipse">
            <a:avLst/>
          </a:prstGeom>
          <a:solidFill>
            <a:srgbClr val="B4553A"/>
          </a:solidFill>
          <a:ln>
            <a:noFill/>
          </a:ln>
        </p:spPr>
        <p:txBody>
          <a:bodyPr/>
          <a:lstStyle/>
          <a:p>
            <a:endParaRPr lang="en-US"/>
          </a:p>
        </p:txBody>
      </p:sp>
      <p:sp>
        <p:nvSpPr>
          <p:cNvPr id="52" name="shape52"/>
          <p:cNvSpPr/>
          <p:nvPr/>
        </p:nvSpPr>
        <p:spPr>
          <a:xfrm>
            <a:off x="1200702" y="3035462"/>
            <a:ext cx="161075" cy="161075"/>
          </a:xfrm>
          <a:prstGeom prst="wedgeEllipseCallout">
            <a:avLst/>
          </a:prstGeom>
          <a:solidFill>
            <a:srgbClr val="FFFFFF"/>
          </a:solidFill>
          <a:ln>
            <a:noFill/>
          </a:ln>
        </p:spPr>
        <p:txBody>
          <a:bodyPr/>
          <a:lstStyle/>
          <a:p>
            <a:endParaRPr lang="en-US"/>
          </a:p>
        </p:txBody>
      </p:sp>
      <p:sp>
        <p:nvSpPr>
          <p:cNvPr id="53" name="txt53"/>
          <p:cNvSpPr txBox="1"/>
          <p:nvPr/>
        </p:nvSpPr>
        <p:spPr>
          <a:xfrm>
            <a:off x="1764280" y="2876640"/>
            <a:ext cx="8300000" cy="492799"/>
          </a:xfrm>
          <a:prstGeom prst="rect">
            <a:avLst/>
          </a:prstGeom>
          <a:noFill/>
        </p:spPr>
        <p:txBody>
          <a:bodyPr wrap="square" lIns="0" tIns="0" rIns="0" bIns="0" anchor="t">
            <a:normAutofit/>
          </a:bodyPr>
          <a:lstStyle/>
          <a:p>
            <a:pPr algn="l">
              <a:lnSpc>
                <a:spcPct val="100000"/>
              </a:lnSpc>
              <a:spcBef>
                <a:spcPts val="0"/>
              </a:spcBef>
            </a:pPr>
            <a:r>
              <a:rPr lang="en-US" sz="1500" b="1" spc="0" dirty="0">
                <a:solidFill>
                  <a:srgbClr val="2E2A26"/>
                </a:solidFill>
                <a:latin typeface="Segoe UI"/>
                <a:cs typeface="Segoe UI"/>
              </a:rPr>
              <a:t>Sensitive Employee Relations</a:t>
            </a:r>
          </a:p>
          <a:p>
            <a:pPr algn="l">
              <a:lnSpc>
                <a:spcPct val="115000"/>
              </a:lnSpc>
              <a:spcBef>
                <a:spcPts val="500"/>
              </a:spcBef>
            </a:pPr>
            <a:r>
              <a:rPr lang="en-US" sz="1200" b="0" spc="0" dirty="0">
                <a:solidFill>
                  <a:srgbClr val="554C43"/>
                </a:solidFill>
                <a:latin typeface="Segoe UI"/>
                <a:cs typeface="Segoe UI"/>
              </a:rPr>
              <a:t>Managing workplace disputes, handling misconduct investigations, and delivering difficult news with genuine empathy.</a:t>
            </a:r>
          </a:p>
        </p:txBody>
      </p:sp>
      <p:sp>
        <p:nvSpPr>
          <p:cNvPr id="54" name="shape54"/>
          <p:cNvSpPr/>
          <p:nvPr/>
        </p:nvSpPr>
        <p:spPr>
          <a:xfrm>
            <a:off x="838200" y="3668000"/>
            <a:ext cx="10515600" cy="704000"/>
          </a:xfrm>
          <a:prstGeom prst="roundRect">
            <a:avLst>
              <a:gd name="adj" fmla="val 8000"/>
            </a:avLst>
          </a:prstGeom>
          <a:solidFill>
            <a:srgbClr val="FBF6EC"/>
          </a:solidFill>
          <a:ln w="12700">
            <a:solidFill>
              <a:srgbClr val="E0CDB0"/>
            </a:solidFill>
          </a:ln>
        </p:spPr>
        <p:txBody>
          <a:bodyPr/>
          <a:lstStyle/>
          <a:p>
            <a:endParaRPr lang="en-US"/>
          </a:p>
        </p:txBody>
      </p:sp>
      <p:sp>
        <p:nvSpPr>
          <p:cNvPr id="55" name="shape55"/>
          <p:cNvSpPr/>
          <p:nvPr/>
        </p:nvSpPr>
        <p:spPr>
          <a:xfrm>
            <a:off x="1098200" y="3836960"/>
            <a:ext cx="366080" cy="366080"/>
          </a:xfrm>
          <a:prstGeom prst="ellipse">
            <a:avLst/>
          </a:prstGeom>
          <a:solidFill>
            <a:srgbClr val="B4553A"/>
          </a:solidFill>
          <a:ln>
            <a:noFill/>
          </a:ln>
        </p:spPr>
        <p:txBody>
          <a:bodyPr/>
          <a:lstStyle/>
          <a:p>
            <a:endParaRPr lang="en-US"/>
          </a:p>
        </p:txBody>
      </p:sp>
      <p:sp>
        <p:nvSpPr>
          <p:cNvPr id="56" name="shape56"/>
          <p:cNvSpPr/>
          <p:nvPr/>
        </p:nvSpPr>
        <p:spPr>
          <a:xfrm>
            <a:off x="1200702" y="3939462"/>
            <a:ext cx="161075" cy="161075"/>
          </a:xfrm>
          <a:prstGeom prst="flowChartPreparation">
            <a:avLst/>
          </a:prstGeom>
          <a:solidFill>
            <a:srgbClr val="FFFFFF"/>
          </a:solidFill>
          <a:ln>
            <a:noFill/>
          </a:ln>
        </p:spPr>
        <p:txBody>
          <a:bodyPr/>
          <a:lstStyle/>
          <a:p>
            <a:endParaRPr lang="en-US"/>
          </a:p>
        </p:txBody>
      </p:sp>
      <p:sp>
        <p:nvSpPr>
          <p:cNvPr id="57" name="txt57"/>
          <p:cNvSpPr txBox="1"/>
          <p:nvPr/>
        </p:nvSpPr>
        <p:spPr>
          <a:xfrm>
            <a:off x="1764280" y="3780640"/>
            <a:ext cx="8300000" cy="492799"/>
          </a:xfrm>
          <a:prstGeom prst="rect">
            <a:avLst/>
          </a:prstGeom>
          <a:noFill/>
        </p:spPr>
        <p:txBody>
          <a:bodyPr wrap="square" lIns="0" tIns="0" rIns="0" bIns="0" anchor="t">
            <a:normAutofit/>
          </a:bodyPr>
          <a:lstStyle/>
          <a:p>
            <a:pPr algn="l">
              <a:lnSpc>
                <a:spcPct val="100000"/>
              </a:lnSpc>
              <a:spcBef>
                <a:spcPts val="0"/>
              </a:spcBef>
            </a:pPr>
            <a:r>
              <a:rPr lang="en-US" sz="1500" b="1" spc="0" dirty="0">
                <a:solidFill>
                  <a:srgbClr val="2E2A26"/>
                </a:solidFill>
                <a:latin typeface="Segoe UI"/>
                <a:cs typeface="Segoe UI"/>
              </a:rPr>
              <a:t>Ethical Oversights &amp; Bias Audit</a:t>
            </a:r>
          </a:p>
          <a:p>
            <a:pPr algn="l">
              <a:lnSpc>
                <a:spcPct val="115000"/>
              </a:lnSpc>
              <a:spcBef>
                <a:spcPts val="500"/>
              </a:spcBef>
            </a:pPr>
            <a:r>
              <a:rPr lang="en-US" sz="1200" b="0" spc="0" dirty="0">
                <a:solidFill>
                  <a:srgbClr val="554C43"/>
                </a:solidFill>
                <a:latin typeface="Segoe UI"/>
                <a:cs typeface="Segoe UI"/>
              </a:rPr>
              <a:t>Auditing AI outputs to prevent algorithmic discrimination, opacity, and systemic bias in promotions or salary decisions.</a:t>
            </a:r>
          </a:p>
        </p:txBody>
      </p:sp>
      <p:sp>
        <p:nvSpPr>
          <p:cNvPr id="58" name="shape58"/>
          <p:cNvSpPr/>
          <p:nvPr/>
        </p:nvSpPr>
        <p:spPr>
          <a:xfrm>
            <a:off x="838200" y="4572000"/>
            <a:ext cx="10515600" cy="704000"/>
          </a:xfrm>
          <a:prstGeom prst="roundRect">
            <a:avLst>
              <a:gd name="adj" fmla="val 8000"/>
            </a:avLst>
          </a:prstGeom>
          <a:solidFill>
            <a:srgbClr val="FBF6EC"/>
          </a:solidFill>
          <a:ln w="12700">
            <a:solidFill>
              <a:srgbClr val="E0CDB0"/>
            </a:solidFill>
          </a:ln>
        </p:spPr>
        <p:txBody>
          <a:bodyPr/>
          <a:lstStyle/>
          <a:p>
            <a:endParaRPr lang="en-US"/>
          </a:p>
        </p:txBody>
      </p:sp>
      <p:sp>
        <p:nvSpPr>
          <p:cNvPr id="59" name="shape59"/>
          <p:cNvSpPr/>
          <p:nvPr/>
        </p:nvSpPr>
        <p:spPr>
          <a:xfrm>
            <a:off x="1098200" y="4740960"/>
            <a:ext cx="366080" cy="366080"/>
          </a:xfrm>
          <a:prstGeom prst="ellipse">
            <a:avLst/>
          </a:prstGeom>
          <a:solidFill>
            <a:srgbClr val="B4553A"/>
          </a:solidFill>
          <a:ln>
            <a:noFill/>
          </a:ln>
        </p:spPr>
        <p:txBody>
          <a:bodyPr/>
          <a:lstStyle/>
          <a:p>
            <a:endParaRPr lang="en-US"/>
          </a:p>
        </p:txBody>
      </p:sp>
      <p:sp>
        <p:nvSpPr>
          <p:cNvPr id="60" name="shape60"/>
          <p:cNvSpPr/>
          <p:nvPr/>
        </p:nvSpPr>
        <p:spPr>
          <a:xfrm>
            <a:off x="1200702" y="4843462"/>
            <a:ext cx="161075" cy="161075"/>
          </a:xfrm>
          <a:prstGeom prst="circularArrow">
            <a:avLst/>
          </a:prstGeom>
          <a:solidFill>
            <a:srgbClr val="FFFFFF"/>
          </a:solidFill>
          <a:ln>
            <a:noFill/>
          </a:ln>
        </p:spPr>
        <p:txBody>
          <a:bodyPr/>
          <a:lstStyle/>
          <a:p>
            <a:endParaRPr lang="en-US"/>
          </a:p>
        </p:txBody>
      </p:sp>
      <p:sp>
        <p:nvSpPr>
          <p:cNvPr id="61" name="txt61"/>
          <p:cNvSpPr txBox="1"/>
          <p:nvPr/>
        </p:nvSpPr>
        <p:spPr>
          <a:xfrm>
            <a:off x="1764280" y="4684640"/>
            <a:ext cx="8300000" cy="492799"/>
          </a:xfrm>
          <a:prstGeom prst="rect">
            <a:avLst/>
          </a:prstGeom>
          <a:noFill/>
        </p:spPr>
        <p:txBody>
          <a:bodyPr wrap="square" lIns="0" tIns="0" rIns="0" bIns="0" anchor="t">
            <a:normAutofit/>
          </a:bodyPr>
          <a:lstStyle/>
          <a:p>
            <a:pPr algn="l">
              <a:lnSpc>
                <a:spcPct val="100000"/>
              </a:lnSpc>
              <a:spcBef>
                <a:spcPts val="0"/>
              </a:spcBef>
            </a:pPr>
            <a:r>
              <a:rPr lang="en-US" sz="1500" b="1" spc="0" dirty="0">
                <a:solidFill>
                  <a:srgbClr val="2E2A26"/>
                </a:solidFill>
                <a:latin typeface="Segoe UI"/>
                <a:cs typeface="Segoe UI"/>
              </a:rPr>
              <a:t>Strategic Culture &amp; Organizational Change</a:t>
            </a:r>
          </a:p>
          <a:p>
            <a:pPr algn="l">
              <a:lnSpc>
                <a:spcPct val="115000"/>
              </a:lnSpc>
              <a:spcBef>
                <a:spcPts val="500"/>
              </a:spcBef>
            </a:pPr>
            <a:r>
              <a:rPr lang="en-US" sz="1200" b="0" spc="0" dirty="0">
                <a:solidFill>
                  <a:srgbClr val="554C43"/>
                </a:solidFill>
                <a:latin typeface="Segoe UI"/>
                <a:cs typeface="Segoe UI"/>
              </a:rPr>
              <a:t>Defining company values, building trust, and driving change management initiatives during transitions.</a:t>
            </a:r>
          </a:p>
        </p:txBody>
      </p:sp>
      <p:sp>
        <p:nvSpPr>
          <p:cNvPr id="62" name="shape62"/>
          <p:cNvSpPr/>
          <p:nvPr/>
        </p:nvSpPr>
        <p:spPr>
          <a:xfrm>
            <a:off x="838200" y="5476000"/>
            <a:ext cx="10515600" cy="704000"/>
          </a:xfrm>
          <a:prstGeom prst="roundRect">
            <a:avLst>
              <a:gd name="adj" fmla="val 8000"/>
            </a:avLst>
          </a:prstGeom>
          <a:solidFill>
            <a:srgbClr val="FBF6EC"/>
          </a:solidFill>
          <a:ln w="12700">
            <a:solidFill>
              <a:srgbClr val="E0CDB0"/>
            </a:solidFill>
          </a:ln>
        </p:spPr>
        <p:txBody>
          <a:bodyPr/>
          <a:lstStyle/>
          <a:p>
            <a:endParaRPr lang="en-US"/>
          </a:p>
        </p:txBody>
      </p:sp>
      <p:sp>
        <p:nvSpPr>
          <p:cNvPr id="63" name="shape63"/>
          <p:cNvSpPr/>
          <p:nvPr/>
        </p:nvSpPr>
        <p:spPr>
          <a:xfrm>
            <a:off x="1098200" y="5644960"/>
            <a:ext cx="366080" cy="366080"/>
          </a:xfrm>
          <a:prstGeom prst="ellipse">
            <a:avLst/>
          </a:prstGeom>
          <a:solidFill>
            <a:srgbClr val="B4553A"/>
          </a:solidFill>
          <a:ln>
            <a:noFill/>
          </a:ln>
        </p:spPr>
        <p:txBody>
          <a:bodyPr/>
          <a:lstStyle/>
          <a:p>
            <a:endParaRPr lang="en-US"/>
          </a:p>
        </p:txBody>
      </p:sp>
      <p:sp>
        <p:nvSpPr>
          <p:cNvPr id="64" name="shape64"/>
          <p:cNvSpPr/>
          <p:nvPr/>
        </p:nvSpPr>
        <p:spPr>
          <a:xfrm>
            <a:off x="1200702" y="5747462"/>
            <a:ext cx="161075" cy="161075"/>
          </a:xfrm>
          <a:prstGeom prst="diamond">
            <a:avLst/>
          </a:prstGeom>
          <a:solidFill>
            <a:srgbClr val="FFFFFF"/>
          </a:solidFill>
          <a:ln>
            <a:noFill/>
          </a:ln>
        </p:spPr>
        <p:txBody>
          <a:bodyPr/>
          <a:lstStyle/>
          <a:p>
            <a:endParaRPr lang="en-US"/>
          </a:p>
        </p:txBody>
      </p:sp>
      <p:sp>
        <p:nvSpPr>
          <p:cNvPr id="65" name="txt65"/>
          <p:cNvSpPr txBox="1"/>
          <p:nvPr/>
        </p:nvSpPr>
        <p:spPr>
          <a:xfrm>
            <a:off x="1764280" y="5588640"/>
            <a:ext cx="8300000" cy="492799"/>
          </a:xfrm>
          <a:prstGeom prst="rect">
            <a:avLst/>
          </a:prstGeom>
          <a:noFill/>
        </p:spPr>
        <p:txBody>
          <a:bodyPr wrap="square" lIns="0" tIns="0" rIns="0" bIns="0" anchor="t">
            <a:normAutofit/>
          </a:bodyPr>
          <a:lstStyle/>
          <a:p>
            <a:pPr algn="l">
              <a:lnSpc>
                <a:spcPct val="100000"/>
              </a:lnSpc>
              <a:spcBef>
                <a:spcPts val="0"/>
              </a:spcBef>
            </a:pPr>
            <a:r>
              <a:rPr lang="en-US" sz="1500" b="1" spc="0" dirty="0">
                <a:solidFill>
                  <a:srgbClr val="2E2A26"/>
                </a:solidFill>
                <a:latin typeface="Segoe UI"/>
                <a:cs typeface="Segoe UI"/>
              </a:rPr>
              <a:t>Handling Complex Edge Cases</a:t>
            </a:r>
          </a:p>
          <a:p>
            <a:pPr algn="l">
              <a:lnSpc>
                <a:spcPct val="115000"/>
              </a:lnSpc>
              <a:spcBef>
                <a:spcPts val="500"/>
              </a:spcBef>
            </a:pPr>
            <a:r>
              <a:rPr lang="en-US" sz="1200" b="0" spc="0" dirty="0">
                <a:solidFill>
                  <a:srgbClr val="554C43"/>
                </a:solidFill>
                <a:latin typeface="Segoe UI"/>
                <a:cs typeface="Segoe UI"/>
              </a:rPr>
              <a:t>Contextualizing personal hardships (e.g., medical leave requests, family emergencies) where blanket policies fall short.</a:t>
            </a:r>
          </a:p>
        </p:txBody>
      </p:sp>
      <p:sp>
        <p:nvSpPr>
          <p:cNvPr id="66" name="shape66"/>
          <p:cNvSpPr/>
          <p:nvPr/>
        </p:nvSpPr>
        <p:spPr>
          <a:xfrm>
            <a:off x="838200" y="6420000"/>
            <a:ext cx="10515600" cy="12700"/>
          </a:xfrm>
          <a:prstGeom prst="rect">
            <a:avLst/>
          </a:prstGeom>
          <a:solidFill>
            <a:srgbClr val="E0CDB0"/>
          </a:solidFill>
          <a:ln>
            <a:noFill/>
          </a:ln>
        </p:spPr>
        <p:txBody>
          <a:bodyPr/>
          <a:lstStyle/>
          <a:p>
            <a:endParaRPr lang="en-US"/>
          </a:p>
        </p:txBody>
      </p:sp>
      <p:sp>
        <p:nvSpPr>
          <p:cNvPr id="67" name="txt67"/>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554C43"/>
                </a:solidFill>
                <a:latin typeface="Segoe UI"/>
                <a:cs typeface="Segoe UI"/>
              </a:rPr>
              <a:t>Human-in-the-loop HR operating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49"/>
          <p:cNvSpPr/>
          <p:nvPr/>
        </p:nvSpPr>
        <p:spPr>
          <a:xfrm>
            <a:off x="0" y="0"/>
            <a:ext cx="12192000" cy="6858000"/>
          </a:xfrm>
          <a:prstGeom prst="rect">
            <a:avLst/>
          </a:prstGeom>
          <a:solidFill>
            <a:srgbClr val="F3EBDD"/>
          </a:solidFill>
          <a:ln>
            <a:noFill/>
          </a:ln>
        </p:spPr>
        <p:txBody>
          <a:bodyPr/>
          <a:lstStyle/>
          <a:p>
            <a:endParaRPr lang="en-US"/>
          </a:p>
        </p:txBody>
      </p:sp>
      <p:sp>
        <p:nvSpPr>
          <p:cNvPr id="50" name="s50"/>
          <p:cNvSpPr/>
          <p:nvPr/>
        </p:nvSpPr>
        <p:spPr>
          <a:xfrm>
            <a:off x="0" y="0"/>
            <a:ext cx="12192000" cy="80000"/>
          </a:xfrm>
          <a:prstGeom prst="rect">
            <a:avLst/>
          </a:prstGeom>
          <a:solidFill>
            <a:srgbClr val="B4553A"/>
          </a:solidFill>
          <a:ln>
            <a:noFill/>
          </a:ln>
        </p:spPr>
        <p:txBody>
          <a:bodyPr/>
          <a:lstStyle/>
          <a:p>
            <a:endParaRPr lang="en-US"/>
          </a:p>
        </p:txBody>
      </p:sp>
      <p:sp>
        <p:nvSpPr>
          <p:cNvPr id="51" name="g51"/>
          <p:cNvSpPr/>
          <p:nvPr/>
        </p:nvSpPr>
        <p:spPr>
          <a:xfrm>
            <a:off x="7010400" y="0"/>
            <a:ext cx="5181600" cy="6858000"/>
          </a:xfrm>
          <a:prstGeom prst="rect">
            <a:avLst/>
          </a:prstGeom>
          <a:solidFill>
            <a:srgbClr val="332E29"/>
          </a:solidFill>
          <a:ln>
            <a:noFill/>
          </a:ln>
        </p:spPr>
        <p:txBody>
          <a:bodyPr/>
          <a:lstStyle/>
          <a:p>
            <a:endParaRPr lang="en-US"/>
          </a:p>
        </p:txBody>
      </p:sp>
      <p:sp>
        <p:nvSpPr>
          <p:cNvPr id="52" name="g52"/>
          <p:cNvSpPr/>
          <p:nvPr/>
        </p:nvSpPr>
        <p:spPr>
          <a:xfrm>
            <a:off x="7787640" y="1879000"/>
            <a:ext cx="3083052" cy="300000"/>
          </a:xfrm>
          <a:prstGeom prst="roundRect">
            <a:avLst>
              <a:gd name="adj" fmla="val 50000"/>
            </a:avLst>
          </a:prstGeom>
          <a:solidFill>
            <a:srgbClr val="B4553A"/>
          </a:solidFill>
          <a:ln>
            <a:noFill/>
          </a:ln>
        </p:spPr>
        <p:txBody>
          <a:bodyPr/>
          <a:lstStyle/>
          <a:p>
            <a:endParaRPr lang="en-US"/>
          </a:p>
        </p:txBody>
      </p:sp>
      <p:sp>
        <p:nvSpPr>
          <p:cNvPr id="53" name="g53"/>
          <p:cNvSpPr/>
          <p:nvPr/>
        </p:nvSpPr>
        <p:spPr>
          <a:xfrm>
            <a:off x="11050692" y="1859000"/>
            <a:ext cx="260000" cy="260000"/>
          </a:xfrm>
          <a:prstGeom prst="ellipse">
            <a:avLst/>
          </a:prstGeom>
          <a:solidFill>
            <a:srgbClr val="F3EBDD">
              <a:alpha val="45000"/>
            </a:srgbClr>
          </a:solidFill>
          <a:ln>
            <a:noFill/>
          </a:ln>
        </p:spPr>
        <p:txBody>
          <a:bodyPr/>
          <a:lstStyle/>
          <a:p>
            <a:endParaRPr lang="en-US"/>
          </a:p>
        </p:txBody>
      </p:sp>
      <p:sp>
        <p:nvSpPr>
          <p:cNvPr id="54" name="g54"/>
          <p:cNvSpPr/>
          <p:nvPr/>
        </p:nvSpPr>
        <p:spPr>
          <a:xfrm>
            <a:off x="7787640" y="2499000"/>
            <a:ext cx="2248814" cy="300000"/>
          </a:xfrm>
          <a:prstGeom prst="roundRect">
            <a:avLst>
              <a:gd name="adj" fmla="val 50000"/>
            </a:avLst>
          </a:prstGeom>
          <a:solidFill>
            <a:srgbClr val="C08A2E"/>
          </a:solidFill>
          <a:ln>
            <a:noFill/>
          </a:ln>
        </p:spPr>
        <p:txBody>
          <a:bodyPr/>
          <a:lstStyle/>
          <a:p>
            <a:endParaRPr lang="en-US"/>
          </a:p>
        </p:txBody>
      </p:sp>
      <p:sp>
        <p:nvSpPr>
          <p:cNvPr id="55" name="g55"/>
          <p:cNvSpPr/>
          <p:nvPr/>
        </p:nvSpPr>
        <p:spPr>
          <a:xfrm>
            <a:off x="10216454" y="2479000"/>
            <a:ext cx="260000" cy="260000"/>
          </a:xfrm>
          <a:prstGeom prst="ellipse">
            <a:avLst/>
          </a:prstGeom>
          <a:solidFill>
            <a:srgbClr val="F3EBDD">
              <a:alpha val="45000"/>
            </a:srgbClr>
          </a:solidFill>
          <a:ln>
            <a:noFill/>
          </a:ln>
        </p:spPr>
        <p:txBody>
          <a:bodyPr/>
          <a:lstStyle/>
          <a:p>
            <a:endParaRPr lang="en-US"/>
          </a:p>
        </p:txBody>
      </p:sp>
      <p:sp>
        <p:nvSpPr>
          <p:cNvPr id="56" name="g56"/>
          <p:cNvSpPr/>
          <p:nvPr/>
        </p:nvSpPr>
        <p:spPr>
          <a:xfrm>
            <a:off x="7787640" y="3119000"/>
            <a:ext cx="3627120" cy="300000"/>
          </a:xfrm>
          <a:prstGeom prst="roundRect">
            <a:avLst>
              <a:gd name="adj" fmla="val 50000"/>
            </a:avLst>
          </a:prstGeom>
          <a:solidFill>
            <a:srgbClr val="7A7A4E"/>
          </a:solidFill>
          <a:ln>
            <a:noFill/>
          </a:ln>
        </p:spPr>
        <p:txBody>
          <a:bodyPr/>
          <a:lstStyle/>
          <a:p>
            <a:endParaRPr lang="en-US"/>
          </a:p>
        </p:txBody>
      </p:sp>
      <p:sp>
        <p:nvSpPr>
          <p:cNvPr id="57" name="g57"/>
          <p:cNvSpPr/>
          <p:nvPr/>
        </p:nvSpPr>
        <p:spPr>
          <a:xfrm>
            <a:off x="11594760" y="3099000"/>
            <a:ext cx="260000" cy="260000"/>
          </a:xfrm>
          <a:prstGeom prst="ellipse">
            <a:avLst/>
          </a:prstGeom>
          <a:solidFill>
            <a:srgbClr val="F3EBDD">
              <a:alpha val="45000"/>
            </a:srgbClr>
          </a:solidFill>
          <a:ln>
            <a:noFill/>
          </a:ln>
        </p:spPr>
        <p:txBody>
          <a:bodyPr/>
          <a:lstStyle/>
          <a:p>
            <a:endParaRPr lang="en-US"/>
          </a:p>
        </p:txBody>
      </p:sp>
      <p:sp>
        <p:nvSpPr>
          <p:cNvPr id="58" name="g58"/>
          <p:cNvSpPr/>
          <p:nvPr/>
        </p:nvSpPr>
        <p:spPr>
          <a:xfrm>
            <a:off x="7787640" y="3739000"/>
            <a:ext cx="1632204" cy="300000"/>
          </a:xfrm>
          <a:prstGeom prst="roundRect">
            <a:avLst>
              <a:gd name="adj" fmla="val 50000"/>
            </a:avLst>
          </a:prstGeom>
          <a:solidFill>
            <a:srgbClr val="B4553A"/>
          </a:solidFill>
          <a:ln>
            <a:noFill/>
          </a:ln>
        </p:spPr>
        <p:txBody>
          <a:bodyPr/>
          <a:lstStyle/>
          <a:p>
            <a:endParaRPr lang="en-US"/>
          </a:p>
        </p:txBody>
      </p:sp>
      <p:sp>
        <p:nvSpPr>
          <p:cNvPr id="59" name="g59"/>
          <p:cNvSpPr/>
          <p:nvPr/>
        </p:nvSpPr>
        <p:spPr>
          <a:xfrm>
            <a:off x="9599844" y="3719000"/>
            <a:ext cx="260000" cy="260000"/>
          </a:xfrm>
          <a:prstGeom prst="ellipse">
            <a:avLst/>
          </a:prstGeom>
          <a:solidFill>
            <a:srgbClr val="F3EBDD">
              <a:alpha val="45000"/>
            </a:srgbClr>
          </a:solidFill>
          <a:ln>
            <a:noFill/>
          </a:ln>
        </p:spPr>
        <p:txBody>
          <a:bodyPr/>
          <a:lstStyle/>
          <a:p>
            <a:endParaRPr lang="en-US"/>
          </a:p>
        </p:txBody>
      </p:sp>
      <p:sp>
        <p:nvSpPr>
          <p:cNvPr id="60" name="g60"/>
          <p:cNvSpPr/>
          <p:nvPr/>
        </p:nvSpPr>
        <p:spPr>
          <a:xfrm>
            <a:off x="7787640" y="4359000"/>
            <a:ext cx="2684068" cy="300000"/>
          </a:xfrm>
          <a:prstGeom prst="roundRect">
            <a:avLst>
              <a:gd name="adj" fmla="val 50000"/>
            </a:avLst>
          </a:prstGeom>
          <a:solidFill>
            <a:srgbClr val="C08A2E"/>
          </a:solidFill>
          <a:ln>
            <a:noFill/>
          </a:ln>
        </p:spPr>
        <p:txBody>
          <a:bodyPr/>
          <a:lstStyle/>
          <a:p>
            <a:endParaRPr lang="en-US"/>
          </a:p>
        </p:txBody>
      </p:sp>
      <p:sp>
        <p:nvSpPr>
          <p:cNvPr id="61" name="g61"/>
          <p:cNvSpPr/>
          <p:nvPr/>
        </p:nvSpPr>
        <p:spPr>
          <a:xfrm>
            <a:off x="10651708" y="4339000"/>
            <a:ext cx="260000" cy="260000"/>
          </a:xfrm>
          <a:prstGeom prst="ellipse">
            <a:avLst/>
          </a:prstGeom>
          <a:solidFill>
            <a:srgbClr val="F3EBDD">
              <a:alpha val="45000"/>
            </a:srgbClr>
          </a:solidFill>
          <a:ln>
            <a:noFill/>
          </a:ln>
        </p:spPr>
        <p:txBody>
          <a:bodyPr/>
          <a:lstStyle/>
          <a:p>
            <a:endParaRPr lang="en-US"/>
          </a:p>
        </p:txBody>
      </p:sp>
      <p:sp>
        <p:nvSpPr>
          <p:cNvPr id="62" name="t62"/>
          <p:cNvSpPr txBox="1"/>
          <p:nvPr/>
        </p:nvSpPr>
        <p:spPr>
          <a:xfrm>
            <a:off x="838200" y="1900000"/>
            <a:ext cx="5400000" cy="340000"/>
          </a:xfrm>
          <a:prstGeom prst="rect">
            <a:avLst/>
          </a:prstGeom>
          <a:noFill/>
        </p:spPr>
        <p:txBody>
          <a:bodyPr wrap="square" lIns="0" tIns="0" rIns="0" bIns="0" anchor="t">
            <a:normAutofit/>
          </a:bodyPr>
          <a:lstStyle/>
          <a:p>
            <a:pPr algn="l">
              <a:lnSpc>
                <a:spcPct val="100000"/>
              </a:lnSpc>
              <a:spcBef>
                <a:spcPts val="0"/>
              </a:spcBef>
            </a:pPr>
            <a:r>
              <a:rPr lang="en-US" sz="1400" b="1" spc="400" dirty="0">
                <a:solidFill>
                  <a:srgbClr val="B4553A"/>
                </a:solidFill>
                <a:latin typeface="Segoe UI"/>
                <a:cs typeface="Segoe UI"/>
              </a:rPr>
              <a:t>02</a:t>
            </a:r>
          </a:p>
        </p:txBody>
      </p:sp>
      <p:sp>
        <p:nvSpPr>
          <p:cNvPr id="63" name="s63"/>
          <p:cNvSpPr/>
          <p:nvPr/>
        </p:nvSpPr>
        <p:spPr>
          <a:xfrm>
            <a:off x="838200" y="2360000"/>
            <a:ext cx="1400000" cy="26000"/>
          </a:xfrm>
          <a:prstGeom prst="rect">
            <a:avLst/>
          </a:prstGeom>
          <a:solidFill>
            <a:srgbClr val="B4553A"/>
          </a:solidFill>
          <a:ln>
            <a:noFill/>
          </a:ln>
        </p:spPr>
        <p:txBody>
          <a:bodyPr/>
          <a:lstStyle/>
          <a:p>
            <a:endParaRPr lang="en-US"/>
          </a:p>
        </p:txBody>
      </p:sp>
      <p:sp>
        <p:nvSpPr>
          <p:cNvPr id="64" name="t64"/>
          <p:cNvSpPr txBox="1"/>
          <p:nvPr/>
        </p:nvSpPr>
        <p:spPr>
          <a:xfrm>
            <a:off x="838200" y="2640000"/>
            <a:ext cx="5400000" cy="2000000"/>
          </a:xfrm>
          <a:prstGeom prst="rect">
            <a:avLst/>
          </a:prstGeom>
          <a:noFill/>
        </p:spPr>
        <p:txBody>
          <a:bodyPr wrap="square" lIns="0" tIns="0" rIns="0" bIns="0" anchor="t">
            <a:normAutofit/>
          </a:bodyPr>
          <a:lstStyle/>
          <a:p>
            <a:pPr algn="l">
              <a:lnSpc>
                <a:spcPct val="104000"/>
              </a:lnSpc>
              <a:spcBef>
                <a:spcPts val="0"/>
              </a:spcBef>
            </a:pPr>
            <a:r>
              <a:rPr lang="en-US" sz="3400" b="1" spc="0" dirty="0">
                <a:solidFill>
                  <a:srgbClr val="2E2A26"/>
                </a:solidFill>
                <a:latin typeface="Georgia"/>
                <a:cs typeface="Georgia"/>
              </a:rPr>
              <a:t>Choosing the Right AI Tool</a:t>
            </a:r>
          </a:p>
        </p:txBody>
      </p:sp>
      <p:sp>
        <p:nvSpPr>
          <p:cNvPr id="65" name="t65"/>
          <p:cNvSpPr txBox="1"/>
          <p:nvPr/>
        </p:nvSpPr>
        <p:spPr>
          <a:xfrm>
            <a:off x="838200" y="4600000"/>
            <a:ext cx="5400000" cy="1000000"/>
          </a:xfrm>
          <a:prstGeom prst="rect">
            <a:avLst/>
          </a:prstGeom>
          <a:noFill/>
        </p:spPr>
        <p:txBody>
          <a:bodyPr wrap="square" lIns="0" tIns="0" rIns="0" bIns="0" anchor="t">
            <a:normAutofit/>
          </a:bodyPr>
          <a:lstStyle/>
          <a:p>
            <a:pPr algn="l">
              <a:lnSpc>
                <a:spcPct val="125000"/>
              </a:lnSpc>
              <a:spcBef>
                <a:spcPts val="0"/>
              </a:spcBef>
            </a:pPr>
            <a:r>
              <a:rPr lang="en-US" sz="1300" b="0" spc="0" dirty="0">
                <a:solidFill>
                  <a:srgbClr val="4A423A"/>
                </a:solidFill>
                <a:latin typeface="Segoe UI"/>
                <a:cs typeface="Segoe UI"/>
              </a:rPr>
              <a:t>Four leading assistants compared on capability, limitations and what they actually cost.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11"/>
          <p:cNvSpPr/>
          <p:nvPr/>
        </p:nvSpPr>
        <p:spPr>
          <a:xfrm>
            <a:off x="0" y="0"/>
            <a:ext cx="12192000" cy="6858000"/>
          </a:xfrm>
          <a:prstGeom prst="rect">
            <a:avLst/>
          </a:prstGeom>
          <a:solidFill>
            <a:srgbClr val="F3EBDD"/>
          </a:solidFill>
          <a:ln>
            <a:noFill/>
          </a:ln>
        </p:spPr>
        <p:txBody>
          <a:bodyPr/>
          <a:lstStyle/>
          <a:p>
            <a:endParaRPr lang="en-US"/>
          </a:p>
        </p:txBody>
      </p:sp>
      <p:sp>
        <p:nvSpPr>
          <p:cNvPr id="12" name="s12"/>
          <p:cNvSpPr/>
          <p:nvPr/>
        </p:nvSpPr>
        <p:spPr>
          <a:xfrm>
            <a:off x="0" y="0"/>
            <a:ext cx="12192000" cy="80000"/>
          </a:xfrm>
          <a:prstGeom prst="rect">
            <a:avLst/>
          </a:prstGeom>
          <a:solidFill>
            <a:srgbClr val="B4553A"/>
          </a:solidFill>
          <a:ln>
            <a:noFill/>
          </a:ln>
        </p:spPr>
        <p:txBody>
          <a:bodyPr/>
          <a:lstStyle/>
          <a:p>
            <a:endParaRPr lang="en-US"/>
          </a:p>
        </p:txBody>
      </p:sp>
      <p:sp>
        <p:nvSpPr>
          <p:cNvPr id="13" name="s13"/>
          <p:cNvSpPr/>
          <p:nvPr/>
        </p:nvSpPr>
        <p:spPr>
          <a:xfrm>
            <a:off x="838200" y="520700"/>
            <a:ext cx="180000" cy="180000"/>
          </a:xfrm>
          <a:prstGeom prst="ellipse">
            <a:avLst/>
          </a:prstGeom>
          <a:solidFill>
            <a:srgbClr val="7A7A4E"/>
          </a:solidFill>
          <a:ln>
            <a:noFill/>
          </a:ln>
        </p:spPr>
        <p:txBody>
          <a:bodyPr/>
          <a:lstStyle/>
          <a:p>
            <a:endParaRPr lang="en-US"/>
          </a:p>
        </p:txBody>
      </p:sp>
      <p:sp>
        <p:nvSpPr>
          <p:cNvPr id="14" name="t14"/>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CAPABILITY COMPARISON</a:t>
            </a:r>
          </a:p>
        </p:txBody>
      </p:sp>
      <p:sp>
        <p:nvSpPr>
          <p:cNvPr id="15" name="t15"/>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What Each Tool Does Best</a:t>
            </a:r>
          </a:p>
        </p:txBody>
      </p:sp>
      <p:sp>
        <p:nvSpPr>
          <p:cNvPr id="16" name="s16"/>
          <p:cNvSpPr/>
          <p:nvPr/>
        </p:nvSpPr>
        <p:spPr>
          <a:xfrm>
            <a:off x="838200" y="1540000"/>
            <a:ext cx="3200000" cy="26000"/>
          </a:xfrm>
          <a:prstGeom prst="rect">
            <a:avLst/>
          </a:prstGeom>
          <a:solidFill>
            <a:srgbClr val="B4553A"/>
          </a:solidFill>
          <a:ln>
            <a:noFill/>
          </a:ln>
        </p:spPr>
        <p:txBody>
          <a:bodyPr/>
          <a:lstStyle/>
          <a:p>
            <a:endParaRPr lang="en-US"/>
          </a:p>
        </p:txBody>
      </p:sp>
      <p:sp>
        <p:nvSpPr>
          <p:cNvPr id="17" name="t17"/>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Four leading assistants, four different centres of gravity — match the tool to the job, not the hype.</a:t>
            </a:r>
          </a:p>
        </p:txBody>
      </p:sp>
      <p:sp>
        <p:nvSpPr>
          <p:cNvPr id="18" name="s18"/>
          <p:cNvSpPr/>
          <p:nvPr/>
        </p:nvSpPr>
        <p:spPr>
          <a:xfrm>
            <a:off x="838200" y="6420000"/>
            <a:ext cx="10515600" cy="12700"/>
          </a:xfrm>
          <a:prstGeom prst="rect">
            <a:avLst/>
          </a:prstGeom>
          <a:solidFill>
            <a:srgbClr val="E0CDB0"/>
          </a:solidFill>
          <a:ln>
            <a:noFill/>
          </a:ln>
        </p:spPr>
        <p:txBody>
          <a:bodyPr/>
          <a:lstStyle/>
          <a:p>
            <a:endParaRPr lang="en-US"/>
          </a:p>
        </p:txBody>
      </p:sp>
      <p:sp>
        <p:nvSpPr>
          <p:cNvPr id="19" name="t19"/>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Choosing the right AI tool  |  verified pricing, August 2026</a:t>
            </a:r>
          </a:p>
        </p:txBody>
      </p:sp>
      <p:sp>
        <p:nvSpPr>
          <p:cNvPr id="20" name="s20"/>
          <p:cNvSpPr/>
          <p:nvPr/>
        </p:nvSpPr>
        <p:spPr>
          <a:xfrm>
            <a:off x="838200" y="2320000"/>
            <a:ext cx="2478900" cy="3580000"/>
          </a:xfrm>
          <a:prstGeom prst="roundRect">
            <a:avLst>
              <a:gd name="adj" fmla="val 6000"/>
            </a:avLst>
          </a:prstGeom>
          <a:solidFill>
            <a:srgbClr val="FBF6EC"/>
          </a:solidFill>
          <a:ln w="12700">
            <a:solidFill>
              <a:srgbClr val="E0CDB0"/>
            </a:solidFill>
          </a:ln>
        </p:spPr>
        <p:txBody>
          <a:bodyPr/>
          <a:lstStyle/>
          <a:p>
            <a:endParaRPr lang="en-US"/>
          </a:p>
        </p:txBody>
      </p:sp>
      <p:sp>
        <p:nvSpPr>
          <p:cNvPr id="21" name="s21"/>
          <p:cNvSpPr/>
          <p:nvPr/>
        </p:nvSpPr>
        <p:spPr>
          <a:xfrm>
            <a:off x="838200" y="2320000"/>
            <a:ext cx="2478900" cy="140000"/>
          </a:xfrm>
          <a:prstGeom prst="roundRect">
            <a:avLst>
              <a:gd name="adj" fmla="val 20000"/>
            </a:avLst>
          </a:prstGeom>
          <a:solidFill>
            <a:srgbClr val="B4553A"/>
          </a:solidFill>
          <a:ln>
            <a:noFill/>
          </a:ln>
        </p:spPr>
        <p:txBody>
          <a:bodyPr/>
          <a:lstStyle/>
          <a:p>
            <a:endParaRPr lang="en-US"/>
          </a:p>
        </p:txBody>
      </p:sp>
      <p:sp>
        <p:nvSpPr>
          <p:cNvPr id="22" name="s22"/>
          <p:cNvSpPr/>
          <p:nvPr/>
        </p:nvSpPr>
        <p:spPr>
          <a:xfrm>
            <a:off x="1118200" y="2620000"/>
            <a:ext cx="420000" cy="420000"/>
          </a:xfrm>
          <a:prstGeom prst="ellipse">
            <a:avLst/>
          </a:prstGeom>
          <a:solidFill>
            <a:srgbClr val="B4553A"/>
          </a:solidFill>
          <a:ln>
            <a:noFill/>
          </a:ln>
        </p:spPr>
        <p:txBody>
          <a:bodyPr/>
          <a:lstStyle/>
          <a:p>
            <a:endParaRPr lang="en-US"/>
          </a:p>
        </p:txBody>
      </p:sp>
      <p:sp>
        <p:nvSpPr>
          <p:cNvPr id="23" name="s23"/>
          <p:cNvSpPr/>
          <p:nvPr/>
        </p:nvSpPr>
        <p:spPr>
          <a:xfrm>
            <a:off x="1235800" y="2737600"/>
            <a:ext cx="184800" cy="184800"/>
          </a:xfrm>
          <a:prstGeom prst="ellipse">
            <a:avLst/>
          </a:prstGeom>
          <a:solidFill>
            <a:srgbClr val="FFFFFF"/>
          </a:solidFill>
          <a:ln>
            <a:noFill/>
          </a:ln>
        </p:spPr>
        <p:txBody>
          <a:bodyPr/>
          <a:lstStyle/>
          <a:p>
            <a:endParaRPr lang="en-US"/>
          </a:p>
        </p:txBody>
      </p:sp>
      <p:sp>
        <p:nvSpPr>
          <p:cNvPr id="24" name="t24"/>
          <p:cNvSpPr txBox="1"/>
          <p:nvPr/>
        </p:nvSpPr>
        <p:spPr>
          <a:xfrm>
            <a:off x="1118200" y="3150000"/>
            <a:ext cx="1918900" cy="40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US" sz="1600" b="1" spc="0" dirty="0">
                <a:solidFill>
                  <a:srgbClr val="2E2A26"/>
                </a:solidFill>
                <a:latin typeface="Segoe UI"/>
                <a:cs typeface="Segoe UI"/>
              </a:rPr>
              <a:t>ChatGPT</a:t>
            </a:r>
          </a:p>
          <a:p>
            <a:pPr algn="l">
              <a:lnSpc>
                <a:spcPct val="100000"/>
              </a:lnSpc>
              <a:spcBef>
                <a:spcPts val="300"/>
              </a:spcBef>
            </a:pPr>
            <a:r>
              <a:rPr lang="en-US" sz="1050" b="1" spc="100" dirty="0">
                <a:solidFill>
                  <a:srgbClr val="B4553A"/>
                </a:solidFill>
                <a:latin typeface="Segoe UI"/>
                <a:cs typeface="Segoe UI"/>
              </a:rPr>
              <a:t>All-round workhorse</a:t>
            </a:r>
          </a:p>
        </p:txBody>
      </p:sp>
      <p:sp>
        <p:nvSpPr>
          <p:cNvPr id="25" name="t25"/>
          <p:cNvSpPr txBox="1"/>
          <p:nvPr/>
        </p:nvSpPr>
        <p:spPr>
          <a:xfrm>
            <a:off x="1118200" y="3770000"/>
            <a:ext cx="1918900" cy="1980000"/>
          </a:xfrm>
          <a:prstGeom prst="rect">
            <a:avLst/>
          </a:prstGeom>
          <a:noFill/>
        </p:spPr>
        <p:txBody>
          <a:bodyPr wrap="square" lIns="0" tIns="0" rIns="0" bIns="0" anchor="t">
            <a:normAutofit/>
          </a:bodyPr>
          <a:lstStyle/>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Broadest ecosystem: custom GPTs, projects, scheduled tasks</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Strong image creation and voice</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Deep research and agentic Codex workflows</a:t>
            </a:r>
          </a:p>
        </p:txBody>
      </p:sp>
      <p:sp>
        <p:nvSpPr>
          <p:cNvPr id="26" name="s26"/>
          <p:cNvSpPr/>
          <p:nvPr/>
        </p:nvSpPr>
        <p:spPr>
          <a:xfrm>
            <a:off x="3517100" y="2320000"/>
            <a:ext cx="2478900" cy="3580000"/>
          </a:xfrm>
          <a:prstGeom prst="roundRect">
            <a:avLst>
              <a:gd name="adj" fmla="val 6000"/>
            </a:avLst>
          </a:prstGeom>
          <a:solidFill>
            <a:srgbClr val="FBF6EC"/>
          </a:solidFill>
          <a:ln w="12700">
            <a:solidFill>
              <a:srgbClr val="E0CDB0"/>
            </a:solidFill>
          </a:ln>
        </p:spPr>
        <p:txBody>
          <a:bodyPr/>
          <a:lstStyle/>
          <a:p>
            <a:endParaRPr lang="en-US"/>
          </a:p>
        </p:txBody>
      </p:sp>
      <p:sp>
        <p:nvSpPr>
          <p:cNvPr id="27" name="s27"/>
          <p:cNvSpPr/>
          <p:nvPr/>
        </p:nvSpPr>
        <p:spPr>
          <a:xfrm>
            <a:off x="3517100" y="2320000"/>
            <a:ext cx="2478900" cy="140000"/>
          </a:xfrm>
          <a:prstGeom prst="roundRect">
            <a:avLst>
              <a:gd name="adj" fmla="val 20000"/>
            </a:avLst>
          </a:prstGeom>
          <a:solidFill>
            <a:srgbClr val="B4553A"/>
          </a:solidFill>
          <a:ln>
            <a:noFill/>
          </a:ln>
        </p:spPr>
        <p:txBody>
          <a:bodyPr/>
          <a:lstStyle/>
          <a:p>
            <a:endParaRPr lang="en-US"/>
          </a:p>
        </p:txBody>
      </p:sp>
      <p:sp>
        <p:nvSpPr>
          <p:cNvPr id="28" name="s28"/>
          <p:cNvSpPr/>
          <p:nvPr/>
        </p:nvSpPr>
        <p:spPr>
          <a:xfrm>
            <a:off x="3797100" y="2620000"/>
            <a:ext cx="420000" cy="420000"/>
          </a:xfrm>
          <a:prstGeom prst="ellipse">
            <a:avLst/>
          </a:prstGeom>
          <a:solidFill>
            <a:srgbClr val="B4553A"/>
          </a:solidFill>
          <a:ln>
            <a:noFill/>
          </a:ln>
        </p:spPr>
        <p:txBody>
          <a:bodyPr/>
          <a:lstStyle/>
          <a:p>
            <a:endParaRPr lang="en-US"/>
          </a:p>
        </p:txBody>
      </p:sp>
      <p:sp>
        <p:nvSpPr>
          <p:cNvPr id="29" name="s29"/>
          <p:cNvSpPr/>
          <p:nvPr/>
        </p:nvSpPr>
        <p:spPr>
          <a:xfrm>
            <a:off x="3914700" y="2737600"/>
            <a:ext cx="184800" cy="184800"/>
          </a:xfrm>
          <a:prstGeom prst="flowChartPreparation">
            <a:avLst/>
          </a:prstGeom>
          <a:solidFill>
            <a:srgbClr val="FFFFFF"/>
          </a:solidFill>
          <a:ln>
            <a:noFill/>
          </a:ln>
        </p:spPr>
        <p:txBody>
          <a:bodyPr/>
          <a:lstStyle/>
          <a:p>
            <a:endParaRPr lang="en-US"/>
          </a:p>
        </p:txBody>
      </p:sp>
      <p:sp>
        <p:nvSpPr>
          <p:cNvPr id="30" name="t30"/>
          <p:cNvSpPr txBox="1"/>
          <p:nvPr/>
        </p:nvSpPr>
        <p:spPr>
          <a:xfrm>
            <a:off x="3797100" y="3150000"/>
            <a:ext cx="1918900" cy="40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US" sz="1600" b="1" spc="0" dirty="0">
                <a:solidFill>
                  <a:srgbClr val="2E2A26"/>
                </a:solidFill>
                <a:latin typeface="Segoe UI"/>
                <a:cs typeface="Segoe UI"/>
              </a:rPr>
              <a:t>Claude</a:t>
            </a:r>
          </a:p>
          <a:p>
            <a:pPr algn="l">
              <a:lnSpc>
                <a:spcPct val="100000"/>
              </a:lnSpc>
              <a:spcBef>
                <a:spcPts val="300"/>
              </a:spcBef>
            </a:pPr>
            <a:r>
              <a:rPr lang="en-US" sz="1050" b="1" spc="100" dirty="0">
                <a:solidFill>
                  <a:srgbClr val="B4553A"/>
                </a:solidFill>
                <a:latin typeface="Segoe UI"/>
                <a:cs typeface="Segoe UI"/>
              </a:rPr>
              <a:t>Reasoning and code</a:t>
            </a:r>
          </a:p>
        </p:txBody>
      </p:sp>
      <p:sp>
        <p:nvSpPr>
          <p:cNvPr id="31" name="t31"/>
          <p:cNvSpPr txBox="1"/>
          <p:nvPr/>
        </p:nvSpPr>
        <p:spPr>
          <a:xfrm>
            <a:off x="3797100" y="3770000"/>
            <a:ext cx="1918900" cy="1980000"/>
          </a:xfrm>
          <a:prstGeom prst="rect">
            <a:avLst/>
          </a:prstGeom>
          <a:noFill/>
        </p:spPr>
        <p:txBody>
          <a:bodyPr wrap="square" lIns="0" tIns="0" rIns="0" bIns="0" anchor="t">
            <a:normAutofit/>
          </a:bodyPr>
          <a:lstStyle/>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Extended thinking for nuanced, long-context analysis</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Claude Code and Cowork for building and delivery</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Strong writing quality and instruction-following</a:t>
            </a:r>
          </a:p>
        </p:txBody>
      </p:sp>
      <p:sp>
        <p:nvSpPr>
          <p:cNvPr id="32" name="s32"/>
          <p:cNvSpPr/>
          <p:nvPr/>
        </p:nvSpPr>
        <p:spPr>
          <a:xfrm>
            <a:off x="6196000" y="2320000"/>
            <a:ext cx="2478900" cy="3580000"/>
          </a:xfrm>
          <a:prstGeom prst="roundRect">
            <a:avLst>
              <a:gd name="adj" fmla="val 6000"/>
            </a:avLst>
          </a:prstGeom>
          <a:solidFill>
            <a:srgbClr val="FBF6EC"/>
          </a:solidFill>
          <a:ln w="12700">
            <a:solidFill>
              <a:srgbClr val="E0CDB0"/>
            </a:solidFill>
          </a:ln>
        </p:spPr>
        <p:txBody>
          <a:bodyPr/>
          <a:lstStyle/>
          <a:p>
            <a:endParaRPr lang="en-US"/>
          </a:p>
        </p:txBody>
      </p:sp>
      <p:sp>
        <p:nvSpPr>
          <p:cNvPr id="33" name="s33"/>
          <p:cNvSpPr/>
          <p:nvPr/>
        </p:nvSpPr>
        <p:spPr>
          <a:xfrm>
            <a:off x="6196000" y="2320000"/>
            <a:ext cx="2478900" cy="140000"/>
          </a:xfrm>
          <a:prstGeom prst="roundRect">
            <a:avLst>
              <a:gd name="adj" fmla="val 20000"/>
            </a:avLst>
          </a:prstGeom>
          <a:solidFill>
            <a:srgbClr val="B4553A"/>
          </a:solidFill>
          <a:ln>
            <a:noFill/>
          </a:ln>
        </p:spPr>
        <p:txBody>
          <a:bodyPr/>
          <a:lstStyle/>
          <a:p>
            <a:endParaRPr lang="en-US"/>
          </a:p>
        </p:txBody>
      </p:sp>
      <p:sp>
        <p:nvSpPr>
          <p:cNvPr id="34" name="s34"/>
          <p:cNvSpPr/>
          <p:nvPr/>
        </p:nvSpPr>
        <p:spPr>
          <a:xfrm>
            <a:off x="6476000" y="2620000"/>
            <a:ext cx="420000" cy="420000"/>
          </a:xfrm>
          <a:prstGeom prst="ellipse">
            <a:avLst/>
          </a:prstGeom>
          <a:solidFill>
            <a:srgbClr val="B4553A"/>
          </a:solidFill>
          <a:ln>
            <a:noFill/>
          </a:ln>
        </p:spPr>
        <p:txBody>
          <a:bodyPr/>
          <a:lstStyle/>
          <a:p>
            <a:endParaRPr lang="en-US"/>
          </a:p>
        </p:txBody>
      </p:sp>
      <p:sp>
        <p:nvSpPr>
          <p:cNvPr id="35" name="s35"/>
          <p:cNvSpPr/>
          <p:nvPr/>
        </p:nvSpPr>
        <p:spPr>
          <a:xfrm>
            <a:off x="6593600" y="2737600"/>
            <a:ext cx="184800" cy="184800"/>
          </a:xfrm>
          <a:prstGeom prst="star5">
            <a:avLst/>
          </a:prstGeom>
          <a:solidFill>
            <a:srgbClr val="FFFFFF"/>
          </a:solidFill>
          <a:ln>
            <a:noFill/>
          </a:ln>
        </p:spPr>
        <p:txBody>
          <a:bodyPr/>
          <a:lstStyle/>
          <a:p>
            <a:endParaRPr lang="en-US"/>
          </a:p>
        </p:txBody>
      </p:sp>
      <p:sp>
        <p:nvSpPr>
          <p:cNvPr id="36" name="t36"/>
          <p:cNvSpPr txBox="1"/>
          <p:nvPr/>
        </p:nvSpPr>
        <p:spPr>
          <a:xfrm>
            <a:off x="6476000" y="3150000"/>
            <a:ext cx="1918900" cy="40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US" sz="1600" b="1" spc="0" dirty="0">
                <a:solidFill>
                  <a:srgbClr val="2E2A26"/>
                </a:solidFill>
                <a:latin typeface="Segoe UI"/>
                <a:cs typeface="Segoe UI"/>
              </a:rPr>
              <a:t>Gemini</a:t>
            </a:r>
          </a:p>
          <a:p>
            <a:pPr algn="l">
              <a:lnSpc>
                <a:spcPct val="100000"/>
              </a:lnSpc>
              <a:spcBef>
                <a:spcPts val="300"/>
              </a:spcBef>
            </a:pPr>
            <a:r>
              <a:rPr lang="en-US" sz="1050" b="1" spc="100" dirty="0">
                <a:solidFill>
                  <a:srgbClr val="B4553A"/>
                </a:solidFill>
                <a:latin typeface="Segoe UI"/>
                <a:cs typeface="Segoe UI"/>
              </a:rPr>
              <a:t>Google-native</a:t>
            </a:r>
          </a:p>
        </p:txBody>
      </p:sp>
      <p:sp>
        <p:nvSpPr>
          <p:cNvPr id="37" name="t37"/>
          <p:cNvSpPr txBox="1"/>
          <p:nvPr/>
        </p:nvSpPr>
        <p:spPr>
          <a:xfrm>
            <a:off x="6476000" y="3770000"/>
            <a:ext cx="1918900" cy="1980000"/>
          </a:xfrm>
          <a:prstGeom prst="rect">
            <a:avLst/>
          </a:prstGeom>
          <a:noFill/>
        </p:spPr>
        <p:txBody>
          <a:bodyPr wrap="square" lIns="0" tIns="0" rIns="0" bIns="0" anchor="t">
            <a:normAutofit/>
          </a:bodyPr>
          <a:lstStyle/>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1M-token context on AI Pro tier</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Built into Gmail, Docs, Drive and Workspace</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Deep Research, Canvas, video generation</a:t>
            </a:r>
          </a:p>
        </p:txBody>
      </p:sp>
      <p:sp>
        <p:nvSpPr>
          <p:cNvPr id="38" name="s38"/>
          <p:cNvSpPr/>
          <p:nvPr/>
        </p:nvSpPr>
        <p:spPr>
          <a:xfrm>
            <a:off x="8874900" y="2320000"/>
            <a:ext cx="2478900" cy="3580000"/>
          </a:xfrm>
          <a:prstGeom prst="roundRect">
            <a:avLst>
              <a:gd name="adj" fmla="val 6000"/>
            </a:avLst>
          </a:prstGeom>
          <a:solidFill>
            <a:srgbClr val="FBF6EC"/>
          </a:solidFill>
          <a:ln w="12700">
            <a:solidFill>
              <a:srgbClr val="E0CDB0"/>
            </a:solidFill>
          </a:ln>
        </p:spPr>
        <p:txBody>
          <a:bodyPr/>
          <a:lstStyle/>
          <a:p>
            <a:endParaRPr lang="en-US"/>
          </a:p>
        </p:txBody>
      </p:sp>
      <p:sp>
        <p:nvSpPr>
          <p:cNvPr id="39" name="s39"/>
          <p:cNvSpPr/>
          <p:nvPr/>
        </p:nvSpPr>
        <p:spPr>
          <a:xfrm>
            <a:off x="8874900" y="2320000"/>
            <a:ext cx="2478900" cy="140000"/>
          </a:xfrm>
          <a:prstGeom prst="roundRect">
            <a:avLst>
              <a:gd name="adj" fmla="val 20000"/>
            </a:avLst>
          </a:prstGeom>
          <a:solidFill>
            <a:srgbClr val="B4553A"/>
          </a:solidFill>
          <a:ln>
            <a:noFill/>
          </a:ln>
        </p:spPr>
        <p:txBody>
          <a:bodyPr/>
          <a:lstStyle/>
          <a:p>
            <a:endParaRPr lang="en-US"/>
          </a:p>
        </p:txBody>
      </p:sp>
      <p:sp>
        <p:nvSpPr>
          <p:cNvPr id="40" name="s40"/>
          <p:cNvSpPr/>
          <p:nvPr/>
        </p:nvSpPr>
        <p:spPr>
          <a:xfrm>
            <a:off x="9154900" y="2620000"/>
            <a:ext cx="420000" cy="420000"/>
          </a:xfrm>
          <a:prstGeom prst="ellipse">
            <a:avLst/>
          </a:prstGeom>
          <a:solidFill>
            <a:srgbClr val="B4553A"/>
          </a:solidFill>
          <a:ln>
            <a:noFill/>
          </a:ln>
        </p:spPr>
        <p:txBody>
          <a:bodyPr/>
          <a:lstStyle/>
          <a:p>
            <a:endParaRPr lang="en-US"/>
          </a:p>
        </p:txBody>
      </p:sp>
      <p:sp>
        <p:nvSpPr>
          <p:cNvPr id="41" name="s41"/>
          <p:cNvSpPr/>
          <p:nvPr/>
        </p:nvSpPr>
        <p:spPr>
          <a:xfrm>
            <a:off x="9272500" y="2737600"/>
            <a:ext cx="184800" cy="184800"/>
          </a:xfrm>
          <a:prstGeom prst="flowChartDocument">
            <a:avLst/>
          </a:prstGeom>
          <a:solidFill>
            <a:srgbClr val="FFFFFF"/>
          </a:solidFill>
          <a:ln>
            <a:noFill/>
          </a:ln>
        </p:spPr>
        <p:txBody>
          <a:bodyPr/>
          <a:lstStyle/>
          <a:p>
            <a:endParaRPr lang="en-US"/>
          </a:p>
        </p:txBody>
      </p:sp>
      <p:sp>
        <p:nvSpPr>
          <p:cNvPr id="42" name="t42"/>
          <p:cNvSpPr txBox="1"/>
          <p:nvPr/>
        </p:nvSpPr>
        <p:spPr>
          <a:xfrm>
            <a:off x="9154900" y="3150000"/>
            <a:ext cx="1918900" cy="40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US" sz="1600" b="1" spc="0" dirty="0">
                <a:solidFill>
                  <a:srgbClr val="2E2A26"/>
                </a:solidFill>
                <a:latin typeface="Segoe UI"/>
                <a:cs typeface="Segoe UI"/>
              </a:rPr>
              <a:t>NotebookLM</a:t>
            </a:r>
          </a:p>
          <a:p>
            <a:pPr algn="l">
              <a:lnSpc>
                <a:spcPct val="100000"/>
              </a:lnSpc>
              <a:spcBef>
                <a:spcPts val="300"/>
              </a:spcBef>
            </a:pPr>
            <a:r>
              <a:rPr lang="en-US" sz="1050" b="1" spc="100" dirty="0">
                <a:solidFill>
                  <a:srgbClr val="B4553A"/>
                </a:solidFill>
                <a:latin typeface="Segoe UI"/>
                <a:cs typeface="Segoe UI"/>
              </a:rPr>
              <a:t>Source-grounded research</a:t>
            </a:r>
          </a:p>
        </p:txBody>
      </p:sp>
      <p:sp>
        <p:nvSpPr>
          <p:cNvPr id="43" name="t43"/>
          <p:cNvSpPr txBox="1"/>
          <p:nvPr/>
        </p:nvSpPr>
        <p:spPr>
          <a:xfrm>
            <a:off x="9154900" y="3770000"/>
            <a:ext cx="1918900" cy="1980000"/>
          </a:xfrm>
          <a:prstGeom prst="rect">
            <a:avLst/>
          </a:prstGeom>
          <a:noFill/>
        </p:spPr>
        <p:txBody>
          <a:bodyPr wrap="square" lIns="0" tIns="0" rIns="0" bIns="0" anchor="t">
            <a:normAutofit/>
          </a:bodyPr>
          <a:lstStyle/>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Answers only from your uploaded sources</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Every claim cites the exact source passage</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Audio Overviews and mind maps from your files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44"/>
          <p:cNvSpPr/>
          <p:nvPr/>
        </p:nvSpPr>
        <p:spPr>
          <a:xfrm>
            <a:off x="0" y="0"/>
            <a:ext cx="12192000" cy="6858000"/>
          </a:xfrm>
          <a:prstGeom prst="rect">
            <a:avLst/>
          </a:prstGeom>
          <a:solidFill>
            <a:srgbClr val="F3EBDD"/>
          </a:solidFill>
          <a:ln>
            <a:noFill/>
          </a:ln>
        </p:spPr>
        <p:txBody>
          <a:bodyPr/>
          <a:lstStyle/>
          <a:p>
            <a:endParaRPr lang="en-US"/>
          </a:p>
        </p:txBody>
      </p:sp>
      <p:sp>
        <p:nvSpPr>
          <p:cNvPr id="45" name="s45"/>
          <p:cNvSpPr/>
          <p:nvPr/>
        </p:nvSpPr>
        <p:spPr>
          <a:xfrm>
            <a:off x="0" y="0"/>
            <a:ext cx="12192000" cy="80000"/>
          </a:xfrm>
          <a:prstGeom prst="rect">
            <a:avLst/>
          </a:prstGeom>
          <a:solidFill>
            <a:srgbClr val="B4553A"/>
          </a:solidFill>
          <a:ln>
            <a:noFill/>
          </a:ln>
        </p:spPr>
        <p:txBody>
          <a:bodyPr/>
          <a:lstStyle/>
          <a:p>
            <a:endParaRPr lang="en-US"/>
          </a:p>
        </p:txBody>
      </p:sp>
      <p:sp>
        <p:nvSpPr>
          <p:cNvPr id="46" name="s46"/>
          <p:cNvSpPr/>
          <p:nvPr/>
        </p:nvSpPr>
        <p:spPr>
          <a:xfrm>
            <a:off x="838200" y="520700"/>
            <a:ext cx="180000" cy="180000"/>
          </a:xfrm>
          <a:prstGeom prst="ellipse">
            <a:avLst/>
          </a:prstGeom>
          <a:solidFill>
            <a:srgbClr val="7A7A4E"/>
          </a:solidFill>
          <a:ln>
            <a:noFill/>
          </a:ln>
        </p:spPr>
        <p:txBody>
          <a:bodyPr/>
          <a:lstStyle/>
          <a:p>
            <a:endParaRPr lang="en-US"/>
          </a:p>
        </p:txBody>
      </p:sp>
      <p:sp>
        <p:nvSpPr>
          <p:cNvPr id="47" name="t47"/>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LIMITATIONS &amp; WATCH-OUTS</a:t>
            </a:r>
          </a:p>
        </p:txBody>
      </p:sp>
      <p:sp>
        <p:nvSpPr>
          <p:cNvPr id="48" name="t48"/>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Where Each Tool Falls Short</a:t>
            </a:r>
          </a:p>
        </p:txBody>
      </p:sp>
      <p:sp>
        <p:nvSpPr>
          <p:cNvPr id="49" name="s49"/>
          <p:cNvSpPr/>
          <p:nvPr/>
        </p:nvSpPr>
        <p:spPr>
          <a:xfrm>
            <a:off x="838200" y="1540000"/>
            <a:ext cx="3200000" cy="26000"/>
          </a:xfrm>
          <a:prstGeom prst="rect">
            <a:avLst/>
          </a:prstGeom>
          <a:solidFill>
            <a:srgbClr val="B4553A"/>
          </a:solidFill>
          <a:ln>
            <a:noFill/>
          </a:ln>
        </p:spPr>
        <p:txBody>
          <a:bodyPr/>
          <a:lstStyle/>
          <a:p>
            <a:endParaRPr lang="en-US"/>
          </a:p>
        </p:txBody>
      </p:sp>
      <p:sp>
        <p:nvSpPr>
          <p:cNvPr id="50" name="t50"/>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Every option has a real trade-off. These are the ones most likely to bite in day-to-day use.</a:t>
            </a:r>
          </a:p>
        </p:txBody>
      </p:sp>
      <p:sp>
        <p:nvSpPr>
          <p:cNvPr id="51" name="s51"/>
          <p:cNvSpPr/>
          <p:nvPr/>
        </p:nvSpPr>
        <p:spPr>
          <a:xfrm>
            <a:off x="838200" y="6420000"/>
            <a:ext cx="10515600" cy="12700"/>
          </a:xfrm>
          <a:prstGeom prst="rect">
            <a:avLst/>
          </a:prstGeom>
          <a:solidFill>
            <a:srgbClr val="E0CDB0"/>
          </a:solidFill>
          <a:ln>
            <a:noFill/>
          </a:ln>
        </p:spPr>
        <p:txBody>
          <a:bodyPr/>
          <a:lstStyle/>
          <a:p>
            <a:endParaRPr lang="en-US"/>
          </a:p>
        </p:txBody>
      </p:sp>
      <p:sp>
        <p:nvSpPr>
          <p:cNvPr id="52" name="t52"/>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Choosing the right AI tool  |  verified pricing, August 2026</a:t>
            </a:r>
          </a:p>
        </p:txBody>
      </p:sp>
      <p:sp>
        <p:nvSpPr>
          <p:cNvPr id="53" name="s53"/>
          <p:cNvSpPr/>
          <p:nvPr/>
        </p:nvSpPr>
        <p:spPr>
          <a:xfrm>
            <a:off x="838200" y="2320000"/>
            <a:ext cx="2478900" cy="3580000"/>
          </a:xfrm>
          <a:prstGeom prst="roundRect">
            <a:avLst>
              <a:gd name="adj" fmla="val 6000"/>
            </a:avLst>
          </a:prstGeom>
          <a:solidFill>
            <a:srgbClr val="FBF6EC"/>
          </a:solidFill>
          <a:ln w="12700">
            <a:solidFill>
              <a:srgbClr val="E0CDB0"/>
            </a:solidFill>
          </a:ln>
        </p:spPr>
        <p:txBody>
          <a:bodyPr/>
          <a:lstStyle/>
          <a:p>
            <a:endParaRPr lang="en-US"/>
          </a:p>
        </p:txBody>
      </p:sp>
      <p:sp>
        <p:nvSpPr>
          <p:cNvPr id="54" name="s54"/>
          <p:cNvSpPr/>
          <p:nvPr/>
        </p:nvSpPr>
        <p:spPr>
          <a:xfrm>
            <a:off x="838200" y="2320000"/>
            <a:ext cx="2478900" cy="140000"/>
          </a:xfrm>
          <a:prstGeom prst="roundRect">
            <a:avLst>
              <a:gd name="adj" fmla="val 20000"/>
            </a:avLst>
          </a:prstGeom>
          <a:solidFill>
            <a:srgbClr val="B4553A"/>
          </a:solidFill>
          <a:ln>
            <a:noFill/>
          </a:ln>
        </p:spPr>
        <p:txBody>
          <a:bodyPr/>
          <a:lstStyle/>
          <a:p>
            <a:endParaRPr lang="en-US"/>
          </a:p>
        </p:txBody>
      </p:sp>
      <p:sp>
        <p:nvSpPr>
          <p:cNvPr id="55" name="s55"/>
          <p:cNvSpPr/>
          <p:nvPr/>
        </p:nvSpPr>
        <p:spPr>
          <a:xfrm>
            <a:off x="1118200" y="2620000"/>
            <a:ext cx="420000" cy="420000"/>
          </a:xfrm>
          <a:prstGeom prst="ellipse">
            <a:avLst/>
          </a:prstGeom>
          <a:solidFill>
            <a:srgbClr val="B4553A"/>
          </a:solidFill>
          <a:ln>
            <a:noFill/>
          </a:ln>
        </p:spPr>
        <p:txBody>
          <a:bodyPr/>
          <a:lstStyle/>
          <a:p>
            <a:endParaRPr lang="en-US"/>
          </a:p>
        </p:txBody>
      </p:sp>
      <p:sp>
        <p:nvSpPr>
          <p:cNvPr id="56" name="s56"/>
          <p:cNvSpPr/>
          <p:nvPr/>
        </p:nvSpPr>
        <p:spPr>
          <a:xfrm>
            <a:off x="1235800" y="2737600"/>
            <a:ext cx="184800" cy="184800"/>
          </a:xfrm>
          <a:prstGeom prst="ellipse">
            <a:avLst/>
          </a:prstGeom>
          <a:solidFill>
            <a:srgbClr val="FFFFFF"/>
          </a:solidFill>
          <a:ln>
            <a:noFill/>
          </a:ln>
        </p:spPr>
        <p:txBody>
          <a:bodyPr/>
          <a:lstStyle/>
          <a:p>
            <a:endParaRPr lang="en-US"/>
          </a:p>
        </p:txBody>
      </p:sp>
      <p:sp>
        <p:nvSpPr>
          <p:cNvPr id="57" name="t57"/>
          <p:cNvSpPr txBox="1"/>
          <p:nvPr/>
        </p:nvSpPr>
        <p:spPr>
          <a:xfrm>
            <a:off x="1118200" y="3150000"/>
            <a:ext cx="1918900" cy="40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US" sz="1600" b="1" spc="0" dirty="0">
                <a:solidFill>
                  <a:srgbClr val="2E2A26"/>
                </a:solidFill>
                <a:latin typeface="Segoe UI"/>
                <a:cs typeface="Segoe UI"/>
              </a:rPr>
              <a:t>ChatGPT</a:t>
            </a:r>
          </a:p>
          <a:p>
            <a:pPr algn="l">
              <a:lnSpc>
                <a:spcPct val="100000"/>
              </a:lnSpc>
              <a:spcBef>
                <a:spcPts val="300"/>
              </a:spcBef>
            </a:pPr>
            <a:r>
              <a:rPr lang="en-US" sz="1050" b="1" spc="100" dirty="0">
                <a:solidFill>
                  <a:srgbClr val="B4553A"/>
                </a:solidFill>
                <a:latin typeface="Segoe UI"/>
                <a:cs typeface="Segoe UI"/>
              </a:rPr>
              <a:t>Cost and opacity</a:t>
            </a:r>
          </a:p>
        </p:txBody>
      </p:sp>
      <p:sp>
        <p:nvSpPr>
          <p:cNvPr id="58" name="t58"/>
          <p:cNvSpPr txBox="1"/>
          <p:nvPr/>
        </p:nvSpPr>
        <p:spPr>
          <a:xfrm>
            <a:off x="1118200" y="3770000"/>
            <a:ext cx="1918900" cy="1980000"/>
          </a:xfrm>
          <a:prstGeom prst="rect">
            <a:avLst/>
          </a:prstGeom>
          <a:noFill/>
        </p:spPr>
        <p:txBody>
          <a:bodyPr wrap="square" lIns="0" tIns="0" rIns="0" bIns="0" anchor="t">
            <a:normAutofit/>
          </a:bodyPr>
          <a:lstStyle/>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Model routing is not shown by default — you may get a smaller model</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Top tiers reach $200/month</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Lower tiers add ads and tighter limits</a:t>
            </a:r>
          </a:p>
        </p:txBody>
      </p:sp>
      <p:sp>
        <p:nvSpPr>
          <p:cNvPr id="59" name="s59"/>
          <p:cNvSpPr/>
          <p:nvPr/>
        </p:nvSpPr>
        <p:spPr>
          <a:xfrm>
            <a:off x="3517100" y="2320000"/>
            <a:ext cx="2478900" cy="3580000"/>
          </a:xfrm>
          <a:prstGeom prst="roundRect">
            <a:avLst>
              <a:gd name="adj" fmla="val 6000"/>
            </a:avLst>
          </a:prstGeom>
          <a:solidFill>
            <a:srgbClr val="FBF6EC"/>
          </a:solidFill>
          <a:ln w="12700">
            <a:solidFill>
              <a:srgbClr val="E0CDB0"/>
            </a:solidFill>
          </a:ln>
        </p:spPr>
        <p:txBody>
          <a:bodyPr/>
          <a:lstStyle/>
          <a:p>
            <a:endParaRPr lang="en-US"/>
          </a:p>
        </p:txBody>
      </p:sp>
      <p:sp>
        <p:nvSpPr>
          <p:cNvPr id="60" name="s60"/>
          <p:cNvSpPr/>
          <p:nvPr/>
        </p:nvSpPr>
        <p:spPr>
          <a:xfrm>
            <a:off x="3517100" y="2320000"/>
            <a:ext cx="2478900" cy="140000"/>
          </a:xfrm>
          <a:prstGeom prst="roundRect">
            <a:avLst>
              <a:gd name="adj" fmla="val 20000"/>
            </a:avLst>
          </a:prstGeom>
          <a:solidFill>
            <a:srgbClr val="B4553A"/>
          </a:solidFill>
          <a:ln>
            <a:noFill/>
          </a:ln>
        </p:spPr>
        <p:txBody>
          <a:bodyPr/>
          <a:lstStyle/>
          <a:p>
            <a:endParaRPr lang="en-US"/>
          </a:p>
        </p:txBody>
      </p:sp>
      <p:sp>
        <p:nvSpPr>
          <p:cNvPr id="61" name="s61"/>
          <p:cNvSpPr/>
          <p:nvPr/>
        </p:nvSpPr>
        <p:spPr>
          <a:xfrm>
            <a:off x="3797100" y="2620000"/>
            <a:ext cx="420000" cy="420000"/>
          </a:xfrm>
          <a:prstGeom prst="ellipse">
            <a:avLst/>
          </a:prstGeom>
          <a:solidFill>
            <a:srgbClr val="B4553A"/>
          </a:solidFill>
          <a:ln>
            <a:noFill/>
          </a:ln>
        </p:spPr>
        <p:txBody>
          <a:bodyPr/>
          <a:lstStyle/>
          <a:p>
            <a:endParaRPr lang="en-US"/>
          </a:p>
        </p:txBody>
      </p:sp>
      <p:sp>
        <p:nvSpPr>
          <p:cNvPr id="62" name="s62"/>
          <p:cNvSpPr/>
          <p:nvPr/>
        </p:nvSpPr>
        <p:spPr>
          <a:xfrm>
            <a:off x="3914700" y="2737600"/>
            <a:ext cx="184800" cy="184800"/>
          </a:xfrm>
          <a:prstGeom prst="flowChartPreparation">
            <a:avLst/>
          </a:prstGeom>
          <a:solidFill>
            <a:srgbClr val="FFFFFF"/>
          </a:solidFill>
          <a:ln>
            <a:noFill/>
          </a:ln>
        </p:spPr>
        <p:txBody>
          <a:bodyPr/>
          <a:lstStyle/>
          <a:p>
            <a:endParaRPr lang="en-US"/>
          </a:p>
        </p:txBody>
      </p:sp>
      <p:sp>
        <p:nvSpPr>
          <p:cNvPr id="63" name="t63"/>
          <p:cNvSpPr txBox="1"/>
          <p:nvPr/>
        </p:nvSpPr>
        <p:spPr>
          <a:xfrm>
            <a:off x="3797100" y="3150000"/>
            <a:ext cx="1918900" cy="40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US" sz="1600" b="1" spc="0" dirty="0">
                <a:solidFill>
                  <a:srgbClr val="2E2A26"/>
                </a:solidFill>
                <a:latin typeface="Segoe UI"/>
                <a:cs typeface="Segoe UI"/>
              </a:rPr>
              <a:t>Claude</a:t>
            </a:r>
          </a:p>
          <a:p>
            <a:pPr algn="l">
              <a:lnSpc>
                <a:spcPct val="100000"/>
              </a:lnSpc>
              <a:spcBef>
                <a:spcPts val="300"/>
              </a:spcBef>
            </a:pPr>
            <a:r>
              <a:rPr lang="en-US" sz="1050" b="1" spc="100" dirty="0">
                <a:solidFill>
                  <a:srgbClr val="B4553A"/>
                </a:solidFill>
                <a:latin typeface="Segoe UI"/>
                <a:cs typeface="Segoe UI"/>
              </a:rPr>
              <a:t>Narrower ecosystem</a:t>
            </a:r>
          </a:p>
        </p:txBody>
      </p:sp>
      <p:sp>
        <p:nvSpPr>
          <p:cNvPr id="64" name="t64"/>
          <p:cNvSpPr txBox="1"/>
          <p:nvPr/>
        </p:nvSpPr>
        <p:spPr>
          <a:xfrm>
            <a:off x="3797100" y="3770000"/>
            <a:ext cx="1918900" cy="1980000"/>
          </a:xfrm>
          <a:prstGeom prst="rect">
            <a:avLst/>
          </a:prstGeom>
          <a:noFill/>
        </p:spPr>
        <p:txBody>
          <a:bodyPr wrap="square" lIns="0" tIns="0" rIns="0" bIns="0" anchor="t">
            <a:normAutofit/>
          </a:bodyPr>
          <a:lstStyle/>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Smaller consumer ecosystem and fewer native integrations</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Usage caps bite fast on Pro for heavy work</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No image generation to match rivals</a:t>
            </a:r>
          </a:p>
        </p:txBody>
      </p:sp>
      <p:sp>
        <p:nvSpPr>
          <p:cNvPr id="65" name="s65"/>
          <p:cNvSpPr/>
          <p:nvPr/>
        </p:nvSpPr>
        <p:spPr>
          <a:xfrm>
            <a:off x="6196000" y="2320000"/>
            <a:ext cx="2478900" cy="3580000"/>
          </a:xfrm>
          <a:prstGeom prst="roundRect">
            <a:avLst>
              <a:gd name="adj" fmla="val 6000"/>
            </a:avLst>
          </a:prstGeom>
          <a:solidFill>
            <a:srgbClr val="FBF6EC"/>
          </a:solidFill>
          <a:ln w="12700">
            <a:solidFill>
              <a:srgbClr val="E0CDB0"/>
            </a:solidFill>
          </a:ln>
        </p:spPr>
        <p:txBody>
          <a:bodyPr/>
          <a:lstStyle/>
          <a:p>
            <a:endParaRPr lang="en-US"/>
          </a:p>
        </p:txBody>
      </p:sp>
      <p:sp>
        <p:nvSpPr>
          <p:cNvPr id="66" name="s66"/>
          <p:cNvSpPr/>
          <p:nvPr/>
        </p:nvSpPr>
        <p:spPr>
          <a:xfrm>
            <a:off x="6196000" y="2320000"/>
            <a:ext cx="2478900" cy="140000"/>
          </a:xfrm>
          <a:prstGeom prst="roundRect">
            <a:avLst>
              <a:gd name="adj" fmla="val 20000"/>
            </a:avLst>
          </a:prstGeom>
          <a:solidFill>
            <a:srgbClr val="B4553A"/>
          </a:solidFill>
          <a:ln>
            <a:noFill/>
          </a:ln>
        </p:spPr>
        <p:txBody>
          <a:bodyPr/>
          <a:lstStyle/>
          <a:p>
            <a:endParaRPr lang="en-US"/>
          </a:p>
        </p:txBody>
      </p:sp>
      <p:sp>
        <p:nvSpPr>
          <p:cNvPr id="67" name="s67"/>
          <p:cNvSpPr/>
          <p:nvPr/>
        </p:nvSpPr>
        <p:spPr>
          <a:xfrm>
            <a:off x="6476000" y="2620000"/>
            <a:ext cx="420000" cy="420000"/>
          </a:xfrm>
          <a:prstGeom prst="ellipse">
            <a:avLst/>
          </a:prstGeom>
          <a:solidFill>
            <a:srgbClr val="B4553A"/>
          </a:solidFill>
          <a:ln>
            <a:noFill/>
          </a:ln>
        </p:spPr>
        <p:txBody>
          <a:bodyPr/>
          <a:lstStyle/>
          <a:p>
            <a:endParaRPr lang="en-US"/>
          </a:p>
        </p:txBody>
      </p:sp>
      <p:sp>
        <p:nvSpPr>
          <p:cNvPr id="68" name="s68"/>
          <p:cNvSpPr/>
          <p:nvPr/>
        </p:nvSpPr>
        <p:spPr>
          <a:xfrm>
            <a:off x="6593600" y="2737600"/>
            <a:ext cx="184800" cy="184800"/>
          </a:xfrm>
          <a:prstGeom prst="star5">
            <a:avLst/>
          </a:prstGeom>
          <a:solidFill>
            <a:srgbClr val="FFFFFF"/>
          </a:solidFill>
          <a:ln>
            <a:noFill/>
          </a:ln>
        </p:spPr>
        <p:txBody>
          <a:bodyPr/>
          <a:lstStyle/>
          <a:p>
            <a:endParaRPr lang="en-US"/>
          </a:p>
        </p:txBody>
      </p:sp>
      <p:sp>
        <p:nvSpPr>
          <p:cNvPr id="69" name="t69"/>
          <p:cNvSpPr txBox="1"/>
          <p:nvPr/>
        </p:nvSpPr>
        <p:spPr>
          <a:xfrm>
            <a:off x="6476000" y="3150000"/>
            <a:ext cx="1918900" cy="40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US" sz="1600" b="1" spc="0" dirty="0">
                <a:solidFill>
                  <a:srgbClr val="2E2A26"/>
                </a:solidFill>
                <a:latin typeface="Segoe UI"/>
                <a:cs typeface="Segoe UI"/>
              </a:rPr>
              <a:t>Gemini</a:t>
            </a:r>
          </a:p>
          <a:p>
            <a:pPr algn="l">
              <a:lnSpc>
                <a:spcPct val="100000"/>
              </a:lnSpc>
              <a:spcBef>
                <a:spcPts val="300"/>
              </a:spcBef>
            </a:pPr>
            <a:r>
              <a:rPr lang="en-US" sz="1050" b="1" spc="100" dirty="0">
                <a:solidFill>
                  <a:srgbClr val="B4553A"/>
                </a:solidFill>
                <a:latin typeface="Segoe UI"/>
                <a:cs typeface="Segoe UI"/>
              </a:rPr>
              <a:t>Unpredictable limits</a:t>
            </a:r>
          </a:p>
        </p:txBody>
      </p:sp>
      <p:sp>
        <p:nvSpPr>
          <p:cNvPr id="70" name="t70"/>
          <p:cNvSpPr txBox="1"/>
          <p:nvPr/>
        </p:nvSpPr>
        <p:spPr>
          <a:xfrm>
            <a:off x="6476000" y="3770000"/>
            <a:ext cx="1918900" cy="1980000"/>
          </a:xfrm>
          <a:prstGeom prst="rect">
            <a:avLst/>
          </a:prstGeom>
          <a:noFill/>
        </p:spPr>
        <p:txBody>
          <a:bodyPr wrap="square" lIns="0" tIns="0" rIns="0" bIns="0" anchor="t">
            <a:normAutofit/>
          </a:bodyPr>
          <a:lstStyle/>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Compute-based limits are hard to predict or budget</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Quality varies across surfaces and features</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Value is tied to buying into Google's stack</a:t>
            </a:r>
          </a:p>
        </p:txBody>
      </p:sp>
      <p:sp>
        <p:nvSpPr>
          <p:cNvPr id="71" name="s71"/>
          <p:cNvSpPr/>
          <p:nvPr/>
        </p:nvSpPr>
        <p:spPr>
          <a:xfrm>
            <a:off x="8874900" y="2320000"/>
            <a:ext cx="2478900" cy="3580000"/>
          </a:xfrm>
          <a:prstGeom prst="roundRect">
            <a:avLst>
              <a:gd name="adj" fmla="val 6000"/>
            </a:avLst>
          </a:prstGeom>
          <a:solidFill>
            <a:srgbClr val="FBF6EC"/>
          </a:solidFill>
          <a:ln w="12700">
            <a:solidFill>
              <a:srgbClr val="E0CDB0"/>
            </a:solidFill>
          </a:ln>
        </p:spPr>
        <p:txBody>
          <a:bodyPr/>
          <a:lstStyle/>
          <a:p>
            <a:endParaRPr lang="en-US"/>
          </a:p>
        </p:txBody>
      </p:sp>
      <p:sp>
        <p:nvSpPr>
          <p:cNvPr id="72" name="s72"/>
          <p:cNvSpPr/>
          <p:nvPr/>
        </p:nvSpPr>
        <p:spPr>
          <a:xfrm>
            <a:off x="8874900" y="2320000"/>
            <a:ext cx="2478900" cy="140000"/>
          </a:xfrm>
          <a:prstGeom prst="roundRect">
            <a:avLst>
              <a:gd name="adj" fmla="val 20000"/>
            </a:avLst>
          </a:prstGeom>
          <a:solidFill>
            <a:srgbClr val="B4553A"/>
          </a:solidFill>
          <a:ln>
            <a:noFill/>
          </a:ln>
        </p:spPr>
        <p:txBody>
          <a:bodyPr/>
          <a:lstStyle/>
          <a:p>
            <a:endParaRPr lang="en-US"/>
          </a:p>
        </p:txBody>
      </p:sp>
      <p:sp>
        <p:nvSpPr>
          <p:cNvPr id="73" name="s73"/>
          <p:cNvSpPr/>
          <p:nvPr/>
        </p:nvSpPr>
        <p:spPr>
          <a:xfrm>
            <a:off x="9154900" y="2620000"/>
            <a:ext cx="420000" cy="420000"/>
          </a:xfrm>
          <a:prstGeom prst="ellipse">
            <a:avLst/>
          </a:prstGeom>
          <a:solidFill>
            <a:srgbClr val="B4553A"/>
          </a:solidFill>
          <a:ln>
            <a:noFill/>
          </a:ln>
        </p:spPr>
        <p:txBody>
          <a:bodyPr/>
          <a:lstStyle/>
          <a:p>
            <a:endParaRPr lang="en-US"/>
          </a:p>
        </p:txBody>
      </p:sp>
      <p:sp>
        <p:nvSpPr>
          <p:cNvPr id="74" name="s74"/>
          <p:cNvSpPr/>
          <p:nvPr/>
        </p:nvSpPr>
        <p:spPr>
          <a:xfrm>
            <a:off x="9272500" y="2737600"/>
            <a:ext cx="184800" cy="184800"/>
          </a:xfrm>
          <a:prstGeom prst="flowChartDocument">
            <a:avLst/>
          </a:prstGeom>
          <a:solidFill>
            <a:srgbClr val="FFFFFF"/>
          </a:solidFill>
          <a:ln>
            <a:noFill/>
          </a:ln>
        </p:spPr>
        <p:txBody>
          <a:bodyPr/>
          <a:lstStyle/>
          <a:p>
            <a:endParaRPr lang="en-US"/>
          </a:p>
        </p:txBody>
      </p:sp>
      <p:sp>
        <p:nvSpPr>
          <p:cNvPr id="75" name="t75"/>
          <p:cNvSpPr txBox="1"/>
          <p:nvPr/>
        </p:nvSpPr>
        <p:spPr>
          <a:xfrm>
            <a:off x="9154900" y="3150000"/>
            <a:ext cx="1918900" cy="40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US" sz="1600" b="1" spc="0" dirty="0">
                <a:solidFill>
                  <a:srgbClr val="2E2A26"/>
                </a:solidFill>
                <a:latin typeface="Segoe UI"/>
                <a:cs typeface="Segoe UI"/>
              </a:rPr>
              <a:t>NotebookLM</a:t>
            </a:r>
          </a:p>
          <a:p>
            <a:pPr algn="l">
              <a:lnSpc>
                <a:spcPct val="100000"/>
              </a:lnSpc>
              <a:spcBef>
                <a:spcPts val="300"/>
              </a:spcBef>
            </a:pPr>
            <a:r>
              <a:rPr lang="en-US" sz="1050" b="1" spc="100" dirty="0">
                <a:solidFill>
                  <a:srgbClr val="B4553A"/>
                </a:solidFill>
                <a:latin typeface="Segoe UI"/>
                <a:cs typeface="Segoe UI"/>
              </a:rPr>
              <a:t>Narrow by design</a:t>
            </a:r>
          </a:p>
        </p:txBody>
      </p:sp>
      <p:sp>
        <p:nvSpPr>
          <p:cNvPr id="76" name="t76"/>
          <p:cNvSpPr txBox="1"/>
          <p:nvPr/>
        </p:nvSpPr>
        <p:spPr>
          <a:xfrm>
            <a:off x="9154900" y="3770000"/>
            <a:ext cx="1918900" cy="1980000"/>
          </a:xfrm>
          <a:prstGeom prst="rect">
            <a:avLst/>
          </a:prstGeom>
          <a:noFill/>
        </p:spPr>
        <p:txBody>
          <a:bodyPr wrap="square" lIns="0" tIns="0" rIns="0" bIns="0" anchor="t">
            <a:normAutofit/>
          </a:bodyPr>
          <a:lstStyle/>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Cannot answer beyond your uploaded sources</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No live web search or real-time information</a:t>
            </a:r>
          </a:p>
          <a:p>
            <a:pPr algn="l">
              <a:lnSpc>
                <a:spcPct val="115000"/>
              </a:lnSpc>
              <a:spcBef>
                <a:spcPts val="600"/>
              </a:spcBef>
            </a:pPr>
            <a:r>
              <a:rPr lang="en-US" sz="1100" b="1" spc="0" dirty="0">
                <a:solidFill>
                  <a:srgbClr val="B4553A"/>
                </a:solidFill>
                <a:latin typeface="Segoe UI"/>
                <a:cs typeface="Segoe UI"/>
              </a:rPr>
              <a:t>— </a:t>
            </a:r>
            <a:r>
              <a:rPr lang="en-US" sz="1100" b="0" spc="0" dirty="0">
                <a:solidFill>
                  <a:srgbClr val="4A423A"/>
                </a:solidFill>
                <a:latin typeface="Segoe UI"/>
                <a:cs typeface="Segoe UI"/>
              </a:rPr>
              <a:t>Source size and daily query limits apply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s77"/>
          <p:cNvSpPr/>
          <p:nvPr/>
        </p:nvSpPr>
        <p:spPr>
          <a:xfrm>
            <a:off x="0" y="0"/>
            <a:ext cx="12192000" cy="6858000"/>
          </a:xfrm>
          <a:prstGeom prst="rect">
            <a:avLst/>
          </a:prstGeom>
          <a:solidFill>
            <a:srgbClr val="F3EBDD"/>
          </a:solidFill>
          <a:ln>
            <a:noFill/>
          </a:ln>
        </p:spPr>
        <p:txBody>
          <a:bodyPr/>
          <a:lstStyle/>
          <a:p>
            <a:endParaRPr lang="en-US"/>
          </a:p>
        </p:txBody>
      </p:sp>
      <p:sp>
        <p:nvSpPr>
          <p:cNvPr id="78" name="s78"/>
          <p:cNvSpPr/>
          <p:nvPr/>
        </p:nvSpPr>
        <p:spPr>
          <a:xfrm>
            <a:off x="0" y="0"/>
            <a:ext cx="12192000" cy="80000"/>
          </a:xfrm>
          <a:prstGeom prst="rect">
            <a:avLst/>
          </a:prstGeom>
          <a:solidFill>
            <a:srgbClr val="B4553A"/>
          </a:solidFill>
          <a:ln>
            <a:noFill/>
          </a:ln>
        </p:spPr>
        <p:txBody>
          <a:bodyPr/>
          <a:lstStyle/>
          <a:p>
            <a:endParaRPr lang="en-US"/>
          </a:p>
        </p:txBody>
      </p:sp>
      <p:sp>
        <p:nvSpPr>
          <p:cNvPr id="79" name="s79"/>
          <p:cNvSpPr/>
          <p:nvPr/>
        </p:nvSpPr>
        <p:spPr>
          <a:xfrm>
            <a:off x="838200" y="520700"/>
            <a:ext cx="180000" cy="180000"/>
          </a:xfrm>
          <a:prstGeom prst="ellipse">
            <a:avLst/>
          </a:prstGeom>
          <a:solidFill>
            <a:srgbClr val="7A7A4E"/>
          </a:solidFill>
          <a:ln>
            <a:noFill/>
          </a:ln>
        </p:spPr>
        <p:txBody>
          <a:bodyPr/>
          <a:lstStyle/>
          <a:p>
            <a:endParaRPr lang="en-US"/>
          </a:p>
        </p:txBody>
      </p:sp>
      <p:sp>
        <p:nvSpPr>
          <p:cNvPr id="80" name="t80"/>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PRICING AT A GLANCE</a:t>
            </a:r>
          </a:p>
        </p:txBody>
      </p:sp>
      <p:sp>
        <p:nvSpPr>
          <p:cNvPr id="81" name="t81"/>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What It Actually Costs</a:t>
            </a:r>
          </a:p>
        </p:txBody>
      </p:sp>
      <p:sp>
        <p:nvSpPr>
          <p:cNvPr id="82" name="s82"/>
          <p:cNvSpPr/>
          <p:nvPr/>
        </p:nvSpPr>
        <p:spPr>
          <a:xfrm>
            <a:off x="838200" y="1540000"/>
            <a:ext cx="3200000" cy="26000"/>
          </a:xfrm>
          <a:prstGeom prst="rect">
            <a:avLst/>
          </a:prstGeom>
          <a:solidFill>
            <a:srgbClr val="B4553A"/>
          </a:solidFill>
          <a:ln>
            <a:noFill/>
          </a:ln>
        </p:spPr>
        <p:txBody>
          <a:bodyPr/>
          <a:lstStyle/>
          <a:p>
            <a:endParaRPr lang="en-US"/>
          </a:p>
        </p:txBody>
      </p:sp>
      <p:sp>
        <p:nvSpPr>
          <p:cNvPr id="83" name="t83"/>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Published list prices as of August 2026. Business tiers are per seat; annual billing is usually cheaper.</a:t>
            </a:r>
          </a:p>
        </p:txBody>
      </p:sp>
      <p:sp>
        <p:nvSpPr>
          <p:cNvPr id="84" name="s84"/>
          <p:cNvSpPr/>
          <p:nvPr/>
        </p:nvSpPr>
        <p:spPr>
          <a:xfrm>
            <a:off x="838200" y="6420000"/>
            <a:ext cx="10515600" cy="12700"/>
          </a:xfrm>
          <a:prstGeom prst="rect">
            <a:avLst/>
          </a:prstGeom>
          <a:solidFill>
            <a:srgbClr val="E0CDB0"/>
          </a:solidFill>
          <a:ln>
            <a:noFill/>
          </a:ln>
        </p:spPr>
        <p:txBody>
          <a:bodyPr/>
          <a:lstStyle/>
          <a:p>
            <a:endParaRPr lang="en-US"/>
          </a:p>
        </p:txBody>
      </p:sp>
      <p:sp>
        <p:nvSpPr>
          <p:cNvPr id="85" name="t85"/>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Choosing the right AI tool  |  verified pricing, August 2026</a:t>
            </a:r>
          </a:p>
        </p:txBody>
      </p:sp>
      <p:sp>
        <p:nvSpPr>
          <p:cNvPr id="86" name="s86"/>
          <p:cNvSpPr/>
          <p:nvPr/>
        </p:nvSpPr>
        <p:spPr>
          <a:xfrm>
            <a:off x="838200" y="2360000"/>
            <a:ext cx="10515600" cy="420000"/>
          </a:xfrm>
          <a:prstGeom prst="roundRect">
            <a:avLst>
              <a:gd name="adj" fmla="val 18000"/>
            </a:avLst>
          </a:prstGeom>
          <a:solidFill>
            <a:srgbClr val="B4553A"/>
          </a:solidFill>
          <a:ln>
            <a:noFill/>
          </a:ln>
        </p:spPr>
        <p:txBody>
          <a:bodyPr/>
          <a:lstStyle/>
          <a:p>
            <a:endParaRPr lang="en-US"/>
          </a:p>
        </p:txBody>
      </p:sp>
      <p:sp>
        <p:nvSpPr>
          <p:cNvPr id="87" name="t87"/>
          <p:cNvSpPr txBox="1"/>
          <p:nvPr/>
        </p:nvSpPr>
        <p:spPr>
          <a:xfrm>
            <a:off x="1018200" y="2420000"/>
            <a:ext cx="1340000" cy="300000"/>
          </a:xfrm>
          <a:prstGeom prst="rect">
            <a:avLst/>
          </a:prstGeom>
          <a:noFill/>
        </p:spPr>
        <p:txBody>
          <a:bodyPr wrap="square" lIns="0" tIns="0" rIns="0" bIns="0" anchor="ctr">
            <a:normAutofit/>
          </a:bodyPr>
          <a:lstStyle/>
          <a:p>
            <a:pPr algn="l">
              <a:lnSpc>
                <a:spcPct val="100000"/>
              </a:lnSpc>
              <a:spcBef>
                <a:spcPts val="0"/>
              </a:spcBef>
            </a:pPr>
            <a:r>
              <a:rPr lang="en-US" sz="1100" b="1" spc="200" dirty="0">
                <a:solidFill>
                  <a:srgbClr val="FBF6EC"/>
                </a:solidFill>
                <a:latin typeface="Segoe UI"/>
                <a:cs typeface="Segoe UI"/>
              </a:rPr>
              <a:t>Tool</a:t>
            </a:r>
          </a:p>
        </p:txBody>
      </p:sp>
      <p:sp>
        <p:nvSpPr>
          <p:cNvPr id="88" name="t88"/>
          <p:cNvSpPr txBox="1"/>
          <p:nvPr/>
        </p:nvSpPr>
        <p:spPr>
          <a:xfrm>
            <a:off x="2618200" y="2420000"/>
            <a:ext cx="640000" cy="300000"/>
          </a:xfrm>
          <a:prstGeom prst="rect">
            <a:avLst/>
          </a:prstGeom>
          <a:noFill/>
        </p:spPr>
        <p:txBody>
          <a:bodyPr wrap="square" lIns="0" tIns="0" rIns="0" bIns="0" anchor="ctr">
            <a:normAutofit/>
          </a:bodyPr>
          <a:lstStyle/>
          <a:p>
            <a:pPr algn="l">
              <a:lnSpc>
                <a:spcPct val="100000"/>
              </a:lnSpc>
              <a:spcBef>
                <a:spcPts val="0"/>
              </a:spcBef>
            </a:pPr>
            <a:r>
              <a:rPr lang="en-US" sz="1100" b="1" spc="200" dirty="0">
                <a:solidFill>
                  <a:srgbClr val="FBF6EC"/>
                </a:solidFill>
                <a:latin typeface="Segoe UI"/>
                <a:cs typeface="Segoe UI"/>
              </a:rPr>
              <a:t>Free</a:t>
            </a:r>
          </a:p>
        </p:txBody>
      </p:sp>
      <p:sp>
        <p:nvSpPr>
          <p:cNvPr id="89" name="t89"/>
          <p:cNvSpPr txBox="1"/>
          <p:nvPr/>
        </p:nvSpPr>
        <p:spPr>
          <a:xfrm>
            <a:off x="3518200" y="2420000"/>
            <a:ext cx="2790000" cy="300000"/>
          </a:xfrm>
          <a:prstGeom prst="rect">
            <a:avLst/>
          </a:prstGeom>
          <a:noFill/>
        </p:spPr>
        <p:txBody>
          <a:bodyPr wrap="square" lIns="0" tIns="0" rIns="0" bIns="0" anchor="ctr">
            <a:normAutofit/>
          </a:bodyPr>
          <a:lstStyle/>
          <a:p>
            <a:pPr algn="l">
              <a:lnSpc>
                <a:spcPct val="100000"/>
              </a:lnSpc>
              <a:spcBef>
                <a:spcPts val="0"/>
              </a:spcBef>
            </a:pPr>
            <a:r>
              <a:rPr lang="en-US" sz="1100" b="1" spc="200" dirty="0">
                <a:solidFill>
                  <a:srgbClr val="FBF6EC"/>
                </a:solidFill>
                <a:latin typeface="Segoe UI"/>
                <a:cs typeface="Segoe UI"/>
              </a:rPr>
              <a:t>Entry / standard</a:t>
            </a:r>
          </a:p>
        </p:txBody>
      </p:sp>
      <p:sp>
        <p:nvSpPr>
          <p:cNvPr id="90" name="t90"/>
          <p:cNvSpPr txBox="1"/>
          <p:nvPr/>
        </p:nvSpPr>
        <p:spPr>
          <a:xfrm>
            <a:off x="6568200" y="2420000"/>
            <a:ext cx="1940000" cy="300000"/>
          </a:xfrm>
          <a:prstGeom prst="rect">
            <a:avLst/>
          </a:prstGeom>
          <a:noFill/>
        </p:spPr>
        <p:txBody>
          <a:bodyPr wrap="square" lIns="0" tIns="0" rIns="0" bIns="0" anchor="ctr">
            <a:normAutofit/>
          </a:bodyPr>
          <a:lstStyle/>
          <a:p>
            <a:pPr algn="l">
              <a:lnSpc>
                <a:spcPct val="100000"/>
              </a:lnSpc>
              <a:spcBef>
                <a:spcPts val="0"/>
              </a:spcBef>
            </a:pPr>
            <a:r>
              <a:rPr lang="en-US" sz="1100" b="1" spc="200" dirty="0">
                <a:solidFill>
                  <a:srgbClr val="FBF6EC"/>
                </a:solidFill>
                <a:latin typeface="Segoe UI"/>
                <a:cs typeface="Segoe UI"/>
              </a:rPr>
              <a:t>Power tier</a:t>
            </a:r>
          </a:p>
        </p:txBody>
      </p:sp>
      <p:sp>
        <p:nvSpPr>
          <p:cNvPr id="91" name="t91"/>
          <p:cNvSpPr txBox="1"/>
          <p:nvPr/>
        </p:nvSpPr>
        <p:spPr>
          <a:xfrm>
            <a:off x="8768200" y="2420000"/>
            <a:ext cx="2505600" cy="300000"/>
          </a:xfrm>
          <a:prstGeom prst="rect">
            <a:avLst/>
          </a:prstGeom>
          <a:noFill/>
        </p:spPr>
        <p:txBody>
          <a:bodyPr wrap="square" lIns="0" tIns="0" rIns="0" bIns="0" anchor="ctr">
            <a:normAutofit/>
          </a:bodyPr>
          <a:lstStyle/>
          <a:p>
            <a:pPr algn="l">
              <a:lnSpc>
                <a:spcPct val="100000"/>
              </a:lnSpc>
              <a:spcBef>
                <a:spcPts val="0"/>
              </a:spcBef>
            </a:pPr>
            <a:r>
              <a:rPr lang="en-US" sz="1100" b="1" spc="200" dirty="0">
                <a:solidFill>
                  <a:srgbClr val="FBF6EC"/>
                </a:solidFill>
                <a:latin typeface="Segoe UI"/>
                <a:cs typeface="Segoe UI"/>
              </a:rPr>
              <a:t>Teams &amp; business</a:t>
            </a:r>
          </a:p>
        </p:txBody>
      </p:sp>
      <p:sp>
        <p:nvSpPr>
          <p:cNvPr id="92" name="s92"/>
          <p:cNvSpPr/>
          <p:nvPr/>
        </p:nvSpPr>
        <p:spPr>
          <a:xfrm>
            <a:off x="838200" y="2900000"/>
            <a:ext cx="10515600" cy="740000"/>
          </a:xfrm>
          <a:prstGeom prst="roundRect">
            <a:avLst>
              <a:gd name="adj" fmla="val 10000"/>
            </a:avLst>
          </a:prstGeom>
          <a:solidFill>
            <a:srgbClr val="FBF6EC"/>
          </a:solidFill>
          <a:ln w="12700">
            <a:solidFill>
              <a:srgbClr val="E0CDB0"/>
            </a:solidFill>
          </a:ln>
        </p:spPr>
        <p:txBody>
          <a:bodyPr/>
          <a:lstStyle/>
          <a:p>
            <a:endParaRPr lang="en-US"/>
          </a:p>
        </p:txBody>
      </p:sp>
      <p:sp>
        <p:nvSpPr>
          <p:cNvPr id="93" name="t93"/>
          <p:cNvSpPr txBox="1"/>
          <p:nvPr/>
        </p:nvSpPr>
        <p:spPr>
          <a:xfrm>
            <a:off x="1018200" y="3020000"/>
            <a:ext cx="1300000" cy="500000"/>
          </a:xfrm>
          <a:prstGeom prst="rect">
            <a:avLst/>
          </a:prstGeom>
          <a:noFill/>
        </p:spPr>
        <p:txBody>
          <a:bodyPr wrap="square" lIns="0" tIns="0" rIns="0" bIns="0" anchor="ctr">
            <a:normAutofit/>
          </a:bodyPr>
          <a:lstStyle/>
          <a:p>
            <a:pPr algn="l">
              <a:lnSpc>
                <a:spcPct val="115000"/>
              </a:lnSpc>
              <a:spcBef>
                <a:spcPts val="0"/>
              </a:spcBef>
            </a:pPr>
            <a:r>
              <a:rPr lang="en-US" sz="1300" b="1" spc="0" dirty="0">
                <a:solidFill>
                  <a:srgbClr val="2E2A26"/>
                </a:solidFill>
                <a:latin typeface="Segoe UI"/>
                <a:cs typeface="Segoe UI"/>
              </a:rPr>
              <a:t>ChatGPT</a:t>
            </a:r>
          </a:p>
        </p:txBody>
      </p:sp>
      <p:sp>
        <p:nvSpPr>
          <p:cNvPr id="94" name="t94"/>
          <p:cNvSpPr txBox="1"/>
          <p:nvPr/>
        </p:nvSpPr>
        <p:spPr>
          <a:xfrm>
            <a:off x="2618200" y="3020000"/>
            <a:ext cx="60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Free</a:t>
            </a:r>
          </a:p>
        </p:txBody>
      </p:sp>
      <p:sp>
        <p:nvSpPr>
          <p:cNvPr id="95" name="t95"/>
          <p:cNvSpPr txBox="1"/>
          <p:nvPr/>
        </p:nvSpPr>
        <p:spPr>
          <a:xfrm>
            <a:off x="3518200" y="3020000"/>
            <a:ext cx="275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Go $8  •  Plus $20</a:t>
            </a:r>
          </a:p>
        </p:txBody>
      </p:sp>
      <p:sp>
        <p:nvSpPr>
          <p:cNvPr id="96" name="t96"/>
          <p:cNvSpPr txBox="1"/>
          <p:nvPr/>
        </p:nvSpPr>
        <p:spPr>
          <a:xfrm>
            <a:off x="6568200" y="3020000"/>
            <a:ext cx="190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Pro $100 / $200</a:t>
            </a:r>
          </a:p>
        </p:txBody>
      </p:sp>
      <p:sp>
        <p:nvSpPr>
          <p:cNvPr id="97" name="t97"/>
          <p:cNvSpPr txBox="1"/>
          <p:nvPr/>
        </p:nvSpPr>
        <p:spPr>
          <a:xfrm>
            <a:off x="8768200" y="3020000"/>
            <a:ext cx="24656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Business $20/seat (annual), $25 monthly</a:t>
            </a:r>
          </a:p>
        </p:txBody>
      </p:sp>
      <p:sp>
        <p:nvSpPr>
          <p:cNvPr id="98" name="s98"/>
          <p:cNvSpPr/>
          <p:nvPr/>
        </p:nvSpPr>
        <p:spPr>
          <a:xfrm>
            <a:off x="838200" y="3730000"/>
            <a:ext cx="10515600" cy="740000"/>
          </a:xfrm>
          <a:prstGeom prst="roundRect">
            <a:avLst>
              <a:gd name="adj" fmla="val 10000"/>
            </a:avLst>
          </a:prstGeom>
          <a:solidFill>
            <a:srgbClr val="FBF6EC"/>
          </a:solidFill>
          <a:ln w="12700">
            <a:solidFill>
              <a:srgbClr val="E0CDB0"/>
            </a:solidFill>
          </a:ln>
        </p:spPr>
        <p:txBody>
          <a:bodyPr/>
          <a:lstStyle/>
          <a:p>
            <a:endParaRPr lang="en-US"/>
          </a:p>
        </p:txBody>
      </p:sp>
      <p:sp>
        <p:nvSpPr>
          <p:cNvPr id="99" name="t99"/>
          <p:cNvSpPr txBox="1"/>
          <p:nvPr/>
        </p:nvSpPr>
        <p:spPr>
          <a:xfrm>
            <a:off x="1018200" y="3850000"/>
            <a:ext cx="1300000" cy="500000"/>
          </a:xfrm>
          <a:prstGeom prst="rect">
            <a:avLst/>
          </a:prstGeom>
          <a:noFill/>
        </p:spPr>
        <p:txBody>
          <a:bodyPr wrap="square" lIns="0" tIns="0" rIns="0" bIns="0" anchor="ctr">
            <a:normAutofit/>
          </a:bodyPr>
          <a:lstStyle/>
          <a:p>
            <a:pPr algn="l">
              <a:lnSpc>
                <a:spcPct val="115000"/>
              </a:lnSpc>
              <a:spcBef>
                <a:spcPts val="0"/>
              </a:spcBef>
            </a:pPr>
            <a:r>
              <a:rPr lang="en-US" sz="1300" b="1" spc="0" dirty="0">
                <a:solidFill>
                  <a:srgbClr val="2E2A26"/>
                </a:solidFill>
                <a:latin typeface="Segoe UI"/>
                <a:cs typeface="Segoe UI"/>
              </a:rPr>
              <a:t>Claude</a:t>
            </a:r>
          </a:p>
        </p:txBody>
      </p:sp>
      <p:sp>
        <p:nvSpPr>
          <p:cNvPr id="100" name="t100"/>
          <p:cNvSpPr txBox="1"/>
          <p:nvPr/>
        </p:nvSpPr>
        <p:spPr>
          <a:xfrm>
            <a:off x="2618200" y="3850000"/>
            <a:ext cx="60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Free</a:t>
            </a:r>
          </a:p>
        </p:txBody>
      </p:sp>
      <p:sp>
        <p:nvSpPr>
          <p:cNvPr id="101" name="t101"/>
          <p:cNvSpPr txBox="1"/>
          <p:nvPr/>
        </p:nvSpPr>
        <p:spPr>
          <a:xfrm>
            <a:off x="3518200" y="3850000"/>
            <a:ext cx="275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Pro $20</a:t>
            </a:r>
          </a:p>
        </p:txBody>
      </p:sp>
      <p:sp>
        <p:nvSpPr>
          <p:cNvPr id="102" name="t102"/>
          <p:cNvSpPr txBox="1"/>
          <p:nvPr/>
        </p:nvSpPr>
        <p:spPr>
          <a:xfrm>
            <a:off x="6568200" y="3850000"/>
            <a:ext cx="190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Max $100 / $200</a:t>
            </a:r>
          </a:p>
        </p:txBody>
      </p:sp>
      <p:sp>
        <p:nvSpPr>
          <p:cNvPr id="103" name="t103"/>
          <p:cNvSpPr txBox="1"/>
          <p:nvPr/>
        </p:nvSpPr>
        <p:spPr>
          <a:xfrm>
            <a:off x="8768200" y="3850000"/>
            <a:ext cx="24656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Team $20/seat (annual), $25 monthly</a:t>
            </a:r>
          </a:p>
        </p:txBody>
      </p:sp>
      <p:sp>
        <p:nvSpPr>
          <p:cNvPr id="104" name="s104"/>
          <p:cNvSpPr/>
          <p:nvPr/>
        </p:nvSpPr>
        <p:spPr>
          <a:xfrm>
            <a:off x="838200" y="4560000"/>
            <a:ext cx="10515600" cy="740000"/>
          </a:xfrm>
          <a:prstGeom prst="roundRect">
            <a:avLst>
              <a:gd name="adj" fmla="val 10000"/>
            </a:avLst>
          </a:prstGeom>
          <a:solidFill>
            <a:srgbClr val="FBF6EC"/>
          </a:solidFill>
          <a:ln w="12700">
            <a:solidFill>
              <a:srgbClr val="E0CDB0"/>
            </a:solidFill>
          </a:ln>
        </p:spPr>
        <p:txBody>
          <a:bodyPr/>
          <a:lstStyle/>
          <a:p>
            <a:endParaRPr lang="en-US"/>
          </a:p>
        </p:txBody>
      </p:sp>
      <p:sp>
        <p:nvSpPr>
          <p:cNvPr id="105" name="t105"/>
          <p:cNvSpPr txBox="1"/>
          <p:nvPr/>
        </p:nvSpPr>
        <p:spPr>
          <a:xfrm>
            <a:off x="1018200" y="4680000"/>
            <a:ext cx="1300000" cy="500000"/>
          </a:xfrm>
          <a:prstGeom prst="rect">
            <a:avLst/>
          </a:prstGeom>
          <a:noFill/>
        </p:spPr>
        <p:txBody>
          <a:bodyPr wrap="square" lIns="0" tIns="0" rIns="0" bIns="0" anchor="ctr">
            <a:normAutofit/>
          </a:bodyPr>
          <a:lstStyle/>
          <a:p>
            <a:pPr algn="l">
              <a:lnSpc>
                <a:spcPct val="115000"/>
              </a:lnSpc>
              <a:spcBef>
                <a:spcPts val="0"/>
              </a:spcBef>
            </a:pPr>
            <a:r>
              <a:rPr lang="en-US" sz="1300" b="1" spc="0" dirty="0">
                <a:solidFill>
                  <a:srgbClr val="2E2A26"/>
                </a:solidFill>
                <a:latin typeface="Segoe UI"/>
                <a:cs typeface="Segoe UI"/>
              </a:rPr>
              <a:t>Gemini</a:t>
            </a:r>
          </a:p>
        </p:txBody>
      </p:sp>
      <p:sp>
        <p:nvSpPr>
          <p:cNvPr id="106" name="t106"/>
          <p:cNvSpPr txBox="1"/>
          <p:nvPr/>
        </p:nvSpPr>
        <p:spPr>
          <a:xfrm>
            <a:off x="2618200" y="4680000"/>
            <a:ext cx="60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Free</a:t>
            </a:r>
          </a:p>
        </p:txBody>
      </p:sp>
      <p:sp>
        <p:nvSpPr>
          <p:cNvPr id="107" name="t107"/>
          <p:cNvSpPr txBox="1"/>
          <p:nvPr/>
        </p:nvSpPr>
        <p:spPr>
          <a:xfrm>
            <a:off x="3518200" y="4680000"/>
            <a:ext cx="275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AI Plus $4.99  •  AI Pro $19.99</a:t>
            </a:r>
          </a:p>
        </p:txBody>
      </p:sp>
      <p:sp>
        <p:nvSpPr>
          <p:cNvPr id="108" name="t108"/>
          <p:cNvSpPr txBox="1"/>
          <p:nvPr/>
        </p:nvSpPr>
        <p:spPr>
          <a:xfrm>
            <a:off x="6568200" y="4680000"/>
            <a:ext cx="190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AI Ultra $99.99 / $199.99</a:t>
            </a:r>
          </a:p>
        </p:txBody>
      </p:sp>
      <p:sp>
        <p:nvSpPr>
          <p:cNvPr id="109" name="t109"/>
          <p:cNvSpPr txBox="1"/>
          <p:nvPr/>
        </p:nvSpPr>
        <p:spPr>
          <a:xfrm>
            <a:off x="8768200" y="4680000"/>
            <a:ext cx="24656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Bundled with Google Workspace plans</a:t>
            </a:r>
          </a:p>
        </p:txBody>
      </p:sp>
      <p:sp>
        <p:nvSpPr>
          <p:cNvPr id="110" name="s110"/>
          <p:cNvSpPr/>
          <p:nvPr/>
        </p:nvSpPr>
        <p:spPr>
          <a:xfrm>
            <a:off x="838200" y="5390000"/>
            <a:ext cx="10515600" cy="740000"/>
          </a:xfrm>
          <a:prstGeom prst="roundRect">
            <a:avLst>
              <a:gd name="adj" fmla="val 10000"/>
            </a:avLst>
          </a:prstGeom>
          <a:solidFill>
            <a:srgbClr val="FBF6EC"/>
          </a:solidFill>
          <a:ln w="12700">
            <a:solidFill>
              <a:srgbClr val="E0CDB0"/>
            </a:solidFill>
          </a:ln>
        </p:spPr>
        <p:txBody>
          <a:bodyPr/>
          <a:lstStyle/>
          <a:p>
            <a:endParaRPr lang="en-US"/>
          </a:p>
        </p:txBody>
      </p:sp>
      <p:sp>
        <p:nvSpPr>
          <p:cNvPr id="111" name="t111"/>
          <p:cNvSpPr txBox="1"/>
          <p:nvPr/>
        </p:nvSpPr>
        <p:spPr>
          <a:xfrm>
            <a:off x="1018200" y="5510000"/>
            <a:ext cx="1300000" cy="500000"/>
          </a:xfrm>
          <a:prstGeom prst="rect">
            <a:avLst/>
          </a:prstGeom>
          <a:noFill/>
        </p:spPr>
        <p:txBody>
          <a:bodyPr wrap="square" lIns="0" tIns="0" rIns="0" bIns="0" anchor="ctr">
            <a:normAutofit/>
          </a:bodyPr>
          <a:lstStyle/>
          <a:p>
            <a:pPr algn="l">
              <a:lnSpc>
                <a:spcPct val="115000"/>
              </a:lnSpc>
              <a:spcBef>
                <a:spcPts val="0"/>
              </a:spcBef>
            </a:pPr>
            <a:r>
              <a:rPr lang="en-US" sz="1300" b="1" spc="0" dirty="0">
                <a:solidFill>
                  <a:srgbClr val="2E2A26"/>
                </a:solidFill>
                <a:latin typeface="Segoe UI"/>
                <a:cs typeface="Segoe UI"/>
              </a:rPr>
              <a:t>NotebookLM</a:t>
            </a:r>
          </a:p>
        </p:txBody>
      </p:sp>
      <p:sp>
        <p:nvSpPr>
          <p:cNvPr id="112" name="t112"/>
          <p:cNvSpPr txBox="1"/>
          <p:nvPr/>
        </p:nvSpPr>
        <p:spPr>
          <a:xfrm>
            <a:off x="2618200" y="5510000"/>
            <a:ext cx="60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Free</a:t>
            </a:r>
          </a:p>
        </p:txBody>
      </p:sp>
      <p:sp>
        <p:nvSpPr>
          <p:cNvPr id="113" name="t113"/>
          <p:cNvSpPr txBox="1"/>
          <p:nvPr/>
        </p:nvSpPr>
        <p:spPr>
          <a:xfrm>
            <a:off x="3518200" y="5510000"/>
            <a:ext cx="275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Plus via Google AI Pro $19.99</a:t>
            </a:r>
          </a:p>
        </p:txBody>
      </p:sp>
      <p:sp>
        <p:nvSpPr>
          <p:cNvPr id="114" name="t114"/>
          <p:cNvSpPr txBox="1"/>
          <p:nvPr/>
        </p:nvSpPr>
        <p:spPr>
          <a:xfrm>
            <a:off x="6568200" y="5510000"/>
            <a:ext cx="19000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Included in AI Ultra</a:t>
            </a:r>
          </a:p>
        </p:txBody>
      </p:sp>
      <p:sp>
        <p:nvSpPr>
          <p:cNvPr id="115" name="t115"/>
          <p:cNvSpPr txBox="1"/>
          <p:nvPr/>
        </p:nvSpPr>
        <p:spPr>
          <a:xfrm>
            <a:off x="8768200" y="5510000"/>
            <a:ext cx="2465600" cy="500000"/>
          </a:xfrm>
          <a:prstGeom prst="rect">
            <a:avLst/>
          </a:prstGeom>
          <a:noFill/>
        </p:spPr>
        <p:txBody>
          <a:bodyPr wrap="square" lIns="0" tIns="0" rIns="0" bIns="0" anchor="ctr">
            <a:normAutofit/>
          </a:bodyPr>
          <a:lstStyle/>
          <a:p>
            <a:pPr algn="l">
              <a:lnSpc>
                <a:spcPct val="115000"/>
              </a:lnSpc>
              <a:spcBef>
                <a:spcPts val="0"/>
              </a:spcBef>
            </a:pPr>
            <a:r>
              <a:rPr lang="en-US" sz="1150" b="0" spc="0" dirty="0">
                <a:solidFill>
                  <a:srgbClr val="4A423A"/>
                </a:solidFill>
                <a:latin typeface="Segoe UI"/>
                <a:cs typeface="Segoe UI"/>
              </a:rPr>
              <a:t>Plus via Workspace business plans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116"/>
          <p:cNvSpPr/>
          <p:nvPr/>
        </p:nvSpPr>
        <p:spPr>
          <a:xfrm>
            <a:off x="0" y="0"/>
            <a:ext cx="12192000" cy="6858000"/>
          </a:xfrm>
          <a:prstGeom prst="rect">
            <a:avLst/>
          </a:prstGeom>
          <a:solidFill>
            <a:srgbClr val="F3EBDD"/>
          </a:solidFill>
          <a:ln>
            <a:noFill/>
          </a:ln>
        </p:spPr>
        <p:txBody>
          <a:bodyPr/>
          <a:lstStyle/>
          <a:p>
            <a:endParaRPr lang="en-US"/>
          </a:p>
        </p:txBody>
      </p:sp>
      <p:sp>
        <p:nvSpPr>
          <p:cNvPr id="117" name="s117"/>
          <p:cNvSpPr/>
          <p:nvPr/>
        </p:nvSpPr>
        <p:spPr>
          <a:xfrm>
            <a:off x="0" y="0"/>
            <a:ext cx="12192000" cy="80000"/>
          </a:xfrm>
          <a:prstGeom prst="rect">
            <a:avLst/>
          </a:prstGeom>
          <a:solidFill>
            <a:srgbClr val="B4553A"/>
          </a:solidFill>
          <a:ln>
            <a:noFill/>
          </a:ln>
        </p:spPr>
        <p:txBody>
          <a:bodyPr/>
          <a:lstStyle/>
          <a:p>
            <a:endParaRPr lang="en-US"/>
          </a:p>
        </p:txBody>
      </p:sp>
      <p:sp>
        <p:nvSpPr>
          <p:cNvPr id="118" name="s118"/>
          <p:cNvSpPr/>
          <p:nvPr/>
        </p:nvSpPr>
        <p:spPr>
          <a:xfrm>
            <a:off x="838200" y="520700"/>
            <a:ext cx="180000" cy="180000"/>
          </a:xfrm>
          <a:prstGeom prst="ellipse">
            <a:avLst/>
          </a:prstGeom>
          <a:solidFill>
            <a:srgbClr val="7A7A4E"/>
          </a:solidFill>
          <a:ln>
            <a:noFill/>
          </a:ln>
        </p:spPr>
        <p:txBody>
          <a:bodyPr/>
          <a:lstStyle/>
          <a:p>
            <a:endParaRPr lang="en-US"/>
          </a:p>
        </p:txBody>
      </p:sp>
      <p:sp>
        <p:nvSpPr>
          <p:cNvPr id="119" name="t119"/>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THE DECISION</a:t>
            </a:r>
          </a:p>
        </p:txBody>
      </p:sp>
      <p:sp>
        <p:nvSpPr>
          <p:cNvPr id="120" name="t120"/>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Matching the Tool to the Job</a:t>
            </a:r>
          </a:p>
        </p:txBody>
      </p:sp>
      <p:sp>
        <p:nvSpPr>
          <p:cNvPr id="121" name="s121"/>
          <p:cNvSpPr/>
          <p:nvPr/>
        </p:nvSpPr>
        <p:spPr>
          <a:xfrm>
            <a:off x="838200" y="1540000"/>
            <a:ext cx="3200000" cy="26000"/>
          </a:xfrm>
          <a:prstGeom prst="rect">
            <a:avLst/>
          </a:prstGeom>
          <a:solidFill>
            <a:srgbClr val="B4553A"/>
          </a:solidFill>
          <a:ln>
            <a:noFill/>
          </a:ln>
        </p:spPr>
        <p:txBody>
          <a:bodyPr/>
          <a:lstStyle/>
          <a:p>
            <a:endParaRPr lang="en-US"/>
          </a:p>
        </p:txBody>
      </p:sp>
      <p:sp>
        <p:nvSpPr>
          <p:cNvPr id="122" name="t122"/>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A practical starting point: pick a primary tool, then add a second for its distinct strength.</a:t>
            </a:r>
          </a:p>
        </p:txBody>
      </p:sp>
      <p:sp>
        <p:nvSpPr>
          <p:cNvPr id="123" name="s123"/>
          <p:cNvSpPr/>
          <p:nvPr/>
        </p:nvSpPr>
        <p:spPr>
          <a:xfrm>
            <a:off x="838200" y="6420000"/>
            <a:ext cx="10515600" cy="12700"/>
          </a:xfrm>
          <a:prstGeom prst="rect">
            <a:avLst/>
          </a:prstGeom>
          <a:solidFill>
            <a:srgbClr val="E0CDB0"/>
          </a:solidFill>
          <a:ln>
            <a:noFill/>
          </a:ln>
        </p:spPr>
        <p:txBody>
          <a:bodyPr/>
          <a:lstStyle/>
          <a:p>
            <a:endParaRPr lang="en-US"/>
          </a:p>
        </p:txBody>
      </p:sp>
      <p:sp>
        <p:nvSpPr>
          <p:cNvPr id="124" name="t124"/>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Choosing the right AI tool  |  verified pricing, August 2026</a:t>
            </a:r>
          </a:p>
        </p:txBody>
      </p:sp>
      <p:sp>
        <p:nvSpPr>
          <p:cNvPr id="125" name="s125"/>
          <p:cNvSpPr/>
          <p:nvPr/>
        </p:nvSpPr>
        <p:spPr>
          <a:xfrm>
            <a:off x="838200" y="2320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126" name="s126"/>
          <p:cNvSpPr/>
          <p:nvPr/>
        </p:nvSpPr>
        <p:spPr>
          <a:xfrm>
            <a:off x="1078200" y="2476000"/>
            <a:ext cx="312000" cy="312000"/>
          </a:xfrm>
          <a:prstGeom prst="ellipse">
            <a:avLst/>
          </a:prstGeom>
          <a:solidFill>
            <a:srgbClr val="B4553A"/>
          </a:solidFill>
          <a:ln>
            <a:noFill/>
          </a:ln>
        </p:spPr>
        <p:txBody>
          <a:bodyPr/>
          <a:lstStyle/>
          <a:p>
            <a:endParaRPr lang="en-US"/>
          </a:p>
        </p:txBody>
      </p:sp>
      <p:sp>
        <p:nvSpPr>
          <p:cNvPr id="127" name="t127"/>
          <p:cNvSpPr txBox="1"/>
          <p:nvPr/>
        </p:nvSpPr>
        <p:spPr>
          <a:xfrm>
            <a:off x="1078200" y="2476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dirty="0">
                <a:solidFill>
                  <a:srgbClr val="FBF6EC"/>
                </a:solidFill>
                <a:latin typeface="Segoe UI"/>
                <a:cs typeface="Segoe UI"/>
              </a:rPr>
              <a:t>1</a:t>
            </a:r>
          </a:p>
        </p:txBody>
      </p:sp>
      <p:sp>
        <p:nvSpPr>
          <p:cNvPr id="128" name="t128"/>
          <p:cNvSpPr txBox="1"/>
          <p:nvPr/>
        </p:nvSpPr>
        <p:spPr>
          <a:xfrm>
            <a:off x="1670200" y="2419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dirty="0">
                <a:solidFill>
                  <a:srgbClr val="2E2A26"/>
                </a:solidFill>
                <a:latin typeface="Segoe UI"/>
                <a:cs typeface="Segoe UI"/>
              </a:rPr>
              <a:t>Everyday drafting, images and broad tasks</a:t>
            </a:r>
          </a:p>
          <a:p>
            <a:pPr algn="l">
              <a:lnSpc>
                <a:spcPct val="115000"/>
              </a:lnSpc>
              <a:spcBef>
                <a:spcPts val="500"/>
              </a:spcBef>
            </a:pPr>
            <a:r>
              <a:rPr lang="en-US" sz="1150" b="0" spc="0" dirty="0">
                <a:solidFill>
                  <a:srgbClr val="4A423A"/>
                </a:solidFill>
                <a:latin typeface="Segoe UI"/>
                <a:cs typeface="Segoe UI"/>
              </a:rPr>
              <a:t>ChatGPT Plus at $20/month — widest feature surface for a single subscription.</a:t>
            </a:r>
          </a:p>
        </p:txBody>
      </p:sp>
      <p:sp>
        <p:nvSpPr>
          <p:cNvPr id="129" name="s129"/>
          <p:cNvSpPr/>
          <p:nvPr/>
        </p:nvSpPr>
        <p:spPr>
          <a:xfrm>
            <a:off x="838200" y="3114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130" name="s130"/>
          <p:cNvSpPr/>
          <p:nvPr/>
        </p:nvSpPr>
        <p:spPr>
          <a:xfrm>
            <a:off x="1078200" y="3270000"/>
            <a:ext cx="312000" cy="312000"/>
          </a:xfrm>
          <a:prstGeom prst="ellipse">
            <a:avLst/>
          </a:prstGeom>
          <a:solidFill>
            <a:srgbClr val="B4553A"/>
          </a:solidFill>
          <a:ln>
            <a:noFill/>
          </a:ln>
        </p:spPr>
        <p:txBody>
          <a:bodyPr/>
          <a:lstStyle/>
          <a:p>
            <a:endParaRPr lang="en-US"/>
          </a:p>
        </p:txBody>
      </p:sp>
      <p:sp>
        <p:nvSpPr>
          <p:cNvPr id="131" name="t131"/>
          <p:cNvSpPr txBox="1"/>
          <p:nvPr/>
        </p:nvSpPr>
        <p:spPr>
          <a:xfrm>
            <a:off x="1078200" y="3270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dirty="0">
                <a:solidFill>
                  <a:srgbClr val="FBF6EC"/>
                </a:solidFill>
                <a:latin typeface="Segoe UI"/>
                <a:cs typeface="Segoe UI"/>
              </a:rPr>
              <a:t>2</a:t>
            </a:r>
          </a:p>
        </p:txBody>
      </p:sp>
      <p:sp>
        <p:nvSpPr>
          <p:cNvPr id="132" name="t132"/>
          <p:cNvSpPr txBox="1"/>
          <p:nvPr/>
        </p:nvSpPr>
        <p:spPr>
          <a:xfrm>
            <a:off x="1670200" y="3213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dirty="0">
                <a:solidFill>
                  <a:srgbClr val="2E2A26"/>
                </a:solidFill>
                <a:latin typeface="Segoe UI"/>
                <a:cs typeface="Segoe UI"/>
              </a:rPr>
              <a:t>Long documents, nuanced analysis and coding</a:t>
            </a:r>
          </a:p>
          <a:p>
            <a:pPr algn="l">
              <a:lnSpc>
                <a:spcPct val="115000"/>
              </a:lnSpc>
              <a:spcBef>
                <a:spcPts val="500"/>
              </a:spcBef>
            </a:pPr>
            <a:r>
              <a:rPr lang="en-US" sz="1150" b="0" spc="0" dirty="0">
                <a:solidFill>
                  <a:srgbClr val="4A423A"/>
                </a:solidFill>
                <a:latin typeface="Segoe UI"/>
                <a:cs typeface="Segoe UI"/>
              </a:rPr>
              <a:t>Claude Pro at $20/month; step up to Max when usage caps start blocking work.</a:t>
            </a:r>
          </a:p>
        </p:txBody>
      </p:sp>
      <p:sp>
        <p:nvSpPr>
          <p:cNvPr id="133" name="s133"/>
          <p:cNvSpPr/>
          <p:nvPr/>
        </p:nvSpPr>
        <p:spPr>
          <a:xfrm>
            <a:off x="838200" y="3908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134" name="s134"/>
          <p:cNvSpPr/>
          <p:nvPr/>
        </p:nvSpPr>
        <p:spPr>
          <a:xfrm>
            <a:off x="1078200" y="4064000"/>
            <a:ext cx="312000" cy="312000"/>
          </a:xfrm>
          <a:prstGeom prst="ellipse">
            <a:avLst/>
          </a:prstGeom>
          <a:solidFill>
            <a:srgbClr val="B4553A"/>
          </a:solidFill>
          <a:ln>
            <a:noFill/>
          </a:ln>
        </p:spPr>
        <p:txBody>
          <a:bodyPr/>
          <a:lstStyle/>
          <a:p>
            <a:endParaRPr lang="en-US"/>
          </a:p>
        </p:txBody>
      </p:sp>
      <p:sp>
        <p:nvSpPr>
          <p:cNvPr id="135" name="t135"/>
          <p:cNvSpPr txBox="1"/>
          <p:nvPr/>
        </p:nvSpPr>
        <p:spPr>
          <a:xfrm>
            <a:off x="1078200" y="4064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dirty="0">
                <a:solidFill>
                  <a:srgbClr val="FBF6EC"/>
                </a:solidFill>
                <a:latin typeface="Segoe UI"/>
                <a:cs typeface="Segoe UI"/>
              </a:rPr>
              <a:t>3</a:t>
            </a:r>
          </a:p>
        </p:txBody>
      </p:sp>
      <p:sp>
        <p:nvSpPr>
          <p:cNvPr id="136" name="t136"/>
          <p:cNvSpPr txBox="1"/>
          <p:nvPr/>
        </p:nvSpPr>
        <p:spPr>
          <a:xfrm>
            <a:off x="1670200" y="4007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dirty="0">
                <a:solidFill>
                  <a:srgbClr val="2E2A26"/>
                </a:solidFill>
                <a:latin typeface="Segoe UI"/>
                <a:cs typeface="Segoe UI"/>
              </a:rPr>
              <a:t>Teams already living in Google Workspace</a:t>
            </a:r>
          </a:p>
          <a:p>
            <a:pPr algn="l">
              <a:lnSpc>
                <a:spcPct val="115000"/>
              </a:lnSpc>
              <a:spcBef>
                <a:spcPts val="500"/>
              </a:spcBef>
            </a:pPr>
            <a:r>
              <a:rPr lang="en-US" sz="1150" b="0" spc="0" dirty="0">
                <a:solidFill>
                  <a:srgbClr val="4A423A"/>
                </a:solidFill>
                <a:latin typeface="Segoe UI"/>
                <a:cs typeface="Segoe UI"/>
              </a:rPr>
              <a:t>Google AI Pro at $19.99/month — Gemini in Gmail and Docs, plus NotebookLM Plus included.</a:t>
            </a:r>
          </a:p>
        </p:txBody>
      </p:sp>
      <p:sp>
        <p:nvSpPr>
          <p:cNvPr id="137" name="s137"/>
          <p:cNvSpPr/>
          <p:nvPr/>
        </p:nvSpPr>
        <p:spPr>
          <a:xfrm>
            <a:off x="838200" y="4702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138" name="s138"/>
          <p:cNvSpPr/>
          <p:nvPr/>
        </p:nvSpPr>
        <p:spPr>
          <a:xfrm>
            <a:off x="1078200" y="4858000"/>
            <a:ext cx="312000" cy="312000"/>
          </a:xfrm>
          <a:prstGeom prst="ellipse">
            <a:avLst/>
          </a:prstGeom>
          <a:solidFill>
            <a:srgbClr val="B4553A"/>
          </a:solidFill>
          <a:ln>
            <a:noFill/>
          </a:ln>
        </p:spPr>
        <p:txBody>
          <a:bodyPr/>
          <a:lstStyle/>
          <a:p>
            <a:endParaRPr lang="en-US"/>
          </a:p>
        </p:txBody>
      </p:sp>
      <p:sp>
        <p:nvSpPr>
          <p:cNvPr id="139" name="t139"/>
          <p:cNvSpPr txBox="1"/>
          <p:nvPr/>
        </p:nvSpPr>
        <p:spPr>
          <a:xfrm>
            <a:off x="1078200" y="4858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dirty="0">
                <a:solidFill>
                  <a:srgbClr val="FBF6EC"/>
                </a:solidFill>
                <a:latin typeface="Segoe UI"/>
                <a:cs typeface="Segoe UI"/>
              </a:rPr>
              <a:t>4</a:t>
            </a:r>
          </a:p>
        </p:txBody>
      </p:sp>
      <p:sp>
        <p:nvSpPr>
          <p:cNvPr id="140" name="t140"/>
          <p:cNvSpPr txBox="1"/>
          <p:nvPr/>
        </p:nvSpPr>
        <p:spPr>
          <a:xfrm>
            <a:off x="1670200" y="4801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dirty="0">
                <a:solidFill>
                  <a:srgbClr val="2E2A26"/>
                </a:solidFill>
                <a:latin typeface="Segoe UI"/>
                <a:cs typeface="Segoe UI"/>
              </a:rPr>
              <a:t>Research that must stay inside your own sources</a:t>
            </a:r>
          </a:p>
          <a:p>
            <a:pPr algn="l">
              <a:lnSpc>
                <a:spcPct val="115000"/>
              </a:lnSpc>
              <a:spcBef>
                <a:spcPts val="500"/>
              </a:spcBef>
            </a:pPr>
            <a:r>
              <a:rPr lang="en-US" sz="1150" b="0" spc="0" dirty="0">
                <a:solidFill>
                  <a:srgbClr val="4A423A"/>
                </a:solidFill>
                <a:latin typeface="Segoe UI"/>
                <a:cs typeface="Segoe UI"/>
              </a:rPr>
              <a:t>NotebookLM free tier — grounded answers with citations, no web access by design.</a:t>
            </a:r>
          </a:p>
        </p:txBody>
      </p:sp>
      <p:sp>
        <p:nvSpPr>
          <p:cNvPr id="141" name="s141"/>
          <p:cNvSpPr/>
          <p:nvPr/>
        </p:nvSpPr>
        <p:spPr>
          <a:xfrm>
            <a:off x="838200" y="5496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142" name="s142"/>
          <p:cNvSpPr/>
          <p:nvPr/>
        </p:nvSpPr>
        <p:spPr>
          <a:xfrm>
            <a:off x="1078200" y="5652000"/>
            <a:ext cx="312000" cy="312000"/>
          </a:xfrm>
          <a:prstGeom prst="ellipse">
            <a:avLst/>
          </a:prstGeom>
          <a:solidFill>
            <a:srgbClr val="B4553A"/>
          </a:solidFill>
          <a:ln>
            <a:noFill/>
          </a:ln>
        </p:spPr>
        <p:txBody>
          <a:bodyPr/>
          <a:lstStyle/>
          <a:p>
            <a:endParaRPr lang="en-US"/>
          </a:p>
        </p:txBody>
      </p:sp>
      <p:sp>
        <p:nvSpPr>
          <p:cNvPr id="143" name="t143"/>
          <p:cNvSpPr txBox="1"/>
          <p:nvPr/>
        </p:nvSpPr>
        <p:spPr>
          <a:xfrm>
            <a:off x="1078200" y="5652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dirty="0">
                <a:solidFill>
                  <a:srgbClr val="FBF6EC"/>
                </a:solidFill>
                <a:latin typeface="Segoe UI"/>
                <a:cs typeface="Segoe UI"/>
              </a:rPr>
              <a:t>5</a:t>
            </a:r>
          </a:p>
        </p:txBody>
      </p:sp>
      <p:sp>
        <p:nvSpPr>
          <p:cNvPr id="144" name="t144"/>
          <p:cNvSpPr txBox="1"/>
          <p:nvPr/>
        </p:nvSpPr>
        <p:spPr>
          <a:xfrm>
            <a:off x="1670200" y="5595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dirty="0">
                <a:solidFill>
                  <a:srgbClr val="2E2A26"/>
                </a:solidFill>
                <a:latin typeface="Segoe UI"/>
                <a:cs typeface="Segoe UI"/>
              </a:rPr>
              <a:t>Rolling out to a team</a:t>
            </a:r>
          </a:p>
          <a:p>
            <a:pPr algn="l">
              <a:lnSpc>
                <a:spcPct val="115000"/>
              </a:lnSpc>
              <a:spcBef>
                <a:spcPts val="500"/>
              </a:spcBef>
            </a:pPr>
            <a:r>
              <a:rPr lang="en-US" sz="1150" b="0" spc="0" dirty="0">
                <a:solidFill>
                  <a:srgbClr val="4A423A"/>
                </a:solidFill>
                <a:latin typeface="Segoe UI"/>
                <a:cs typeface="Segoe UI"/>
              </a:rPr>
              <a:t>Business and Team seats land near $20–25 per user per month with admin controls and no training on your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66"/>
          <p:cNvSpPr/>
          <p:nvPr/>
        </p:nvSpPr>
        <p:spPr>
          <a:xfrm>
            <a:off x="0" y="0"/>
            <a:ext cx="12192000" cy="6858000"/>
          </a:xfrm>
          <a:prstGeom prst="rect">
            <a:avLst/>
          </a:prstGeom>
          <a:solidFill>
            <a:srgbClr val="F3EBDD"/>
          </a:solidFill>
          <a:ln>
            <a:noFill/>
          </a:ln>
        </p:spPr>
        <p:txBody>
          <a:bodyPr/>
          <a:lstStyle/>
          <a:p>
            <a:endParaRPr lang="en-US"/>
          </a:p>
        </p:txBody>
      </p:sp>
      <p:sp>
        <p:nvSpPr>
          <p:cNvPr id="67" name="s67"/>
          <p:cNvSpPr/>
          <p:nvPr/>
        </p:nvSpPr>
        <p:spPr>
          <a:xfrm>
            <a:off x="0" y="0"/>
            <a:ext cx="12192000" cy="80000"/>
          </a:xfrm>
          <a:prstGeom prst="rect">
            <a:avLst/>
          </a:prstGeom>
          <a:solidFill>
            <a:srgbClr val="B4553A"/>
          </a:solidFill>
          <a:ln>
            <a:noFill/>
          </a:ln>
        </p:spPr>
        <p:txBody>
          <a:bodyPr/>
          <a:lstStyle/>
          <a:p>
            <a:endParaRPr lang="en-US"/>
          </a:p>
        </p:txBody>
      </p:sp>
      <p:sp>
        <p:nvSpPr>
          <p:cNvPr id="68" name="g68"/>
          <p:cNvSpPr/>
          <p:nvPr/>
        </p:nvSpPr>
        <p:spPr>
          <a:xfrm>
            <a:off x="7010400" y="0"/>
            <a:ext cx="5181600" cy="6858000"/>
          </a:xfrm>
          <a:prstGeom prst="rect">
            <a:avLst/>
          </a:prstGeom>
          <a:solidFill>
            <a:srgbClr val="332E29"/>
          </a:solidFill>
          <a:ln>
            <a:noFill/>
          </a:ln>
        </p:spPr>
        <p:txBody>
          <a:bodyPr/>
          <a:lstStyle/>
          <a:p>
            <a:endParaRPr lang="en-US"/>
          </a:p>
        </p:txBody>
      </p:sp>
      <p:sp>
        <p:nvSpPr>
          <p:cNvPr id="69" name="g69"/>
          <p:cNvSpPr/>
          <p:nvPr/>
        </p:nvSpPr>
        <p:spPr>
          <a:xfrm>
            <a:off x="7270400" y="1098200"/>
            <a:ext cx="4661600" cy="4661600"/>
          </a:xfrm>
          <a:prstGeom prst="ellipse">
            <a:avLst/>
          </a:prstGeom>
          <a:solidFill>
            <a:srgbClr val="B4553A">
              <a:alpha val="45000"/>
            </a:srgbClr>
          </a:solidFill>
          <a:ln>
            <a:noFill/>
          </a:ln>
        </p:spPr>
        <p:txBody>
          <a:bodyPr/>
          <a:lstStyle/>
          <a:p>
            <a:endParaRPr lang="en-US"/>
          </a:p>
        </p:txBody>
      </p:sp>
      <p:sp>
        <p:nvSpPr>
          <p:cNvPr id="70" name="g70"/>
          <p:cNvSpPr/>
          <p:nvPr/>
        </p:nvSpPr>
        <p:spPr>
          <a:xfrm>
            <a:off x="7736560" y="1564360"/>
            <a:ext cx="3729280" cy="3729280"/>
          </a:xfrm>
          <a:prstGeom prst="ellipse">
            <a:avLst/>
          </a:prstGeom>
          <a:solidFill>
            <a:srgbClr val="C08A2E">
              <a:alpha val="55000"/>
            </a:srgbClr>
          </a:solidFill>
          <a:ln>
            <a:noFill/>
          </a:ln>
        </p:spPr>
        <p:txBody>
          <a:bodyPr/>
          <a:lstStyle/>
          <a:p>
            <a:endParaRPr lang="en-US"/>
          </a:p>
        </p:txBody>
      </p:sp>
      <p:sp>
        <p:nvSpPr>
          <p:cNvPr id="71" name="g71"/>
          <p:cNvSpPr/>
          <p:nvPr/>
        </p:nvSpPr>
        <p:spPr>
          <a:xfrm>
            <a:off x="8202720" y="2030520"/>
            <a:ext cx="2796960" cy="2796960"/>
          </a:xfrm>
          <a:prstGeom prst="ellipse">
            <a:avLst/>
          </a:prstGeom>
          <a:solidFill>
            <a:srgbClr val="7A7A4E">
              <a:alpha val="65000"/>
            </a:srgbClr>
          </a:solidFill>
          <a:ln>
            <a:noFill/>
          </a:ln>
        </p:spPr>
        <p:txBody>
          <a:bodyPr/>
          <a:lstStyle/>
          <a:p>
            <a:endParaRPr lang="en-US"/>
          </a:p>
        </p:txBody>
      </p:sp>
      <p:sp>
        <p:nvSpPr>
          <p:cNvPr id="72" name="g72"/>
          <p:cNvSpPr/>
          <p:nvPr/>
        </p:nvSpPr>
        <p:spPr>
          <a:xfrm>
            <a:off x="8668880" y="2496680"/>
            <a:ext cx="1864640" cy="1864640"/>
          </a:xfrm>
          <a:prstGeom prst="ellipse">
            <a:avLst/>
          </a:prstGeom>
          <a:solidFill>
            <a:srgbClr val="F3EBDD">
              <a:alpha val="90000"/>
            </a:srgbClr>
          </a:solidFill>
          <a:ln>
            <a:noFill/>
          </a:ln>
        </p:spPr>
        <p:txBody>
          <a:bodyPr/>
          <a:lstStyle/>
          <a:p>
            <a:endParaRPr lang="en-US"/>
          </a:p>
        </p:txBody>
      </p:sp>
      <p:sp>
        <p:nvSpPr>
          <p:cNvPr id="73" name="g73"/>
          <p:cNvSpPr/>
          <p:nvPr/>
        </p:nvSpPr>
        <p:spPr>
          <a:xfrm>
            <a:off x="7270400" y="1098200"/>
            <a:ext cx="4661600" cy="4661600"/>
          </a:xfrm>
          <a:prstGeom prst="ellipse">
            <a:avLst/>
          </a:prstGeom>
          <a:noFill/>
          <a:ln w="15000">
            <a:solidFill>
              <a:srgbClr val="F3EBDD"/>
            </a:solidFill>
          </a:ln>
        </p:spPr>
        <p:txBody>
          <a:bodyPr/>
          <a:lstStyle/>
          <a:p>
            <a:endParaRPr lang="en-US"/>
          </a:p>
        </p:txBody>
      </p:sp>
      <p:sp>
        <p:nvSpPr>
          <p:cNvPr id="74" name="t74"/>
          <p:cNvSpPr txBox="1"/>
          <p:nvPr/>
        </p:nvSpPr>
        <p:spPr>
          <a:xfrm>
            <a:off x="838200" y="1900000"/>
            <a:ext cx="5400000" cy="340000"/>
          </a:xfrm>
          <a:prstGeom prst="rect">
            <a:avLst/>
          </a:prstGeom>
          <a:noFill/>
        </p:spPr>
        <p:txBody>
          <a:bodyPr wrap="square" lIns="0" tIns="0" rIns="0" bIns="0" anchor="t">
            <a:normAutofit/>
          </a:bodyPr>
          <a:lstStyle/>
          <a:p>
            <a:pPr algn="l">
              <a:lnSpc>
                <a:spcPct val="100000"/>
              </a:lnSpc>
              <a:spcBef>
                <a:spcPts val="0"/>
              </a:spcBef>
            </a:pPr>
            <a:r>
              <a:rPr lang="en-US" sz="1400" b="1" spc="400" dirty="0">
                <a:solidFill>
                  <a:srgbClr val="B4553A"/>
                </a:solidFill>
                <a:latin typeface="Segoe UI"/>
                <a:cs typeface="Segoe UI"/>
              </a:rPr>
              <a:t>03</a:t>
            </a:r>
          </a:p>
        </p:txBody>
      </p:sp>
      <p:sp>
        <p:nvSpPr>
          <p:cNvPr id="75" name="s75"/>
          <p:cNvSpPr/>
          <p:nvPr/>
        </p:nvSpPr>
        <p:spPr>
          <a:xfrm>
            <a:off x="838200" y="2360000"/>
            <a:ext cx="1400000" cy="26000"/>
          </a:xfrm>
          <a:prstGeom prst="rect">
            <a:avLst/>
          </a:prstGeom>
          <a:solidFill>
            <a:srgbClr val="B4553A"/>
          </a:solidFill>
          <a:ln>
            <a:noFill/>
          </a:ln>
        </p:spPr>
        <p:txBody>
          <a:bodyPr/>
          <a:lstStyle/>
          <a:p>
            <a:endParaRPr lang="en-US"/>
          </a:p>
        </p:txBody>
      </p:sp>
      <p:sp>
        <p:nvSpPr>
          <p:cNvPr id="76" name="t76"/>
          <p:cNvSpPr txBox="1"/>
          <p:nvPr/>
        </p:nvSpPr>
        <p:spPr>
          <a:xfrm>
            <a:off x="838200" y="2640000"/>
            <a:ext cx="5400000" cy="2000000"/>
          </a:xfrm>
          <a:prstGeom prst="rect">
            <a:avLst/>
          </a:prstGeom>
          <a:noFill/>
        </p:spPr>
        <p:txBody>
          <a:bodyPr wrap="square" lIns="0" tIns="0" rIns="0" bIns="0" anchor="t">
            <a:normAutofit/>
          </a:bodyPr>
          <a:lstStyle/>
          <a:p>
            <a:pPr algn="l">
              <a:lnSpc>
                <a:spcPct val="104000"/>
              </a:lnSpc>
              <a:spcBef>
                <a:spcPts val="0"/>
              </a:spcBef>
            </a:pPr>
            <a:r>
              <a:rPr lang="en-US" sz="3400" b="1" spc="0" dirty="0">
                <a:solidFill>
                  <a:srgbClr val="2E2A26"/>
                </a:solidFill>
                <a:latin typeface="Georgia"/>
                <a:cs typeface="Georgia"/>
              </a:rPr>
              <a:t>Prompting Like a Professional</a:t>
            </a:r>
          </a:p>
        </p:txBody>
      </p:sp>
      <p:sp>
        <p:nvSpPr>
          <p:cNvPr id="77" name="t77"/>
          <p:cNvSpPr txBox="1"/>
          <p:nvPr/>
        </p:nvSpPr>
        <p:spPr>
          <a:xfrm>
            <a:off x="838200" y="4600000"/>
            <a:ext cx="5400000" cy="1000000"/>
          </a:xfrm>
          <a:prstGeom prst="rect">
            <a:avLst/>
          </a:prstGeom>
          <a:noFill/>
        </p:spPr>
        <p:txBody>
          <a:bodyPr wrap="square" lIns="0" tIns="0" rIns="0" bIns="0" anchor="t">
            <a:normAutofit/>
          </a:bodyPr>
          <a:lstStyle/>
          <a:p>
            <a:pPr algn="l">
              <a:lnSpc>
                <a:spcPct val="125000"/>
              </a:lnSpc>
              <a:spcBef>
                <a:spcPts val="0"/>
              </a:spcBef>
            </a:pPr>
            <a:r>
              <a:rPr lang="en-US" sz="1300" b="0" spc="0" dirty="0">
                <a:solidFill>
                  <a:srgbClr val="4A423A"/>
                </a:solidFill>
                <a:latin typeface="Segoe UI"/>
                <a:cs typeface="Segoe UI"/>
              </a:rPr>
              <a:t>A repeatable prompt anatomy, the core methods, and a template you can fill 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128"/>
          <p:cNvSpPr/>
          <p:nvPr/>
        </p:nvSpPr>
        <p:spPr>
          <a:xfrm>
            <a:off x="0" y="0"/>
            <a:ext cx="12192000" cy="6858000"/>
          </a:xfrm>
          <a:prstGeom prst="rect">
            <a:avLst/>
          </a:prstGeom>
          <a:solidFill>
            <a:srgbClr val="F3EBDD"/>
          </a:solidFill>
          <a:ln>
            <a:noFill/>
          </a:ln>
        </p:spPr>
        <p:txBody>
          <a:bodyPr/>
          <a:lstStyle/>
          <a:p>
            <a:endParaRPr lang="en-US"/>
          </a:p>
        </p:txBody>
      </p:sp>
      <p:sp>
        <p:nvSpPr>
          <p:cNvPr id="129" name="s129"/>
          <p:cNvSpPr/>
          <p:nvPr/>
        </p:nvSpPr>
        <p:spPr>
          <a:xfrm>
            <a:off x="0" y="0"/>
            <a:ext cx="12192000" cy="80000"/>
          </a:xfrm>
          <a:prstGeom prst="rect">
            <a:avLst/>
          </a:prstGeom>
          <a:solidFill>
            <a:srgbClr val="B4553A"/>
          </a:solidFill>
          <a:ln>
            <a:noFill/>
          </a:ln>
        </p:spPr>
        <p:txBody>
          <a:bodyPr/>
          <a:lstStyle/>
          <a:p>
            <a:endParaRPr lang="en-US"/>
          </a:p>
        </p:txBody>
      </p:sp>
      <p:sp>
        <p:nvSpPr>
          <p:cNvPr id="130" name="s130"/>
          <p:cNvSpPr/>
          <p:nvPr/>
        </p:nvSpPr>
        <p:spPr>
          <a:xfrm>
            <a:off x="838200" y="520700"/>
            <a:ext cx="180000" cy="180000"/>
          </a:xfrm>
          <a:prstGeom prst="ellipse">
            <a:avLst/>
          </a:prstGeom>
          <a:solidFill>
            <a:srgbClr val="7A7A4E"/>
          </a:solidFill>
          <a:ln>
            <a:noFill/>
          </a:ln>
        </p:spPr>
        <p:txBody>
          <a:bodyPr/>
          <a:lstStyle/>
          <a:p>
            <a:endParaRPr lang="en-US"/>
          </a:p>
        </p:txBody>
      </p:sp>
      <p:sp>
        <p:nvSpPr>
          <p:cNvPr id="131" name="t131"/>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THE FRAMEWORK</a:t>
            </a:r>
          </a:p>
        </p:txBody>
      </p:sp>
      <p:sp>
        <p:nvSpPr>
          <p:cNvPr id="132" name="t132"/>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The R-A-C-E-F Prompt Anatomy</a:t>
            </a:r>
          </a:p>
        </p:txBody>
      </p:sp>
      <p:sp>
        <p:nvSpPr>
          <p:cNvPr id="133" name="s133"/>
          <p:cNvSpPr/>
          <p:nvPr/>
        </p:nvSpPr>
        <p:spPr>
          <a:xfrm>
            <a:off x="838200" y="1540000"/>
            <a:ext cx="3200000" cy="26000"/>
          </a:xfrm>
          <a:prstGeom prst="rect">
            <a:avLst/>
          </a:prstGeom>
          <a:solidFill>
            <a:srgbClr val="B4553A"/>
          </a:solidFill>
          <a:ln>
            <a:noFill/>
          </a:ln>
        </p:spPr>
        <p:txBody>
          <a:bodyPr/>
          <a:lstStyle/>
          <a:p>
            <a:endParaRPr lang="en-US"/>
          </a:p>
        </p:txBody>
      </p:sp>
      <p:sp>
        <p:nvSpPr>
          <p:cNvPr id="134" name="t134"/>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Five building blocks, plus a guardrail line, turn a vague ask into a repeatable HR prompt.</a:t>
            </a:r>
          </a:p>
        </p:txBody>
      </p:sp>
      <p:sp>
        <p:nvSpPr>
          <p:cNvPr id="135" name="s135"/>
          <p:cNvSpPr/>
          <p:nvPr/>
        </p:nvSpPr>
        <p:spPr>
          <a:xfrm>
            <a:off x="838200" y="6420000"/>
            <a:ext cx="10515600" cy="12700"/>
          </a:xfrm>
          <a:prstGeom prst="rect">
            <a:avLst/>
          </a:prstGeom>
          <a:solidFill>
            <a:srgbClr val="E0CDB0"/>
          </a:solidFill>
          <a:ln>
            <a:noFill/>
          </a:ln>
        </p:spPr>
        <p:txBody>
          <a:bodyPr/>
          <a:lstStyle/>
          <a:p>
            <a:endParaRPr lang="en-US"/>
          </a:p>
        </p:txBody>
      </p:sp>
      <p:sp>
        <p:nvSpPr>
          <p:cNvPr id="136" name="t136"/>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AI prompting framework for HR professionals</a:t>
            </a:r>
          </a:p>
        </p:txBody>
      </p:sp>
      <p:sp>
        <p:nvSpPr>
          <p:cNvPr id="137" name="s137"/>
          <p:cNvSpPr/>
          <p:nvPr/>
        </p:nvSpPr>
        <p:spPr>
          <a:xfrm>
            <a:off x="838200" y="2320000"/>
            <a:ext cx="3371866" cy="1800000"/>
          </a:xfrm>
          <a:prstGeom prst="roundRect">
            <a:avLst>
              <a:gd name="adj" fmla="val 8000"/>
            </a:avLst>
          </a:prstGeom>
          <a:solidFill>
            <a:srgbClr val="FBF6EC"/>
          </a:solidFill>
          <a:ln w="12700">
            <a:solidFill>
              <a:srgbClr val="E0CDB0"/>
            </a:solidFill>
          </a:ln>
        </p:spPr>
        <p:txBody>
          <a:bodyPr/>
          <a:lstStyle/>
          <a:p>
            <a:endParaRPr lang="en-US"/>
          </a:p>
        </p:txBody>
      </p:sp>
      <p:sp>
        <p:nvSpPr>
          <p:cNvPr id="138" name="s138"/>
          <p:cNvSpPr/>
          <p:nvPr/>
        </p:nvSpPr>
        <p:spPr>
          <a:xfrm>
            <a:off x="838200" y="2320000"/>
            <a:ext cx="3371866" cy="110000"/>
          </a:xfrm>
          <a:prstGeom prst="roundRect">
            <a:avLst>
              <a:gd name="adj" fmla="val 20000"/>
            </a:avLst>
          </a:prstGeom>
          <a:solidFill>
            <a:srgbClr val="B4553A"/>
          </a:solidFill>
          <a:ln>
            <a:noFill/>
          </a:ln>
        </p:spPr>
        <p:txBody>
          <a:bodyPr/>
          <a:lstStyle/>
          <a:p>
            <a:endParaRPr lang="en-US"/>
          </a:p>
        </p:txBody>
      </p:sp>
      <p:sp>
        <p:nvSpPr>
          <p:cNvPr id="139" name="t139"/>
          <p:cNvSpPr txBox="1"/>
          <p:nvPr/>
        </p:nvSpPr>
        <p:spPr>
          <a:xfrm>
            <a:off x="1138200" y="2670000"/>
            <a:ext cx="2771866" cy="1300000"/>
          </a:xfrm>
          <a:prstGeom prst="rect">
            <a:avLst/>
          </a:prstGeom>
          <a:noFill/>
        </p:spPr>
        <p:txBody>
          <a:bodyPr wrap="square" lIns="0" tIns="0" rIns="0" bIns="0" anchor="t">
            <a:normAutofit/>
          </a:bodyPr>
          <a:lstStyle/>
          <a:p>
            <a:pPr algn="l">
              <a:lnSpc>
                <a:spcPct val="100000"/>
              </a:lnSpc>
              <a:spcBef>
                <a:spcPts val="0"/>
              </a:spcBef>
            </a:pPr>
            <a:r>
              <a:rPr lang="en-US" sz="1600" b="1" spc="0" dirty="0">
                <a:solidFill>
                  <a:srgbClr val="2E2A26"/>
                </a:solidFill>
                <a:latin typeface="Segoe UI"/>
                <a:cs typeface="Segoe UI"/>
              </a:rPr>
              <a:t>R — Role</a:t>
            </a:r>
          </a:p>
          <a:p>
            <a:pPr algn="l">
              <a:lnSpc>
                <a:spcPct val="118000"/>
              </a:lnSpc>
              <a:spcBef>
                <a:spcPts val="600"/>
              </a:spcBef>
            </a:pPr>
            <a:r>
              <a:rPr lang="en-US" sz="1150" b="0" spc="0" dirty="0">
                <a:solidFill>
                  <a:srgbClr val="4A423A"/>
                </a:solidFill>
                <a:latin typeface="Segoe UI"/>
                <a:cs typeface="Segoe UI"/>
              </a:rPr>
              <a:t>Tell the model who it is: 'You are an HR business partner in a 2,000-person firm.'</a:t>
            </a:r>
          </a:p>
        </p:txBody>
      </p:sp>
      <p:sp>
        <p:nvSpPr>
          <p:cNvPr id="140" name="s140"/>
          <p:cNvSpPr/>
          <p:nvPr/>
        </p:nvSpPr>
        <p:spPr>
          <a:xfrm>
            <a:off x="4410066" y="2320000"/>
            <a:ext cx="3371866" cy="1800000"/>
          </a:xfrm>
          <a:prstGeom prst="roundRect">
            <a:avLst>
              <a:gd name="adj" fmla="val 8000"/>
            </a:avLst>
          </a:prstGeom>
          <a:solidFill>
            <a:srgbClr val="FBF6EC"/>
          </a:solidFill>
          <a:ln w="12700">
            <a:solidFill>
              <a:srgbClr val="E0CDB0"/>
            </a:solidFill>
          </a:ln>
        </p:spPr>
        <p:txBody>
          <a:bodyPr/>
          <a:lstStyle/>
          <a:p>
            <a:endParaRPr lang="en-US"/>
          </a:p>
        </p:txBody>
      </p:sp>
      <p:sp>
        <p:nvSpPr>
          <p:cNvPr id="141" name="s141"/>
          <p:cNvSpPr/>
          <p:nvPr/>
        </p:nvSpPr>
        <p:spPr>
          <a:xfrm>
            <a:off x="4410066" y="2320000"/>
            <a:ext cx="3371866" cy="110000"/>
          </a:xfrm>
          <a:prstGeom prst="roundRect">
            <a:avLst>
              <a:gd name="adj" fmla="val 20000"/>
            </a:avLst>
          </a:prstGeom>
          <a:solidFill>
            <a:srgbClr val="B4553A"/>
          </a:solidFill>
          <a:ln>
            <a:noFill/>
          </a:ln>
        </p:spPr>
        <p:txBody>
          <a:bodyPr/>
          <a:lstStyle/>
          <a:p>
            <a:endParaRPr lang="en-US"/>
          </a:p>
        </p:txBody>
      </p:sp>
      <p:sp>
        <p:nvSpPr>
          <p:cNvPr id="142" name="t142"/>
          <p:cNvSpPr txBox="1"/>
          <p:nvPr/>
        </p:nvSpPr>
        <p:spPr>
          <a:xfrm>
            <a:off x="4710066" y="2670000"/>
            <a:ext cx="2771866" cy="1300000"/>
          </a:xfrm>
          <a:prstGeom prst="rect">
            <a:avLst/>
          </a:prstGeom>
          <a:noFill/>
        </p:spPr>
        <p:txBody>
          <a:bodyPr wrap="square" lIns="0" tIns="0" rIns="0" bIns="0" anchor="t">
            <a:normAutofit/>
          </a:bodyPr>
          <a:lstStyle/>
          <a:p>
            <a:pPr algn="l">
              <a:lnSpc>
                <a:spcPct val="100000"/>
              </a:lnSpc>
              <a:spcBef>
                <a:spcPts val="0"/>
              </a:spcBef>
            </a:pPr>
            <a:r>
              <a:rPr lang="en-US" sz="1600" b="1" spc="0" dirty="0">
                <a:solidFill>
                  <a:srgbClr val="2E2A26"/>
                </a:solidFill>
                <a:latin typeface="Segoe UI"/>
                <a:cs typeface="Segoe UI"/>
              </a:rPr>
              <a:t>A — Ask</a:t>
            </a:r>
          </a:p>
          <a:p>
            <a:pPr algn="l">
              <a:lnSpc>
                <a:spcPct val="118000"/>
              </a:lnSpc>
              <a:spcBef>
                <a:spcPts val="600"/>
              </a:spcBef>
            </a:pPr>
            <a:r>
              <a:rPr lang="en-US" sz="1150" b="0" spc="0" dirty="0">
                <a:solidFill>
                  <a:srgbClr val="4A423A"/>
                </a:solidFill>
                <a:latin typeface="Segoe UI"/>
                <a:cs typeface="Segoe UI"/>
              </a:rPr>
              <a:t>State the single task and the decision it supports, not a topic.</a:t>
            </a:r>
          </a:p>
        </p:txBody>
      </p:sp>
      <p:sp>
        <p:nvSpPr>
          <p:cNvPr id="143" name="s143"/>
          <p:cNvSpPr/>
          <p:nvPr/>
        </p:nvSpPr>
        <p:spPr>
          <a:xfrm>
            <a:off x="7981932" y="2320000"/>
            <a:ext cx="3371866" cy="1800000"/>
          </a:xfrm>
          <a:prstGeom prst="roundRect">
            <a:avLst>
              <a:gd name="adj" fmla="val 8000"/>
            </a:avLst>
          </a:prstGeom>
          <a:solidFill>
            <a:srgbClr val="FBF6EC"/>
          </a:solidFill>
          <a:ln w="12700">
            <a:solidFill>
              <a:srgbClr val="E0CDB0"/>
            </a:solidFill>
          </a:ln>
        </p:spPr>
        <p:txBody>
          <a:bodyPr/>
          <a:lstStyle/>
          <a:p>
            <a:endParaRPr lang="en-US"/>
          </a:p>
        </p:txBody>
      </p:sp>
      <p:sp>
        <p:nvSpPr>
          <p:cNvPr id="144" name="s144"/>
          <p:cNvSpPr/>
          <p:nvPr/>
        </p:nvSpPr>
        <p:spPr>
          <a:xfrm>
            <a:off x="7981932" y="2320000"/>
            <a:ext cx="3371866" cy="110000"/>
          </a:xfrm>
          <a:prstGeom prst="roundRect">
            <a:avLst>
              <a:gd name="adj" fmla="val 20000"/>
            </a:avLst>
          </a:prstGeom>
          <a:solidFill>
            <a:srgbClr val="B4553A"/>
          </a:solidFill>
          <a:ln>
            <a:noFill/>
          </a:ln>
        </p:spPr>
        <p:txBody>
          <a:bodyPr/>
          <a:lstStyle/>
          <a:p>
            <a:endParaRPr lang="en-US"/>
          </a:p>
        </p:txBody>
      </p:sp>
      <p:sp>
        <p:nvSpPr>
          <p:cNvPr id="145" name="t145"/>
          <p:cNvSpPr txBox="1"/>
          <p:nvPr/>
        </p:nvSpPr>
        <p:spPr>
          <a:xfrm>
            <a:off x="8281932" y="2670000"/>
            <a:ext cx="2771866" cy="1300000"/>
          </a:xfrm>
          <a:prstGeom prst="rect">
            <a:avLst/>
          </a:prstGeom>
          <a:noFill/>
        </p:spPr>
        <p:txBody>
          <a:bodyPr wrap="square" lIns="0" tIns="0" rIns="0" bIns="0" anchor="t">
            <a:normAutofit/>
          </a:bodyPr>
          <a:lstStyle/>
          <a:p>
            <a:pPr algn="l">
              <a:lnSpc>
                <a:spcPct val="100000"/>
              </a:lnSpc>
              <a:spcBef>
                <a:spcPts val="0"/>
              </a:spcBef>
            </a:pPr>
            <a:r>
              <a:rPr lang="en-US" sz="1600" b="1" spc="0" dirty="0">
                <a:solidFill>
                  <a:srgbClr val="2E2A26"/>
                </a:solidFill>
                <a:latin typeface="Segoe UI"/>
                <a:cs typeface="Segoe UI"/>
              </a:rPr>
              <a:t>C — Context</a:t>
            </a:r>
          </a:p>
          <a:p>
            <a:pPr algn="l">
              <a:lnSpc>
                <a:spcPct val="118000"/>
              </a:lnSpc>
              <a:spcBef>
                <a:spcPts val="600"/>
              </a:spcBef>
            </a:pPr>
            <a:r>
              <a:rPr lang="en-US" sz="1150" b="0" spc="0" dirty="0">
                <a:solidFill>
                  <a:srgbClr val="4A423A"/>
                </a:solidFill>
                <a:latin typeface="Segoe UI"/>
                <a:cs typeface="Segoe UI"/>
              </a:rPr>
              <a:t>Policy, headcount, geography, tone, constraints, and what must never appear.</a:t>
            </a:r>
          </a:p>
        </p:txBody>
      </p:sp>
      <p:sp>
        <p:nvSpPr>
          <p:cNvPr id="146" name="s146"/>
          <p:cNvSpPr/>
          <p:nvPr/>
        </p:nvSpPr>
        <p:spPr>
          <a:xfrm>
            <a:off x="838200" y="4320000"/>
            <a:ext cx="3371866" cy="1800000"/>
          </a:xfrm>
          <a:prstGeom prst="roundRect">
            <a:avLst>
              <a:gd name="adj" fmla="val 8000"/>
            </a:avLst>
          </a:prstGeom>
          <a:solidFill>
            <a:srgbClr val="FBF6EC"/>
          </a:solidFill>
          <a:ln w="12700">
            <a:solidFill>
              <a:srgbClr val="E0CDB0"/>
            </a:solidFill>
          </a:ln>
        </p:spPr>
        <p:txBody>
          <a:bodyPr/>
          <a:lstStyle/>
          <a:p>
            <a:endParaRPr lang="en-US"/>
          </a:p>
        </p:txBody>
      </p:sp>
      <p:sp>
        <p:nvSpPr>
          <p:cNvPr id="147" name="s147"/>
          <p:cNvSpPr/>
          <p:nvPr/>
        </p:nvSpPr>
        <p:spPr>
          <a:xfrm>
            <a:off x="838200" y="4320000"/>
            <a:ext cx="3371866" cy="110000"/>
          </a:xfrm>
          <a:prstGeom prst="roundRect">
            <a:avLst>
              <a:gd name="adj" fmla="val 20000"/>
            </a:avLst>
          </a:prstGeom>
          <a:solidFill>
            <a:srgbClr val="B4553A"/>
          </a:solidFill>
          <a:ln>
            <a:noFill/>
          </a:ln>
        </p:spPr>
        <p:txBody>
          <a:bodyPr/>
          <a:lstStyle/>
          <a:p>
            <a:endParaRPr lang="en-US"/>
          </a:p>
        </p:txBody>
      </p:sp>
      <p:sp>
        <p:nvSpPr>
          <p:cNvPr id="148" name="t148"/>
          <p:cNvSpPr txBox="1"/>
          <p:nvPr/>
        </p:nvSpPr>
        <p:spPr>
          <a:xfrm>
            <a:off x="1138200" y="4670000"/>
            <a:ext cx="2771866" cy="1300000"/>
          </a:xfrm>
          <a:prstGeom prst="rect">
            <a:avLst/>
          </a:prstGeom>
          <a:noFill/>
        </p:spPr>
        <p:txBody>
          <a:bodyPr wrap="square" lIns="0" tIns="0" rIns="0" bIns="0" anchor="t">
            <a:normAutofit/>
          </a:bodyPr>
          <a:lstStyle/>
          <a:p>
            <a:pPr algn="l">
              <a:lnSpc>
                <a:spcPct val="100000"/>
              </a:lnSpc>
              <a:spcBef>
                <a:spcPts val="0"/>
              </a:spcBef>
            </a:pPr>
            <a:r>
              <a:rPr lang="en-US" sz="1600" b="1" spc="0" dirty="0">
                <a:solidFill>
                  <a:srgbClr val="2E2A26"/>
                </a:solidFill>
                <a:latin typeface="Segoe UI"/>
                <a:cs typeface="Segoe UI"/>
              </a:rPr>
              <a:t>E — Examples</a:t>
            </a:r>
          </a:p>
          <a:p>
            <a:pPr algn="l">
              <a:lnSpc>
                <a:spcPct val="118000"/>
              </a:lnSpc>
              <a:spcBef>
                <a:spcPts val="600"/>
              </a:spcBef>
            </a:pPr>
            <a:r>
              <a:rPr lang="en-US" sz="1150" b="0" spc="0" dirty="0">
                <a:solidFill>
                  <a:srgbClr val="4A423A"/>
                </a:solidFill>
                <a:latin typeface="Segoe UI"/>
                <a:cs typeface="Segoe UI"/>
              </a:rPr>
              <a:t>Show one or two samples of the output you consider good.</a:t>
            </a:r>
          </a:p>
        </p:txBody>
      </p:sp>
      <p:sp>
        <p:nvSpPr>
          <p:cNvPr id="149" name="s149"/>
          <p:cNvSpPr/>
          <p:nvPr/>
        </p:nvSpPr>
        <p:spPr>
          <a:xfrm>
            <a:off x="4410066" y="4320000"/>
            <a:ext cx="3371866" cy="1800000"/>
          </a:xfrm>
          <a:prstGeom prst="roundRect">
            <a:avLst>
              <a:gd name="adj" fmla="val 8000"/>
            </a:avLst>
          </a:prstGeom>
          <a:solidFill>
            <a:srgbClr val="FBF6EC"/>
          </a:solidFill>
          <a:ln w="12700">
            <a:solidFill>
              <a:srgbClr val="E0CDB0"/>
            </a:solidFill>
          </a:ln>
        </p:spPr>
        <p:txBody>
          <a:bodyPr/>
          <a:lstStyle/>
          <a:p>
            <a:endParaRPr lang="en-US"/>
          </a:p>
        </p:txBody>
      </p:sp>
      <p:sp>
        <p:nvSpPr>
          <p:cNvPr id="150" name="s150"/>
          <p:cNvSpPr/>
          <p:nvPr/>
        </p:nvSpPr>
        <p:spPr>
          <a:xfrm>
            <a:off x="4410066" y="4320000"/>
            <a:ext cx="3371866" cy="110000"/>
          </a:xfrm>
          <a:prstGeom prst="roundRect">
            <a:avLst>
              <a:gd name="adj" fmla="val 20000"/>
            </a:avLst>
          </a:prstGeom>
          <a:solidFill>
            <a:srgbClr val="B4553A"/>
          </a:solidFill>
          <a:ln>
            <a:noFill/>
          </a:ln>
        </p:spPr>
        <p:txBody>
          <a:bodyPr/>
          <a:lstStyle/>
          <a:p>
            <a:endParaRPr lang="en-US"/>
          </a:p>
        </p:txBody>
      </p:sp>
      <p:sp>
        <p:nvSpPr>
          <p:cNvPr id="151" name="t151"/>
          <p:cNvSpPr txBox="1"/>
          <p:nvPr/>
        </p:nvSpPr>
        <p:spPr>
          <a:xfrm>
            <a:off x="4710066" y="4670000"/>
            <a:ext cx="2771866" cy="1300000"/>
          </a:xfrm>
          <a:prstGeom prst="rect">
            <a:avLst/>
          </a:prstGeom>
          <a:noFill/>
        </p:spPr>
        <p:txBody>
          <a:bodyPr wrap="square" lIns="0" tIns="0" rIns="0" bIns="0" anchor="t">
            <a:normAutofit/>
          </a:bodyPr>
          <a:lstStyle/>
          <a:p>
            <a:pPr algn="l">
              <a:lnSpc>
                <a:spcPct val="100000"/>
              </a:lnSpc>
              <a:spcBef>
                <a:spcPts val="0"/>
              </a:spcBef>
            </a:pPr>
            <a:r>
              <a:rPr lang="en-US" sz="1600" b="1" spc="0" dirty="0">
                <a:solidFill>
                  <a:srgbClr val="2E2A26"/>
                </a:solidFill>
                <a:latin typeface="Segoe UI"/>
                <a:cs typeface="Segoe UI"/>
              </a:rPr>
              <a:t>F — Format</a:t>
            </a:r>
          </a:p>
          <a:p>
            <a:pPr algn="l">
              <a:lnSpc>
                <a:spcPct val="118000"/>
              </a:lnSpc>
              <a:spcBef>
                <a:spcPts val="600"/>
              </a:spcBef>
            </a:pPr>
            <a:r>
              <a:rPr lang="en-US" sz="1150" b="0" spc="0" dirty="0">
                <a:solidFill>
                  <a:srgbClr val="4A423A"/>
                </a:solidFill>
                <a:latin typeface="Segoe UI"/>
                <a:cs typeface="Segoe UI"/>
              </a:rPr>
              <a:t>Name the shape: table, 200-word email, five bullets, JSON fields.</a:t>
            </a:r>
          </a:p>
        </p:txBody>
      </p:sp>
      <p:sp>
        <p:nvSpPr>
          <p:cNvPr id="152" name="s152"/>
          <p:cNvSpPr/>
          <p:nvPr/>
        </p:nvSpPr>
        <p:spPr>
          <a:xfrm>
            <a:off x="7981932" y="4320000"/>
            <a:ext cx="3371866" cy="1800000"/>
          </a:xfrm>
          <a:prstGeom prst="roundRect">
            <a:avLst>
              <a:gd name="adj" fmla="val 8000"/>
            </a:avLst>
          </a:prstGeom>
          <a:solidFill>
            <a:srgbClr val="FBF6EC"/>
          </a:solidFill>
          <a:ln w="12700">
            <a:solidFill>
              <a:srgbClr val="E0CDB0"/>
            </a:solidFill>
          </a:ln>
        </p:spPr>
        <p:txBody>
          <a:bodyPr/>
          <a:lstStyle/>
          <a:p>
            <a:endParaRPr lang="en-US"/>
          </a:p>
        </p:txBody>
      </p:sp>
      <p:sp>
        <p:nvSpPr>
          <p:cNvPr id="153" name="s153"/>
          <p:cNvSpPr/>
          <p:nvPr/>
        </p:nvSpPr>
        <p:spPr>
          <a:xfrm>
            <a:off x="7981932" y="4320000"/>
            <a:ext cx="3371866" cy="110000"/>
          </a:xfrm>
          <a:prstGeom prst="roundRect">
            <a:avLst>
              <a:gd name="adj" fmla="val 20000"/>
            </a:avLst>
          </a:prstGeom>
          <a:solidFill>
            <a:srgbClr val="B4553A"/>
          </a:solidFill>
          <a:ln>
            <a:noFill/>
          </a:ln>
        </p:spPr>
        <p:txBody>
          <a:bodyPr/>
          <a:lstStyle/>
          <a:p>
            <a:endParaRPr lang="en-US"/>
          </a:p>
        </p:txBody>
      </p:sp>
      <p:sp>
        <p:nvSpPr>
          <p:cNvPr id="154" name="t154"/>
          <p:cNvSpPr txBox="1"/>
          <p:nvPr/>
        </p:nvSpPr>
        <p:spPr>
          <a:xfrm>
            <a:off x="8281932" y="4670000"/>
            <a:ext cx="2771866" cy="1300000"/>
          </a:xfrm>
          <a:prstGeom prst="rect">
            <a:avLst/>
          </a:prstGeom>
          <a:noFill/>
        </p:spPr>
        <p:txBody>
          <a:bodyPr wrap="square" lIns="0" tIns="0" rIns="0" bIns="0" anchor="t">
            <a:normAutofit/>
          </a:bodyPr>
          <a:lstStyle/>
          <a:p>
            <a:pPr algn="l">
              <a:lnSpc>
                <a:spcPct val="100000"/>
              </a:lnSpc>
              <a:spcBef>
                <a:spcPts val="0"/>
              </a:spcBef>
            </a:pPr>
            <a:r>
              <a:rPr lang="en-US" sz="1600" b="1" spc="0" dirty="0">
                <a:solidFill>
                  <a:srgbClr val="2E2A26"/>
                </a:solidFill>
                <a:latin typeface="Segoe UI"/>
                <a:cs typeface="Segoe UI"/>
              </a:rPr>
              <a:t>+ Guardrails</a:t>
            </a:r>
          </a:p>
          <a:p>
            <a:pPr algn="l">
              <a:lnSpc>
                <a:spcPct val="118000"/>
              </a:lnSpc>
              <a:spcBef>
                <a:spcPts val="600"/>
              </a:spcBef>
            </a:pPr>
            <a:r>
              <a:rPr lang="en-US" sz="1150" b="0" spc="0" dirty="0">
                <a:solidFill>
                  <a:srgbClr val="4A423A"/>
                </a:solidFill>
                <a:latin typeface="Segoe UI"/>
                <a:cs typeface="Segoe UI"/>
              </a:rPr>
              <a:t>No personal data, flag assumptions, cite the policy clause used.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110"/>
          <p:cNvSpPr/>
          <p:nvPr/>
        </p:nvSpPr>
        <p:spPr>
          <a:xfrm>
            <a:off x="0" y="0"/>
            <a:ext cx="12192000" cy="6858000"/>
          </a:xfrm>
          <a:prstGeom prst="rect">
            <a:avLst/>
          </a:prstGeom>
          <a:solidFill>
            <a:srgbClr val="F3EBDD"/>
          </a:solidFill>
          <a:ln>
            <a:noFill/>
          </a:ln>
        </p:spPr>
        <p:txBody>
          <a:bodyPr/>
          <a:lstStyle/>
          <a:p>
            <a:endParaRPr lang="en-US"/>
          </a:p>
        </p:txBody>
      </p:sp>
      <p:sp>
        <p:nvSpPr>
          <p:cNvPr id="111" name="s111"/>
          <p:cNvSpPr/>
          <p:nvPr/>
        </p:nvSpPr>
        <p:spPr>
          <a:xfrm>
            <a:off x="0" y="0"/>
            <a:ext cx="12192000" cy="80000"/>
          </a:xfrm>
          <a:prstGeom prst="rect">
            <a:avLst/>
          </a:prstGeom>
          <a:solidFill>
            <a:srgbClr val="B4553A"/>
          </a:solidFill>
          <a:ln>
            <a:noFill/>
          </a:ln>
        </p:spPr>
        <p:txBody>
          <a:bodyPr/>
          <a:lstStyle/>
          <a:p>
            <a:endParaRPr lang="en-US"/>
          </a:p>
        </p:txBody>
      </p:sp>
      <p:sp>
        <p:nvSpPr>
          <p:cNvPr id="112" name="s112"/>
          <p:cNvSpPr/>
          <p:nvPr/>
        </p:nvSpPr>
        <p:spPr>
          <a:xfrm>
            <a:off x="838200" y="520700"/>
            <a:ext cx="180000" cy="180000"/>
          </a:xfrm>
          <a:prstGeom prst="ellipse">
            <a:avLst/>
          </a:prstGeom>
          <a:solidFill>
            <a:srgbClr val="7A7A4E"/>
          </a:solidFill>
          <a:ln>
            <a:noFill/>
          </a:ln>
        </p:spPr>
        <p:txBody>
          <a:bodyPr/>
          <a:lstStyle/>
          <a:p>
            <a:endParaRPr lang="en-US"/>
          </a:p>
        </p:txBody>
      </p:sp>
      <p:sp>
        <p:nvSpPr>
          <p:cNvPr id="113" name="t113"/>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THE </a:t>
            </a:r>
            <a:r>
              <a:rPr lang="en-US" sz="1200" b="1" spc="300">
                <a:solidFill>
                  <a:srgbClr val="7A7A4E"/>
                </a:solidFill>
                <a:latin typeface="Segoe UI"/>
                <a:cs typeface="Segoe UI"/>
              </a:rPr>
              <a:t>EXPANDED FRAMEWORK</a:t>
            </a:r>
            <a:endParaRPr lang="en-US" sz="1200" b="1" spc="300" dirty="0">
              <a:solidFill>
                <a:srgbClr val="7A7A4E"/>
              </a:solidFill>
              <a:latin typeface="Segoe UI"/>
              <a:cs typeface="Segoe UI"/>
            </a:endParaRPr>
          </a:p>
        </p:txBody>
      </p:sp>
      <p:sp>
        <p:nvSpPr>
          <p:cNvPr id="114" name="t114"/>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a:solidFill>
                  <a:srgbClr val="2E2A26"/>
                </a:solidFill>
                <a:latin typeface="Georgia"/>
                <a:cs typeface="Georgia"/>
              </a:rPr>
              <a:t>H.R. S.M.A.R.T</a:t>
            </a:r>
            <a:r>
              <a:rPr lang="en-US" sz="3000" b="1" spc="0" dirty="0">
                <a:solidFill>
                  <a:srgbClr val="2E2A26"/>
                </a:solidFill>
                <a:latin typeface="Georgia"/>
                <a:cs typeface="Georgia"/>
              </a:rPr>
              <a:t>, </a:t>
            </a:r>
            <a:r>
              <a:rPr lang="en-US" sz="3000" b="1" spc="0">
                <a:solidFill>
                  <a:srgbClr val="2E2A26"/>
                </a:solidFill>
                <a:latin typeface="Georgia"/>
                <a:cs typeface="Georgia"/>
              </a:rPr>
              <a:t>Element by Element</a:t>
            </a:r>
            <a:endParaRPr lang="en-US" sz="3000" b="1" spc="0" dirty="0">
              <a:solidFill>
                <a:srgbClr val="2E2A26"/>
              </a:solidFill>
              <a:latin typeface="Georgia"/>
              <a:cs typeface="Georgia"/>
            </a:endParaRPr>
          </a:p>
        </p:txBody>
      </p:sp>
      <p:sp>
        <p:nvSpPr>
          <p:cNvPr id="115" name="s115"/>
          <p:cNvSpPr/>
          <p:nvPr/>
        </p:nvSpPr>
        <p:spPr>
          <a:xfrm>
            <a:off x="838200" y="1540000"/>
            <a:ext cx="3200000" cy="26000"/>
          </a:xfrm>
          <a:prstGeom prst="rect">
            <a:avLst/>
          </a:prstGeom>
          <a:solidFill>
            <a:srgbClr val="B4553A"/>
          </a:solidFill>
          <a:ln>
            <a:noFill/>
          </a:ln>
        </p:spPr>
        <p:txBody>
          <a:bodyPr/>
          <a:lstStyle/>
          <a:p>
            <a:endParaRPr lang="en-US"/>
          </a:p>
        </p:txBody>
      </p:sp>
      <p:sp>
        <p:nvSpPr>
          <p:cNvPr id="116" name="t116"/>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a:solidFill>
                  <a:srgbClr val="4A423A"/>
                </a:solidFill>
                <a:latin typeface="Segoe UI"/>
                <a:cs typeface="Segoe UI"/>
              </a:rPr>
              <a:t>Seven named parts that expand R-A-C-E-F. Use </a:t>
            </a:r>
            <a:r>
              <a:rPr lang="en-US" sz="1300" b="0" spc="0" dirty="0">
                <a:solidFill>
                  <a:srgbClr val="4A423A"/>
                </a:solidFill>
                <a:latin typeface="Segoe UI"/>
                <a:cs typeface="Segoe UI"/>
              </a:rPr>
              <a:t>the </a:t>
            </a:r>
            <a:r>
              <a:rPr lang="en-US" sz="1300" b="0" spc="0">
                <a:solidFill>
                  <a:srgbClr val="4A423A"/>
                </a:solidFill>
                <a:latin typeface="Segoe UI"/>
                <a:cs typeface="Segoe UI"/>
              </a:rPr>
              <a:t>full set for high-stakes HR work</a:t>
            </a:r>
            <a:r>
              <a:rPr lang="en-US" sz="1300" b="0" spc="0" dirty="0">
                <a:solidFill>
                  <a:srgbClr val="4A423A"/>
                </a:solidFill>
                <a:latin typeface="Segoe UI"/>
                <a:cs typeface="Segoe UI"/>
              </a:rPr>
              <a:t>, and the </a:t>
            </a:r>
            <a:r>
              <a:rPr lang="en-US" sz="1300" b="0" spc="0">
                <a:solidFill>
                  <a:srgbClr val="4A423A"/>
                </a:solidFill>
                <a:latin typeface="Segoe UI"/>
                <a:cs typeface="Segoe UI"/>
              </a:rPr>
              <a:t>smallest useful subset for quick tasks</a:t>
            </a:r>
            <a:r>
              <a:rPr lang="en-US" sz="1300" b="0" spc="0" dirty="0">
                <a:solidFill>
                  <a:srgbClr val="4A423A"/>
                </a:solidFill>
                <a:latin typeface="Segoe UI"/>
                <a:cs typeface="Segoe UI"/>
              </a:rPr>
              <a:t>.</a:t>
            </a:r>
          </a:p>
        </p:txBody>
      </p:sp>
      <p:sp>
        <p:nvSpPr>
          <p:cNvPr id="117" name="s117"/>
          <p:cNvSpPr/>
          <p:nvPr/>
        </p:nvSpPr>
        <p:spPr>
          <a:xfrm>
            <a:off x="838200" y="6420000"/>
            <a:ext cx="10515600" cy="12700"/>
          </a:xfrm>
          <a:prstGeom prst="rect">
            <a:avLst/>
          </a:prstGeom>
          <a:solidFill>
            <a:srgbClr val="E0CDB0"/>
          </a:solidFill>
          <a:ln>
            <a:noFill/>
          </a:ln>
        </p:spPr>
        <p:txBody>
          <a:bodyPr/>
          <a:lstStyle/>
          <a:p>
            <a:endParaRPr lang="en-US"/>
          </a:p>
        </p:txBody>
      </p:sp>
      <p:sp>
        <p:nvSpPr>
          <p:cNvPr id="118" name="t118"/>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a:solidFill>
                  <a:srgbClr val="4A423A"/>
                </a:solidFill>
                <a:latin typeface="Segoe UI"/>
                <a:cs typeface="Segoe UI"/>
              </a:rPr>
              <a:t>H.R. S.M.A.R.T prompting framework</a:t>
            </a:r>
            <a:endParaRPr lang="en-US" sz="1000" b="0" spc="200" dirty="0">
              <a:solidFill>
                <a:srgbClr val="4A423A"/>
              </a:solidFill>
              <a:latin typeface="Segoe UI"/>
              <a:cs typeface="Segoe UI"/>
            </a:endParaRPr>
          </a:p>
        </p:txBody>
      </p:sp>
      <p:sp>
        <p:nvSpPr>
          <p:cNvPr id="119" name="s119"/>
          <p:cNvSpPr/>
          <p:nvPr/>
        </p:nvSpPr>
        <p:spPr>
          <a:xfrm>
            <a:off x="838200" y="2320000"/>
            <a:ext cx="3345200" cy="2450000"/>
          </a:xfrm>
          <a:prstGeom prst="roundRect">
            <a:avLst>
              <a:gd name="adj" fmla="val 7000"/>
            </a:avLst>
          </a:prstGeom>
          <a:solidFill>
            <a:srgbClr val="FBF6EC"/>
          </a:solidFill>
          <a:ln w="12700">
            <a:solidFill>
              <a:srgbClr val="E0CDB0"/>
            </a:solidFill>
          </a:ln>
        </p:spPr>
        <p:txBody>
          <a:bodyPr/>
          <a:lstStyle/>
          <a:p>
            <a:endParaRPr lang="en-US"/>
          </a:p>
        </p:txBody>
      </p:sp>
      <p:sp>
        <p:nvSpPr>
          <p:cNvPr id="120" name="s120"/>
          <p:cNvSpPr/>
          <p:nvPr/>
        </p:nvSpPr>
        <p:spPr>
          <a:xfrm>
            <a:off x="838200" y="2320000"/>
            <a:ext cx="3345200" cy="120000"/>
          </a:xfrm>
          <a:prstGeom prst="roundRect">
            <a:avLst>
              <a:gd name="adj" fmla="val 20000"/>
            </a:avLst>
          </a:prstGeom>
          <a:solidFill>
            <a:srgbClr val="B4553A"/>
          </a:solidFill>
          <a:ln>
            <a:noFill/>
          </a:ln>
        </p:spPr>
        <p:txBody>
          <a:bodyPr/>
          <a:lstStyle/>
          <a:p>
            <a:endParaRPr lang="en-US"/>
          </a:p>
        </p:txBody>
      </p:sp>
      <p:sp>
        <p:nvSpPr>
          <p:cNvPr id="121" name="t121"/>
          <p:cNvSpPr txBox="1"/>
          <p:nvPr/>
        </p:nvSpPr>
        <p:spPr>
          <a:xfrm>
            <a:off x="1138200" y="2650000"/>
            <a:ext cx="2745200" cy="1890000"/>
          </a:xfrm>
          <a:prstGeom prst="rect">
            <a:avLst/>
          </a:prstGeom>
          <a:noFill/>
        </p:spPr>
        <p:txBody>
          <a:bodyPr wrap="square" lIns="0" tIns="0" rIns="0" bIns="0" anchor="t">
            <a:normAutofit/>
          </a:bodyPr>
          <a:lstStyle/>
          <a:p>
            <a:pPr algn="l">
              <a:lnSpc>
                <a:spcPct val="100000"/>
              </a:lnSpc>
              <a:spcBef>
                <a:spcPts val="0"/>
              </a:spcBef>
            </a:pPr>
            <a:r>
              <a:rPr lang="en-US" sz="1600" b="1" spc="0">
                <a:solidFill>
                  <a:srgbClr val="2E2A26"/>
                </a:solidFill>
                <a:latin typeface="Segoe UI"/>
                <a:cs typeface="Segoe UI"/>
              </a:rPr>
              <a:t>Build the Brief</a:t>
            </a:r>
            <a:endParaRPr lang="en-US" sz="1600" b="1" spc="0" dirty="0">
              <a:solidFill>
                <a:srgbClr val="2E2A26"/>
              </a:solidFill>
              <a:latin typeface="Segoe UI"/>
              <a:cs typeface="Segoe UI"/>
            </a:endParaRPr>
          </a:p>
          <a:p>
            <a:pPr algn="l">
              <a:lnSpc>
                <a:spcPct val="100000"/>
              </a:lnSpc>
              <a:spcBef>
                <a:spcPts val="250"/>
              </a:spcBef>
            </a:pPr>
            <a:r>
              <a:rPr lang="en-US" sz="1050" b="1" spc="100">
                <a:solidFill>
                  <a:srgbClr val="B4553A"/>
                </a:solidFill>
                <a:latin typeface="Segoe UI"/>
                <a:cs typeface="Segoe UI"/>
              </a:rPr>
              <a:t>H  R  S  M</a:t>
            </a:r>
            <a:endParaRPr lang="en-US" sz="1050" b="1" spc="100" dirty="0">
              <a:solidFill>
                <a:srgbClr val="B455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H — Human role: the expertise to adopt</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R — Request: the exact deliverable</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S — Situation: context and known facts</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M — Members: audience and stakeholders</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Only job-relevant detail, nothing more</a:t>
            </a:r>
            <a:endParaRPr lang="en-US" sz="1100" b="0" spc="0" dirty="0">
              <a:solidFill>
                <a:srgbClr val="4A423A"/>
              </a:solidFill>
              <a:latin typeface="Segoe UI"/>
              <a:cs typeface="Segoe UI"/>
            </a:endParaRPr>
          </a:p>
        </p:txBody>
      </p:sp>
      <p:sp>
        <p:nvSpPr>
          <p:cNvPr id="122" name="s122"/>
          <p:cNvSpPr/>
          <p:nvPr/>
        </p:nvSpPr>
        <p:spPr>
          <a:xfrm>
            <a:off x="4423400" y="2320000"/>
            <a:ext cx="3345200" cy="2450000"/>
          </a:xfrm>
          <a:prstGeom prst="roundRect">
            <a:avLst>
              <a:gd name="adj" fmla="val 7000"/>
            </a:avLst>
          </a:prstGeom>
          <a:solidFill>
            <a:srgbClr val="FBF6EC"/>
          </a:solidFill>
          <a:ln w="12700">
            <a:solidFill>
              <a:srgbClr val="E0CDB0"/>
            </a:solidFill>
          </a:ln>
        </p:spPr>
        <p:txBody>
          <a:bodyPr/>
          <a:lstStyle/>
          <a:p>
            <a:endParaRPr lang="en-US"/>
          </a:p>
        </p:txBody>
      </p:sp>
      <p:sp>
        <p:nvSpPr>
          <p:cNvPr id="123" name="s123"/>
          <p:cNvSpPr/>
          <p:nvPr/>
        </p:nvSpPr>
        <p:spPr>
          <a:xfrm>
            <a:off x="4423400" y="2320000"/>
            <a:ext cx="3345200" cy="120000"/>
          </a:xfrm>
          <a:prstGeom prst="roundRect">
            <a:avLst>
              <a:gd name="adj" fmla="val 20000"/>
            </a:avLst>
          </a:prstGeom>
          <a:solidFill>
            <a:srgbClr val="B4553A"/>
          </a:solidFill>
          <a:ln>
            <a:noFill/>
          </a:ln>
        </p:spPr>
        <p:txBody>
          <a:bodyPr/>
          <a:lstStyle/>
          <a:p>
            <a:endParaRPr lang="en-US"/>
          </a:p>
        </p:txBody>
      </p:sp>
      <p:sp>
        <p:nvSpPr>
          <p:cNvPr id="124" name="t124"/>
          <p:cNvSpPr txBox="1"/>
          <p:nvPr/>
        </p:nvSpPr>
        <p:spPr>
          <a:xfrm>
            <a:off x="4723400" y="2650000"/>
            <a:ext cx="2745200" cy="1890000"/>
          </a:xfrm>
          <a:prstGeom prst="rect">
            <a:avLst/>
          </a:prstGeom>
          <a:noFill/>
        </p:spPr>
        <p:txBody>
          <a:bodyPr wrap="square" lIns="0" tIns="0" rIns="0" bIns="0" anchor="t">
            <a:normAutofit/>
          </a:bodyPr>
          <a:lstStyle/>
          <a:p>
            <a:pPr algn="l">
              <a:lnSpc>
                <a:spcPct val="100000"/>
              </a:lnSpc>
              <a:spcBef>
                <a:spcPts val="0"/>
              </a:spcBef>
            </a:pPr>
            <a:r>
              <a:rPr lang="en-US" sz="1600" b="1" spc="0">
                <a:solidFill>
                  <a:srgbClr val="2E2A26"/>
                </a:solidFill>
                <a:latin typeface="Segoe UI"/>
                <a:cs typeface="Segoe UI"/>
              </a:rPr>
              <a:t>Shape the Output</a:t>
            </a:r>
            <a:endParaRPr lang="en-US" sz="1600" b="1" spc="0" dirty="0">
              <a:solidFill>
                <a:srgbClr val="2E2A26"/>
              </a:solidFill>
              <a:latin typeface="Segoe UI"/>
              <a:cs typeface="Segoe UI"/>
            </a:endParaRPr>
          </a:p>
          <a:p>
            <a:pPr algn="l">
              <a:lnSpc>
                <a:spcPct val="100000"/>
              </a:lnSpc>
              <a:spcBef>
                <a:spcPts val="250"/>
              </a:spcBef>
            </a:pPr>
            <a:r>
              <a:rPr lang="en-US" sz="1050" b="1" spc="100">
                <a:solidFill>
                  <a:srgbClr val="B4553A"/>
                </a:solidFill>
                <a:latin typeface="Segoe UI"/>
                <a:cs typeface="Segoe UI"/>
              </a:rPr>
              <a:t>A  R  T</a:t>
            </a:r>
            <a:endParaRPr lang="en-US" sz="1050" b="1" spc="100" dirty="0">
              <a:solidFill>
                <a:srgbClr val="B455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A — Action: decisions and next steps</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R — Response format: table, email, FAQ</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T — Tone: length, policy, review</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Turns context into a usable draft</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The people decision stays human</a:t>
            </a:r>
            <a:endParaRPr lang="en-US" sz="1100" b="0" spc="0" dirty="0">
              <a:solidFill>
                <a:srgbClr val="4A423A"/>
              </a:solidFill>
              <a:latin typeface="Segoe UI"/>
              <a:cs typeface="Segoe UI"/>
            </a:endParaRPr>
          </a:p>
        </p:txBody>
      </p:sp>
      <p:sp>
        <p:nvSpPr>
          <p:cNvPr id="125" name="s125"/>
          <p:cNvSpPr/>
          <p:nvPr/>
        </p:nvSpPr>
        <p:spPr>
          <a:xfrm>
            <a:off x="8008600" y="2320000"/>
            <a:ext cx="3345200" cy="2450000"/>
          </a:xfrm>
          <a:prstGeom prst="roundRect">
            <a:avLst>
              <a:gd name="adj" fmla="val 7000"/>
            </a:avLst>
          </a:prstGeom>
          <a:solidFill>
            <a:srgbClr val="FBF6EC"/>
          </a:solidFill>
          <a:ln w="12700">
            <a:solidFill>
              <a:srgbClr val="E0CDB0"/>
            </a:solidFill>
          </a:ln>
        </p:spPr>
        <p:txBody>
          <a:bodyPr/>
          <a:lstStyle/>
          <a:p>
            <a:endParaRPr lang="en-US"/>
          </a:p>
        </p:txBody>
      </p:sp>
      <p:sp>
        <p:nvSpPr>
          <p:cNvPr id="126" name="s126"/>
          <p:cNvSpPr/>
          <p:nvPr/>
        </p:nvSpPr>
        <p:spPr>
          <a:xfrm>
            <a:off x="8008600" y="2320000"/>
            <a:ext cx="3345200" cy="120000"/>
          </a:xfrm>
          <a:prstGeom prst="roundRect">
            <a:avLst>
              <a:gd name="adj" fmla="val 20000"/>
            </a:avLst>
          </a:prstGeom>
          <a:solidFill>
            <a:srgbClr val="B4553A"/>
          </a:solidFill>
          <a:ln>
            <a:noFill/>
          </a:ln>
        </p:spPr>
        <p:txBody>
          <a:bodyPr/>
          <a:lstStyle/>
          <a:p>
            <a:endParaRPr lang="en-US"/>
          </a:p>
        </p:txBody>
      </p:sp>
      <p:sp>
        <p:nvSpPr>
          <p:cNvPr id="127" name="t127"/>
          <p:cNvSpPr txBox="1"/>
          <p:nvPr/>
        </p:nvSpPr>
        <p:spPr>
          <a:xfrm>
            <a:off x="8308600" y="2650000"/>
            <a:ext cx="2745200" cy="1890000"/>
          </a:xfrm>
          <a:prstGeom prst="rect">
            <a:avLst/>
          </a:prstGeom>
          <a:noFill/>
        </p:spPr>
        <p:txBody>
          <a:bodyPr wrap="square" lIns="0" tIns="0" rIns="0" bIns="0" anchor="t">
            <a:normAutofit/>
          </a:bodyPr>
          <a:lstStyle/>
          <a:p>
            <a:pPr algn="l">
              <a:lnSpc>
                <a:spcPct val="100000"/>
              </a:lnSpc>
              <a:spcBef>
                <a:spcPts val="0"/>
              </a:spcBef>
            </a:pPr>
            <a:r>
              <a:rPr lang="en-US" sz="1600" b="1" spc="0">
                <a:solidFill>
                  <a:srgbClr val="2E2A26"/>
                </a:solidFill>
                <a:latin typeface="Segoe UI"/>
                <a:cs typeface="Segoe UI"/>
              </a:rPr>
              <a:t>Maps to R-A-C-E-F</a:t>
            </a:r>
          </a:p>
          <a:p>
            <a:pPr algn="l">
              <a:lnSpc>
                <a:spcPct val="100000"/>
              </a:lnSpc>
              <a:spcBef>
                <a:spcPts val="250"/>
              </a:spcBef>
            </a:pPr>
            <a:r>
              <a:rPr lang="en-US" sz="1050" b="1" spc="100">
                <a:solidFill>
                  <a:srgbClr val="B4553A"/>
                </a:solidFill>
                <a:latin typeface="Segoe UI"/>
                <a:cs typeface="Segoe UI"/>
              </a:rPr>
              <a:t>R  A  C  E  F</a:t>
            </a:r>
            <a:endParaRPr lang="en-US" sz="1050" b="1" spc="100" dirty="0">
              <a:solidFill>
                <a:srgbClr val="B455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Role becomes H, the human role</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Ask becomes R and A</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Context becomes S and M</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Format becomes R, response format</a:t>
            </a:r>
            <a:endParaRPr lang="en-US" sz="1100" b="0" spc="0" dirty="0">
              <a:solidFill>
                <a:srgbClr val="4A423A"/>
              </a:solidFill>
              <a:latin typeface="Segoe UI"/>
              <a:cs typeface="Segoe UI"/>
            </a:endParaRPr>
          </a:p>
          <a:p>
            <a:pPr algn="l">
              <a:lnSpc>
                <a:spcPct val="112000"/>
              </a:lnSpc>
              <a:spcBef>
                <a:spcPts val="520"/>
              </a:spcBef>
            </a:pPr>
            <a:r>
              <a:rPr lang="en-US" sz="1050" b="1" spc="0" dirty="0">
                <a:solidFill>
                  <a:srgbClr val="B4553A"/>
                </a:solidFill>
                <a:latin typeface="Segoe UI"/>
                <a:cs typeface="Segoe UI"/>
              </a:rPr>
              <a:t>— </a:t>
            </a:r>
            <a:r>
              <a:rPr lang="en-US" sz="1100" b="0" spc="0">
                <a:solidFill>
                  <a:srgbClr val="4A423A"/>
                </a:solidFill>
                <a:latin typeface="Segoe UI"/>
                <a:cs typeface="Segoe UI"/>
              </a:rPr>
              <a:t>Guardrails become T</a:t>
            </a:r>
            <a:endParaRPr lang="en-US" sz="1100" b="0" spc="0" dirty="0">
              <a:solidFill>
                <a:srgbClr val="4A423A"/>
              </a:solidFill>
              <a:latin typeface="Segoe UI"/>
              <a:cs typeface="Segoe UI"/>
            </a:endParaRPr>
          </a:p>
        </p:txBody>
      </p:sp>
      <p:sp>
        <p:nvSpPr>
          <p:cNvPr id="128" name="t128"/>
          <p:cNvSpPr txBox="1"/>
          <p:nvPr/>
        </p:nvSpPr>
        <p:spPr>
          <a:xfrm>
            <a:off x="838200" y="4890000"/>
            <a:ext cx="10515600" cy="240000"/>
          </a:xfrm>
          <a:prstGeom prst="rect">
            <a:avLst/>
          </a:prstGeom>
          <a:noFill/>
        </p:spPr>
        <p:txBody>
          <a:bodyPr wrap="square" lIns="0" tIns="0" rIns="0" bIns="0" anchor="t">
            <a:normAutofit/>
          </a:bodyPr>
          <a:lstStyle/>
          <a:p>
            <a:pPr algn="l">
              <a:lnSpc>
                <a:spcPct val="100000"/>
              </a:lnSpc>
              <a:spcBef>
                <a:spcPts val="0"/>
              </a:spcBef>
            </a:pPr>
            <a:r>
              <a:rPr lang="en-US" sz="1000" b="1" spc="200">
                <a:solidFill>
                  <a:srgbClr val="7A7A4E"/>
                </a:solidFill>
                <a:latin typeface="Segoe UI"/>
                <a:cs typeface="Segoe UI"/>
              </a:rPr>
              <a:t>USE THE FULL SET WHEN</a:t>
            </a:r>
            <a:endParaRPr lang="en-US" sz="1000" b="1" spc="200" dirty="0">
              <a:solidFill>
                <a:srgbClr val="7A7A4E"/>
              </a:solidFill>
              <a:latin typeface="Segoe UI"/>
              <a:cs typeface="Segoe UI"/>
            </a:endParaRPr>
          </a:p>
        </p:txBody>
      </p:sp>
      <p:sp>
        <p:nvSpPr>
          <p:cNvPr id="129" name="s129"/>
          <p:cNvSpPr/>
          <p:nvPr/>
        </p:nvSpPr>
        <p:spPr>
          <a:xfrm>
            <a:off x="838200" y="5190000"/>
            <a:ext cx="2478900" cy="930000"/>
          </a:xfrm>
          <a:prstGeom prst="roundRect">
            <a:avLst>
              <a:gd name="adj" fmla="val 12000"/>
            </a:avLst>
          </a:prstGeom>
          <a:solidFill>
            <a:srgbClr val="F6EEE0"/>
          </a:solidFill>
          <a:ln w="12700">
            <a:solidFill>
              <a:srgbClr val="E0CDB0"/>
            </a:solidFill>
          </a:ln>
        </p:spPr>
        <p:txBody>
          <a:bodyPr/>
          <a:lstStyle/>
          <a:p>
            <a:endParaRPr lang="en-US"/>
          </a:p>
        </p:txBody>
      </p:sp>
      <p:sp>
        <p:nvSpPr>
          <p:cNvPr id="130" name="t130"/>
          <p:cNvSpPr txBox="1"/>
          <p:nvPr/>
        </p:nvSpPr>
        <p:spPr>
          <a:xfrm>
            <a:off x="1078200" y="5190000"/>
            <a:ext cx="1998900" cy="930000"/>
          </a:xfrm>
          <a:prstGeom prst="rect">
            <a:avLst/>
          </a:prstGeom>
          <a:noFill/>
        </p:spPr>
        <p:txBody>
          <a:bodyPr wrap="square" lIns="0" tIns="0" rIns="0" bIns="0" anchor="ctr">
            <a:normAutofit/>
          </a:bodyPr>
          <a:lstStyle/>
          <a:p>
            <a:pPr algn="l">
              <a:lnSpc>
                <a:spcPct val="100000"/>
              </a:lnSpc>
              <a:spcBef>
                <a:spcPts val="0"/>
              </a:spcBef>
            </a:pPr>
            <a:r>
              <a:rPr lang="en-US" sz="1200" b="1" spc="100">
                <a:solidFill>
                  <a:srgbClr val="B4553A"/>
                </a:solidFill>
                <a:latin typeface="Segoe UI"/>
                <a:cs typeface="Segoe UI"/>
              </a:rPr>
              <a:t>High stakes</a:t>
            </a:r>
            <a:endParaRPr lang="en-US" sz="1200" b="1" spc="100" dirty="0">
              <a:solidFill>
                <a:srgbClr val="B4553A"/>
              </a:solidFill>
              <a:latin typeface="Segoe UI"/>
              <a:cs typeface="Segoe UI"/>
            </a:endParaRPr>
          </a:p>
          <a:p>
            <a:pPr algn="l">
              <a:lnSpc>
                <a:spcPct val="100000"/>
              </a:lnSpc>
              <a:spcBef>
                <a:spcPts val="250"/>
              </a:spcBef>
            </a:pPr>
            <a:r>
              <a:rPr lang="en-US" sz="1100" b="0" spc="0">
                <a:solidFill>
                  <a:srgbClr val="4A423A"/>
                </a:solidFill>
                <a:latin typeface="Segoe UI"/>
                <a:cs typeface="Segoe UI"/>
              </a:rPr>
              <a:t>Pay, performance, exits</a:t>
            </a:r>
            <a:endParaRPr lang="en-US" sz="1100" b="0" spc="0" dirty="0">
              <a:solidFill>
                <a:srgbClr val="4A423A"/>
              </a:solidFill>
              <a:latin typeface="Segoe UI"/>
              <a:cs typeface="Segoe UI"/>
            </a:endParaRPr>
          </a:p>
        </p:txBody>
      </p:sp>
      <p:sp>
        <p:nvSpPr>
          <p:cNvPr id="131" name="s131"/>
          <p:cNvSpPr/>
          <p:nvPr/>
        </p:nvSpPr>
        <p:spPr>
          <a:xfrm>
            <a:off x="3517100" y="5190000"/>
            <a:ext cx="2478900" cy="930000"/>
          </a:xfrm>
          <a:prstGeom prst="roundRect">
            <a:avLst>
              <a:gd name="adj" fmla="val 12000"/>
            </a:avLst>
          </a:prstGeom>
          <a:solidFill>
            <a:srgbClr val="F6EEE0"/>
          </a:solidFill>
          <a:ln w="12700">
            <a:solidFill>
              <a:srgbClr val="E0CDB0"/>
            </a:solidFill>
          </a:ln>
        </p:spPr>
        <p:txBody>
          <a:bodyPr/>
          <a:lstStyle/>
          <a:p>
            <a:endParaRPr lang="en-US"/>
          </a:p>
        </p:txBody>
      </p:sp>
      <p:sp>
        <p:nvSpPr>
          <p:cNvPr id="132" name="t132"/>
          <p:cNvSpPr txBox="1"/>
          <p:nvPr/>
        </p:nvSpPr>
        <p:spPr>
          <a:xfrm>
            <a:off x="3757100" y="5190000"/>
            <a:ext cx="1998900" cy="930000"/>
          </a:xfrm>
          <a:prstGeom prst="rect">
            <a:avLst/>
          </a:prstGeom>
          <a:noFill/>
        </p:spPr>
        <p:txBody>
          <a:bodyPr wrap="square" lIns="0" tIns="0" rIns="0" bIns="0" anchor="ctr">
            <a:normAutofit/>
          </a:bodyPr>
          <a:lstStyle/>
          <a:p>
            <a:pPr algn="l">
              <a:lnSpc>
                <a:spcPct val="100000"/>
              </a:lnSpc>
              <a:spcBef>
                <a:spcPts val="0"/>
              </a:spcBef>
            </a:pPr>
            <a:r>
              <a:rPr lang="en-US" sz="1200" b="1" spc="100">
                <a:solidFill>
                  <a:srgbClr val="B4553A"/>
                </a:solidFill>
                <a:latin typeface="Segoe UI"/>
                <a:cs typeface="Segoe UI"/>
              </a:rPr>
              <a:t>Sensitive</a:t>
            </a:r>
            <a:endParaRPr lang="en-US" sz="1200" b="1" spc="100" dirty="0">
              <a:solidFill>
                <a:srgbClr val="B4553A"/>
              </a:solidFill>
              <a:latin typeface="Segoe UI"/>
              <a:cs typeface="Segoe UI"/>
            </a:endParaRPr>
          </a:p>
          <a:p>
            <a:pPr algn="l">
              <a:lnSpc>
                <a:spcPct val="100000"/>
              </a:lnSpc>
              <a:spcBef>
                <a:spcPts val="250"/>
              </a:spcBef>
            </a:pPr>
            <a:r>
              <a:rPr lang="en-US" sz="1100" b="0" spc="0">
                <a:solidFill>
                  <a:srgbClr val="4A423A"/>
                </a:solidFill>
                <a:latin typeface="Segoe UI"/>
                <a:cs typeface="Segoe UI"/>
              </a:rPr>
              <a:t>Personal or policy data</a:t>
            </a:r>
            <a:endParaRPr lang="en-US" sz="1100" b="0" spc="0" dirty="0">
              <a:solidFill>
                <a:srgbClr val="4A423A"/>
              </a:solidFill>
              <a:latin typeface="Segoe UI"/>
              <a:cs typeface="Segoe UI"/>
            </a:endParaRPr>
          </a:p>
        </p:txBody>
      </p:sp>
      <p:sp>
        <p:nvSpPr>
          <p:cNvPr id="133" name="s133"/>
          <p:cNvSpPr/>
          <p:nvPr/>
        </p:nvSpPr>
        <p:spPr>
          <a:xfrm>
            <a:off x="6196000" y="5190000"/>
            <a:ext cx="2478900" cy="930000"/>
          </a:xfrm>
          <a:prstGeom prst="roundRect">
            <a:avLst>
              <a:gd name="adj" fmla="val 12000"/>
            </a:avLst>
          </a:prstGeom>
          <a:solidFill>
            <a:srgbClr val="F6EEE0"/>
          </a:solidFill>
          <a:ln w="12700">
            <a:solidFill>
              <a:srgbClr val="E0CDB0"/>
            </a:solidFill>
          </a:ln>
        </p:spPr>
        <p:txBody>
          <a:bodyPr/>
          <a:lstStyle/>
          <a:p>
            <a:endParaRPr lang="en-US"/>
          </a:p>
        </p:txBody>
      </p:sp>
      <p:sp>
        <p:nvSpPr>
          <p:cNvPr id="134" name="t134"/>
          <p:cNvSpPr txBox="1"/>
          <p:nvPr/>
        </p:nvSpPr>
        <p:spPr>
          <a:xfrm>
            <a:off x="6436000" y="5190000"/>
            <a:ext cx="1998900" cy="930000"/>
          </a:xfrm>
          <a:prstGeom prst="rect">
            <a:avLst/>
          </a:prstGeom>
          <a:noFill/>
        </p:spPr>
        <p:txBody>
          <a:bodyPr wrap="square" lIns="0" tIns="0" rIns="0" bIns="0" anchor="ctr">
            <a:normAutofit/>
          </a:bodyPr>
          <a:lstStyle/>
          <a:p>
            <a:pPr algn="l">
              <a:lnSpc>
                <a:spcPct val="100000"/>
              </a:lnSpc>
              <a:spcBef>
                <a:spcPts val="0"/>
              </a:spcBef>
            </a:pPr>
            <a:r>
              <a:rPr lang="en-US" sz="1200" b="1" spc="100">
                <a:solidFill>
                  <a:srgbClr val="B4553A"/>
                </a:solidFill>
                <a:latin typeface="Segoe UI"/>
                <a:cs typeface="Segoe UI"/>
              </a:rPr>
              <a:t>Reused</a:t>
            </a:r>
            <a:endParaRPr lang="en-US" sz="1200" b="1" spc="100" dirty="0">
              <a:solidFill>
                <a:srgbClr val="B4553A"/>
              </a:solidFill>
              <a:latin typeface="Segoe UI"/>
              <a:cs typeface="Segoe UI"/>
            </a:endParaRPr>
          </a:p>
          <a:p>
            <a:pPr algn="l">
              <a:lnSpc>
                <a:spcPct val="100000"/>
              </a:lnSpc>
              <a:spcBef>
                <a:spcPts val="250"/>
              </a:spcBef>
            </a:pPr>
            <a:r>
              <a:rPr lang="en-US" sz="1100" b="0" spc="0">
                <a:solidFill>
                  <a:srgbClr val="4A423A"/>
                </a:solidFill>
                <a:latin typeface="Segoe UI"/>
                <a:cs typeface="Segoe UI"/>
              </a:rPr>
              <a:t>Team-wide templates</a:t>
            </a:r>
            <a:endParaRPr lang="en-US" sz="1100" b="0" spc="0" dirty="0">
              <a:solidFill>
                <a:srgbClr val="4A423A"/>
              </a:solidFill>
              <a:latin typeface="Segoe UI"/>
              <a:cs typeface="Segoe UI"/>
            </a:endParaRPr>
          </a:p>
        </p:txBody>
      </p:sp>
      <p:sp>
        <p:nvSpPr>
          <p:cNvPr id="135" name="s135"/>
          <p:cNvSpPr/>
          <p:nvPr/>
        </p:nvSpPr>
        <p:spPr>
          <a:xfrm>
            <a:off x="8874900" y="5190000"/>
            <a:ext cx="2478900" cy="930000"/>
          </a:xfrm>
          <a:prstGeom prst="roundRect">
            <a:avLst>
              <a:gd name="adj" fmla="val 12000"/>
            </a:avLst>
          </a:prstGeom>
          <a:solidFill>
            <a:srgbClr val="F6EEE0"/>
          </a:solidFill>
          <a:ln w="12700">
            <a:solidFill>
              <a:srgbClr val="E0CDB0"/>
            </a:solidFill>
          </a:ln>
        </p:spPr>
        <p:txBody>
          <a:bodyPr/>
          <a:lstStyle/>
          <a:p>
            <a:endParaRPr lang="en-US"/>
          </a:p>
        </p:txBody>
      </p:sp>
      <p:sp>
        <p:nvSpPr>
          <p:cNvPr id="136" name="t136"/>
          <p:cNvSpPr txBox="1"/>
          <p:nvPr/>
        </p:nvSpPr>
        <p:spPr>
          <a:xfrm>
            <a:off x="9114900" y="5190000"/>
            <a:ext cx="1998900" cy="930000"/>
          </a:xfrm>
          <a:prstGeom prst="rect">
            <a:avLst/>
          </a:prstGeom>
          <a:noFill/>
        </p:spPr>
        <p:txBody>
          <a:bodyPr wrap="square" lIns="0" tIns="0" rIns="0" bIns="0" anchor="ctr">
            <a:normAutofit/>
          </a:bodyPr>
          <a:lstStyle/>
          <a:p>
            <a:pPr algn="l">
              <a:lnSpc>
                <a:spcPct val="100000"/>
              </a:lnSpc>
              <a:spcBef>
                <a:spcPts val="0"/>
              </a:spcBef>
            </a:pPr>
            <a:r>
              <a:rPr lang="en-US" sz="1200" b="1" spc="100">
                <a:solidFill>
                  <a:srgbClr val="B4553A"/>
                </a:solidFill>
                <a:latin typeface="Segoe UI"/>
                <a:cs typeface="Segoe UI"/>
              </a:rPr>
              <a:t>Reviewed</a:t>
            </a:r>
            <a:endParaRPr lang="en-US" sz="1200" b="1" spc="100" dirty="0">
              <a:solidFill>
                <a:srgbClr val="B4553A"/>
              </a:solidFill>
              <a:latin typeface="Segoe UI"/>
              <a:cs typeface="Segoe UI"/>
            </a:endParaRPr>
          </a:p>
          <a:p>
            <a:pPr algn="l">
              <a:lnSpc>
                <a:spcPct val="100000"/>
              </a:lnSpc>
              <a:spcBef>
                <a:spcPts val="250"/>
              </a:spcBef>
            </a:pPr>
            <a:r>
              <a:rPr lang="en-US" sz="1100" b="0" spc="0">
                <a:solidFill>
                  <a:srgbClr val="4A423A"/>
                </a:solidFill>
                <a:latin typeface="Segoe UI"/>
                <a:cs typeface="Segoe UI"/>
              </a:rPr>
              <a:t>Someone must sign it off</a:t>
            </a:r>
            <a:endParaRPr lang="en-US" sz="1100" b="0" spc="0" dirty="0">
              <a:solidFill>
                <a:srgbClr val="4A423A"/>
              </a:solidFill>
              <a:latin typeface="Segoe UI"/>
              <a:cs typeface="Segoe U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11"/>
          <p:cNvSpPr/>
          <p:nvPr/>
        </p:nvSpPr>
        <p:spPr>
          <a:xfrm>
            <a:off x="0" y="0"/>
            <a:ext cx="12192000" cy="6858000"/>
          </a:xfrm>
          <a:prstGeom prst="rect">
            <a:avLst/>
          </a:prstGeom>
          <a:solidFill>
            <a:srgbClr val="F3EBDD"/>
          </a:solidFill>
          <a:ln>
            <a:noFill/>
          </a:ln>
        </p:spPr>
        <p:txBody>
          <a:bodyPr/>
          <a:lstStyle/>
          <a:p>
            <a:endParaRPr lang="en-US"/>
          </a:p>
        </p:txBody>
      </p:sp>
      <p:sp>
        <p:nvSpPr>
          <p:cNvPr id="12" name="s12"/>
          <p:cNvSpPr/>
          <p:nvPr/>
        </p:nvSpPr>
        <p:spPr>
          <a:xfrm>
            <a:off x="0" y="0"/>
            <a:ext cx="12192000" cy="80000"/>
          </a:xfrm>
          <a:prstGeom prst="rect">
            <a:avLst/>
          </a:prstGeom>
          <a:solidFill>
            <a:srgbClr val="B4553A"/>
          </a:solidFill>
          <a:ln>
            <a:noFill/>
          </a:ln>
        </p:spPr>
        <p:txBody>
          <a:bodyPr/>
          <a:lstStyle/>
          <a:p>
            <a:endParaRPr lang="en-US"/>
          </a:p>
        </p:txBody>
      </p:sp>
      <p:sp>
        <p:nvSpPr>
          <p:cNvPr id="13" name="s13"/>
          <p:cNvSpPr/>
          <p:nvPr/>
        </p:nvSpPr>
        <p:spPr>
          <a:xfrm>
            <a:off x="838200" y="520700"/>
            <a:ext cx="180000" cy="180000"/>
          </a:xfrm>
          <a:prstGeom prst="ellipse">
            <a:avLst/>
          </a:prstGeom>
          <a:solidFill>
            <a:srgbClr val="7A7A4E"/>
          </a:solidFill>
          <a:ln>
            <a:noFill/>
          </a:ln>
        </p:spPr>
        <p:txBody>
          <a:bodyPr/>
          <a:lstStyle/>
          <a:p>
            <a:endParaRPr lang="en-US"/>
          </a:p>
        </p:txBody>
      </p:sp>
      <p:sp>
        <p:nvSpPr>
          <p:cNvPr id="14" name="t14"/>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METHOD 01</a:t>
            </a:r>
          </a:p>
        </p:txBody>
      </p:sp>
      <p:sp>
        <p:nvSpPr>
          <p:cNvPr id="15" name="t15"/>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Role-Based Prompting</a:t>
            </a:r>
          </a:p>
        </p:txBody>
      </p:sp>
      <p:sp>
        <p:nvSpPr>
          <p:cNvPr id="16" name="s16"/>
          <p:cNvSpPr/>
          <p:nvPr/>
        </p:nvSpPr>
        <p:spPr>
          <a:xfrm>
            <a:off x="838200" y="1540000"/>
            <a:ext cx="3200000" cy="26000"/>
          </a:xfrm>
          <a:prstGeom prst="rect">
            <a:avLst/>
          </a:prstGeom>
          <a:solidFill>
            <a:srgbClr val="B4553A"/>
          </a:solidFill>
          <a:ln>
            <a:noFill/>
          </a:ln>
        </p:spPr>
        <p:txBody>
          <a:bodyPr/>
          <a:lstStyle/>
          <a:p>
            <a:endParaRPr lang="en-US"/>
          </a:p>
        </p:txBody>
      </p:sp>
      <p:sp>
        <p:nvSpPr>
          <p:cNvPr id="17" name="t17"/>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Assign an identity and an audience so the model adopts the right vocabulary, depth, and caution.</a:t>
            </a:r>
          </a:p>
        </p:txBody>
      </p:sp>
      <p:sp>
        <p:nvSpPr>
          <p:cNvPr id="18" name="s18"/>
          <p:cNvSpPr/>
          <p:nvPr/>
        </p:nvSpPr>
        <p:spPr>
          <a:xfrm>
            <a:off x="838200" y="6420000"/>
            <a:ext cx="10515600" cy="12700"/>
          </a:xfrm>
          <a:prstGeom prst="rect">
            <a:avLst/>
          </a:prstGeom>
          <a:solidFill>
            <a:srgbClr val="E0CDB0"/>
          </a:solidFill>
          <a:ln>
            <a:noFill/>
          </a:ln>
        </p:spPr>
        <p:txBody>
          <a:bodyPr/>
          <a:lstStyle/>
          <a:p>
            <a:endParaRPr lang="en-US"/>
          </a:p>
        </p:txBody>
      </p:sp>
      <p:sp>
        <p:nvSpPr>
          <p:cNvPr id="19" name="t19"/>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AI prompting framework for HR professionals</a:t>
            </a:r>
          </a:p>
        </p:txBody>
      </p:sp>
      <p:sp>
        <p:nvSpPr>
          <p:cNvPr id="20" name="s20"/>
          <p:cNvSpPr/>
          <p:nvPr/>
        </p:nvSpPr>
        <p:spPr>
          <a:xfrm>
            <a:off x="838200" y="2320000"/>
            <a:ext cx="5127800" cy="3800000"/>
          </a:xfrm>
          <a:prstGeom prst="roundRect">
            <a:avLst>
              <a:gd name="adj" fmla="val 6000"/>
            </a:avLst>
          </a:prstGeom>
          <a:solidFill>
            <a:srgbClr val="FBF6EC"/>
          </a:solidFill>
          <a:ln w="12700">
            <a:solidFill>
              <a:srgbClr val="E0CDB0"/>
            </a:solidFill>
          </a:ln>
        </p:spPr>
        <p:txBody>
          <a:bodyPr/>
          <a:lstStyle/>
          <a:p>
            <a:endParaRPr lang="en-US"/>
          </a:p>
        </p:txBody>
      </p:sp>
      <p:sp>
        <p:nvSpPr>
          <p:cNvPr id="21" name="t21"/>
          <p:cNvSpPr txBox="1"/>
          <p:nvPr/>
        </p:nvSpPr>
        <p:spPr>
          <a:xfrm>
            <a:off x="1178200" y="2660000"/>
            <a:ext cx="4447800" cy="3120000"/>
          </a:xfrm>
          <a:prstGeom prst="rect">
            <a:avLst/>
          </a:prstGeom>
          <a:noFill/>
        </p:spPr>
        <p:txBody>
          <a:bodyPr wrap="square" lIns="0" tIns="0" rIns="0" bIns="0" anchor="t">
            <a:normAutofit/>
          </a:bodyPr>
          <a:lstStyle/>
          <a:p>
            <a:pPr algn="l">
              <a:lnSpc>
                <a:spcPct val="100000"/>
              </a:lnSpc>
              <a:spcBef>
                <a:spcPts val="0"/>
              </a:spcBef>
            </a:pPr>
            <a:r>
              <a:rPr lang="en-US" sz="1150" b="1" spc="150" dirty="0">
                <a:solidFill>
                  <a:srgbClr val="B4553A"/>
                </a:solidFill>
                <a:latin typeface="Segoe UI"/>
                <a:cs typeface="Segoe UI"/>
              </a:rPr>
              <a:t>What it is</a:t>
            </a:r>
          </a:p>
          <a:p>
            <a:pPr algn="l">
              <a:lnSpc>
                <a:spcPct val="120000"/>
              </a:lnSpc>
              <a:spcBef>
                <a:spcPts val="300"/>
              </a:spcBef>
            </a:pPr>
            <a:r>
              <a:rPr lang="en-US" sz="1250" b="0" spc="0" dirty="0">
                <a:solidFill>
                  <a:srgbClr val="4A423A"/>
                </a:solidFill>
                <a:latin typeface="Segoe UI"/>
                <a:cs typeface="Segoe UI"/>
              </a:rPr>
              <a:t>You open by casting the model in a specific professional role, with seniority, sector, and audience named.</a:t>
            </a:r>
          </a:p>
          <a:p>
            <a:pPr algn="l">
              <a:lnSpc>
                <a:spcPct val="100000"/>
              </a:lnSpc>
              <a:spcBef>
                <a:spcPts val="900"/>
              </a:spcBef>
            </a:pPr>
            <a:r>
              <a:rPr lang="en-US" sz="1150" b="1" spc="150" dirty="0">
                <a:solidFill>
                  <a:srgbClr val="B4553A"/>
                </a:solidFill>
                <a:latin typeface="Segoe UI"/>
                <a:cs typeface="Segoe UI"/>
              </a:rPr>
              <a:t>Use it when</a:t>
            </a:r>
          </a:p>
          <a:p>
            <a:pPr algn="l">
              <a:lnSpc>
                <a:spcPct val="120000"/>
              </a:lnSpc>
              <a:spcBef>
                <a:spcPts val="300"/>
              </a:spcBef>
            </a:pPr>
            <a:r>
              <a:rPr lang="en-US" sz="1250" b="0" spc="0" dirty="0">
                <a:solidFill>
                  <a:srgbClr val="4A423A"/>
                </a:solidFill>
                <a:latin typeface="Segoe UI"/>
                <a:cs typeface="Segoe UI"/>
              </a:rPr>
              <a:t>Policy interpretation, employee communications, interview design — anywhere tone and expertise must land correctly.</a:t>
            </a:r>
          </a:p>
          <a:p>
            <a:pPr algn="l">
              <a:lnSpc>
                <a:spcPct val="100000"/>
              </a:lnSpc>
              <a:spcBef>
                <a:spcPts val="900"/>
              </a:spcBef>
            </a:pPr>
            <a:r>
              <a:rPr lang="en-US" sz="1150" b="1" spc="150" dirty="0">
                <a:solidFill>
                  <a:srgbClr val="B4553A"/>
                </a:solidFill>
                <a:latin typeface="Segoe UI"/>
                <a:cs typeface="Segoe UI"/>
              </a:rPr>
              <a:t>Watch out for</a:t>
            </a:r>
          </a:p>
          <a:p>
            <a:pPr algn="l">
              <a:lnSpc>
                <a:spcPct val="120000"/>
              </a:lnSpc>
              <a:spcBef>
                <a:spcPts val="300"/>
              </a:spcBef>
            </a:pPr>
            <a:r>
              <a:rPr lang="en-US" sz="1250" b="0" spc="0" dirty="0">
                <a:solidFill>
                  <a:srgbClr val="4A423A"/>
                </a:solidFill>
                <a:latin typeface="Segoe UI"/>
                <a:cs typeface="Segoe UI"/>
              </a:rPr>
              <a:t>A role is not evidence. The model still needs your policy text; a confident 'HR lawyer' persona can still be wrong.</a:t>
            </a:r>
          </a:p>
        </p:txBody>
      </p:sp>
      <p:sp>
        <p:nvSpPr>
          <p:cNvPr id="22" name="s22"/>
          <p:cNvSpPr/>
          <p:nvPr/>
        </p:nvSpPr>
        <p:spPr>
          <a:xfrm>
            <a:off x="6226000" y="2320000"/>
            <a:ext cx="5127800" cy="3800000"/>
          </a:xfrm>
          <a:prstGeom prst="roundRect">
            <a:avLst>
              <a:gd name="adj" fmla="val 8000"/>
            </a:avLst>
          </a:prstGeom>
          <a:solidFill>
            <a:srgbClr val="F6EEE0"/>
          </a:solidFill>
          <a:ln w="12700">
            <a:solidFill>
              <a:srgbClr val="E0CDB0"/>
            </a:solidFill>
          </a:ln>
        </p:spPr>
        <p:txBody>
          <a:bodyPr/>
          <a:lstStyle/>
          <a:p>
            <a:endParaRPr lang="en-US"/>
          </a:p>
        </p:txBody>
      </p:sp>
      <p:sp>
        <p:nvSpPr>
          <p:cNvPr id="23" name="s23"/>
          <p:cNvSpPr/>
          <p:nvPr/>
        </p:nvSpPr>
        <p:spPr>
          <a:xfrm>
            <a:off x="6226000" y="2320000"/>
            <a:ext cx="60000" cy="3800000"/>
          </a:xfrm>
          <a:prstGeom prst="rect">
            <a:avLst/>
          </a:prstGeom>
          <a:solidFill>
            <a:srgbClr val="B4553A"/>
          </a:solidFill>
          <a:ln>
            <a:noFill/>
          </a:ln>
        </p:spPr>
        <p:txBody>
          <a:bodyPr/>
          <a:lstStyle/>
          <a:p>
            <a:endParaRPr lang="en-US"/>
          </a:p>
        </p:txBody>
      </p:sp>
      <p:sp>
        <p:nvSpPr>
          <p:cNvPr id="24" name="t24"/>
          <p:cNvSpPr txBox="1"/>
          <p:nvPr/>
        </p:nvSpPr>
        <p:spPr>
          <a:xfrm>
            <a:off x="6526000" y="2540000"/>
            <a:ext cx="4567800" cy="3400000"/>
          </a:xfrm>
          <a:prstGeom prst="rect">
            <a:avLst/>
          </a:prstGeom>
          <a:noFill/>
        </p:spPr>
        <p:txBody>
          <a:bodyPr wrap="square" lIns="0" tIns="0" rIns="0" bIns="0" anchor="t">
            <a:normAutofit/>
          </a:bodyPr>
          <a:lstStyle/>
          <a:p>
            <a:pPr algn="l">
              <a:lnSpc>
                <a:spcPct val="100000"/>
              </a:lnSpc>
              <a:spcBef>
                <a:spcPts val="0"/>
              </a:spcBef>
            </a:pPr>
            <a:r>
              <a:rPr lang="en-US" sz="1000" b="1" spc="200" dirty="0">
                <a:solidFill>
                  <a:srgbClr val="B4553A"/>
                </a:solidFill>
                <a:latin typeface="Segoe UI"/>
                <a:cs typeface="Segoe UI"/>
              </a:rPr>
              <a:t>EXAMPLE PROMPT</a:t>
            </a:r>
          </a:p>
          <a:p>
            <a:pPr algn="l">
              <a:lnSpc>
                <a:spcPct val="115000"/>
              </a:lnSpc>
              <a:spcBef>
                <a:spcPts val="420"/>
              </a:spcBef>
            </a:pPr>
            <a:r>
              <a:rPr lang="en-US" sz="1100" b="0" spc="0" dirty="0">
                <a:solidFill>
                  <a:srgbClr val="2E2A26"/>
                </a:solidFill>
                <a:latin typeface="Consolas"/>
                <a:cs typeface="Consolas"/>
              </a:rPr>
              <a:t>You are a senior HR business partner in an</a:t>
            </a:r>
          </a:p>
          <a:p>
            <a:pPr algn="l">
              <a:lnSpc>
                <a:spcPct val="115000"/>
              </a:lnSpc>
              <a:spcBef>
                <a:spcPts val="420"/>
              </a:spcBef>
            </a:pPr>
            <a:r>
              <a:rPr lang="en-US" sz="1100" b="0" spc="0" dirty="0">
                <a:solidFill>
                  <a:srgbClr val="2E2A26"/>
                </a:solidFill>
                <a:latin typeface="Consolas"/>
                <a:cs typeface="Consolas"/>
              </a:rPr>
              <a:t>Indian IT services firm of 2,000 employees.</a:t>
            </a:r>
          </a:p>
          <a:p>
            <a:pPr algn="l">
              <a:lnSpc>
                <a:spcPct val="115000"/>
              </a:lnSpc>
              <a:spcBef>
                <a:spcPts val="420"/>
              </a:spcBef>
            </a:pPr>
            <a:r>
              <a:rPr lang="en-US" sz="1100" b="0" spc="0" dirty="0">
                <a:solidFill>
                  <a:srgbClr val="2E2A26"/>
                </a:solidFill>
                <a:latin typeface="Consolas"/>
                <a:cs typeface="Consolas"/>
              </a:rPr>
              <a:t>Audience: first-time people managers.</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Draft talking points for a manager delivering</a:t>
            </a:r>
          </a:p>
          <a:p>
            <a:pPr algn="l">
              <a:lnSpc>
                <a:spcPct val="115000"/>
              </a:lnSpc>
              <a:spcBef>
                <a:spcPts val="420"/>
              </a:spcBef>
            </a:pPr>
            <a:r>
              <a:rPr lang="en-US" sz="1100" b="0" spc="0" dirty="0">
                <a:solidFill>
                  <a:srgbClr val="2E2A26"/>
                </a:solidFill>
                <a:latin typeface="Consolas"/>
                <a:cs typeface="Consolas"/>
              </a:rPr>
              <a:t>a below-expectations rating, in a calm and</a:t>
            </a:r>
          </a:p>
          <a:p>
            <a:pPr algn="l">
              <a:lnSpc>
                <a:spcPct val="115000"/>
              </a:lnSpc>
              <a:spcBef>
                <a:spcPts val="420"/>
              </a:spcBef>
            </a:pPr>
            <a:r>
              <a:rPr lang="en-US" sz="1100" b="0" spc="0" dirty="0">
                <a:solidFill>
                  <a:srgbClr val="2E2A26"/>
                </a:solidFill>
                <a:latin typeface="Consolas"/>
                <a:cs typeface="Consolas"/>
              </a:rPr>
              <a:t>specific tone. Six bullets, under 15 words each.</a:t>
            </a:r>
          </a:p>
          <a:p>
            <a:pPr algn="l">
              <a:lnSpc>
                <a:spcPct val="115000"/>
              </a:lnSpc>
              <a:spcBef>
                <a:spcPts val="420"/>
              </a:spcBef>
            </a:pPr>
            <a:r>
              <a:rPr lang="en-US" sz="1100" b="0" spc="0" dirty="0">
                <a:solidFill>
                  <a:srgbClr val="2E2A26"/>
                </a:solidFill>
                <a:latin typeface="Consolas"/>
                <a:cs typeface="Consolas"/>
              </a:rPr>
              <a:t>Avoid legal conclusions; flag where HR must</a:t>
            </a:r>
          </a:p>
          <a:p>
            <a:pPr algn="l">
              <a:lnSpc>
                <a:spcPct val="115000"/>
              </a:lnSpc>
              <a:spcBef>
                <a:spcPts val="420"/>
              </a:spcBef>
            </a:pPr>
            <a:r>
              <a:rPr lang="en-US" sz="1100" b="0" spc="0" dirty="0">
                <a:solidFill>
                  <a:srgbClr val="2E2A26"/>
                </a:solidFill>
                <a:latin typeface="Consolas"/>
                <a:cs typeface="Consolas"/>
              </a:rPr>
              <a:t>be looped 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25"/>
          <p:cNvSpPr/>
          <p:nvPr/>
        </p:nvSpPr>
        <p:spPr>
          <a:xfrm>
            <a:off x="0" y="0"/>
            <a:ext cx="12192000" cy="6858000"/>
          </a:xfrm>
          <a:prstGeom prst="rect">
            <a:avLst/>
          </a:prstGeom>
          <a:solidFill>
            <a:srgbClr val="F3EBDD"/>
          </a:solidFill>
          <a:ln>
            <a:noFill/>
          </a:ln>
        </p:spPr>
        <p:txBody>
          <a:bodyPr/>
          <a:lstStyle/>
          <a:p>
            <a:endParaRPr lang="en-US"/>
          </a:p>
        </p:txBody>
      </p:sp>
      <p:sp>
        <p:nvSpPr>
          <p:cNvPr id="26" name="s26"/>
          <p:cNvSpPr/>
          <p:nvPr/>
        </p:nvSpPr>
        <p:spPr>
          <a:xfrm>
            <a:off x="0" y="0"/>
            <a:ext cx="12192000" cy="80000"/>
          </a:xfrm>
          <a:prstGeom prst="rect">
            <a:avLst/>
          </a:prstGeom>
          <a:solidFill>
            <a:srgbClr val="B4553A"/>
          </a:solidFill>
          <a:ln>
            <a:noFill/>
          </a:ln>
        </p:spPr>
        <p:txBody>
          <a:bodyPr/>
          <a:lstStyle/>
          <a:p>
            <a:endParaRPr lang="en-US"/>
          </a:p>
        </p:txBody>
      </p:sp>
      <p:sp>
        <p:nvSpPr>
          <p:cNvPr id="27" name="s27"/>
          <p:cNvSpPr/>
          <p:nvPr/>
        </p:nvSpPr>
        <p:spPr>
          <a:xfrm>
            <a:off x="838200" y="520700"/>
            <a:ext cx="180000" cy="180000"/>
          </a:xfrm>
          <a:prstGeom prst="ellipse">
            <a:avLst/>
          </a:prstGeom>
          <a:solidFill>
            <a:srgbClr val="7A7A4E"/>
          </a:solidFill>
          <a:ln>
            <a:noFill/>
          </a:ln>
        </p:spPr>
        <p:txBody>
          <a:bodyPr/>
          <a:lstStyle/>
          <a:p>
            <a:endParaRPr lang="en-US"/>
          </a:p>
        </p:txBody>
      </p:sp>
      <p:sp>
        <p:nvSpPr>
          <p:cNvPr id="28" name="t28"/>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METHOD 02</a:t>
            </a:r>
          </a:p>
        </p:txBody>
      </p:sp>
      <p:sp>
        <p:nvSpPr>
          <p:cNvPr id="29" name="t29"/>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Shot-Based Prompting</a:t>
            </a:r>
          </a:p>
        </p:txBody>
      </p:sp>
      <p:sp>
        <p:nvSpPr>
          <p:cNvPr id="30" name="s30"/>
          <p:cNvSpPr/>
          <p:nvPr/>
        </p:nvSpPr>
        <p:spPr>
          <a:xfrm>
            <a:off x="838200" y="1540000"/>
            <a:ext cx="3200000" cy="26000"/>
          </a:xfrm>
          <a:prstGeom prst="rect">
            <a:avLst/>
          </a:prstGeom>
          <a:solidFill>
            <a:srgbClr val="B4553A"/>
          </a:solidFill>
          <a:ln>
            <a:noFill/>
          </a:ln>
        </p:spPr>
        <p:txBody>
          <a:bodyPr/>
          <a:lstStyle/>
          <a:p>
            <a:endParaRPr lang="en-US"/>
          </a:p>
        </p:txBody>
      </p:sp>
      <p:sp>
        <p:nvSpPr>
          <p:cNvPr id="31" name="t31"/>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Zero-shot, one-shot, few-shot: how many worked examples you show before asking for the real thing.</a:t>
            </a:r>
          </a:p>
        </p:txBody>
      </p:sp>
      <p:sp>
        <p:nvSpPr>
          <p:cNvPr id="32" name="s32"/>
          <p:cNvSpPr/>
          <p:nvPr/>
        </p:nvSpPr>
        <p:spPr>
          <a:xfrm>
            <a:off x="838200" y="6420000"/>
            <a:ext cx="10515600" cy="12700"/>
          </a:xfrm>
          <a:prstGeom prst="rect">
            <a:avLst/>
          </a:prstGeom>
          <a:solidFill>
            <a:srgbClr val="E0CDB0"/>
          </a:solidFill>
          <a:ln>
            <a:noFill/>
          </a:ln>
        </p:spPr>
        <p:txBody>
          <a:bodyPr/>
          <a:lstStyle/>
          <a:p>
            <a:endParaRPr lang="en-US"/>
          </a:p>
        </p:txBody>
      </p:sp>
      <p:sp>
        <p:nvSpPr>
          <p:cNvPr id="33" name="t33"/>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AI prompting framework for HR professionals</a:t>
            </a:r>
          </a:p>
        </p:txBody>
      </p:sp>
      <p:sp>
        <p:nvSpPr>
          <p:cNvPr id="34" name="s34"/>
          <p:cNvSpPr/>
          <p:nvPr/>
        </p:nvSpPr>
        <p:spPr>
          <a:xfrm>
            <a:off x="838200" y="2320000"/>
            <a:ext cx="5127800" cy="3800000"/>
          </a:xfrm>
          <a:prstGeom prst="roundRect">
            <a:avLst>
              <a:gd name="adj" fmla="val 6000"/>
            </a:avLst>
          </a:prstGeom>
          <a:solidFill>
            <a:srgbClr val="FBF6EC"/>
          </a:solidFill>
          <a:ln w="12700">
            <a:solidFill>
              <a:srgbClr val="E0CDB0"/>
            </a:solidFill>
          </a:ln>
        </p:spPr>
        <p:txBody>
          <a:bodyPr/>
          <a:lstStyle/>
          <a:p>
            <a:endParaRPr lang="en-US"/>
          </a:p>
        </p:txBody>
      </p:sp>
      <p:sp>
        <p:nvSpPr>
          <p:cNvPr id="35" name="t35"/>
          <p:cNvSpPr txBox="1"/>
          <p:nvPr/>
        </p:nvSpPr>
        <p:spPr>
          <a:xfrm>
            <a:off x="1178200" y="2660000"/>
            <a:ext cx="4447800" cy="3120000"/>
          </a:xfrm>
          <a:prstGeom prst="rect">
            <a:avLst/>
          </a:prstGeom>
          <a:noFill/>
        </p:spPr>
        <p:txBody>
          <a:bodyPr wrap="square" lIns="0" tIns="0" rIns="0" bIns="0" anchor="t">
            <a:normAutofit/>
          </a:bodyPr>
          <a:lstStyle/>
          <a:p>
            <a:pPr algn="l">
              <a:lnSpc>
                <a:spcPct val="100000"/>
              </a:lnSpc>
              <a:spcBef>
                <a:spcPts val="0"/>
              </a:spcBef>
            </a:pPr>
            <a:r>
              <a:rPr lang="en-US" sz="1150" b="1" spc="150" dirty="0">
                <a:solidFill>
                  <a:srgbClr val="B4553A"/>
                </a:solidFill>
                <a:latin typeface="Segoe UI"/>
                <a:cs typeface="Segoe UI"/>
              </a:rPr>
              <a:t>What it is</a:t>
            </a:r>
          </a:p>
          <a:p>
            <a:pPr algn="l">
              <a:lnSpc>
                <a:spcPct val="120000"/>
              </a:lnSpc>
              <a:spcBef>
                <a:spcPts val="300"/>
              </a:spcBef>
            </a:pPr>
            <a:r>
              <a:rPr lang="en-US" sz="1250" b="0" spc="0" dirty="0">
                <a:solidFill>
                  <a:srgbClr val="4A423A"/>
                </a:solidFill>
                <a:latin typeface="Segoe UI"/>
                <a:cs typeface="Segoe UI"/>
              </a:rPr>
              <a:t>Zero-shot asks directly. One-shot shows a single model answer. Few-shot shows two to five, teaching pattern and tone.</a:t>
            </a:r>
          </a:p>
          <a:p>
            <a:pPr algn="l">
              <a:lnSpc>
                <a:spcPct val="100000"/>
              </a:lnSpc>
              <a:spcBef>
                <a:spcPts val="900"/>
              </a:spcBef>
            </a:pPr>
            <a:r>
              <a:rPr lang="en-US" sz="1150" b="1" spc="150" dirty="0">
                <a:solidFill>
                  <a:srgbClr val="B4553A"/>
                </a:solidFill>
                <a:latin typeface="Segoe UI"/>
                <a:cs typeface="Segoe UI"/>
              </a:rPr>
              <a:t>Use it when</a:t>
            </a:r>
          </a:p>
          <a:p>
            <a:pPr algn="l">
              <a:lnSpc>
                <a:spcPct val="120000"/>
              </a:lnSpc>
              <a:spcBef>
                <a:spcPts val="300"/>
              </a:spcBef>
            </a:pPr>
            <a:r>
              <a:rPr lang="en-US" sz="1250" b="0" spc="0" dirty="0">
                <a:solidFill>
                  <a:srgbClr val="4A423A"/>
                </a:solidFill>
                <a:latin typeface="Segoe UI"/>
                <a:cs typeface="Segoe UI"/>
              </a:rPr>
              <a:t>Repeatable, formatted output at volume — job descriptions, offer letters, interview scorecards, exit-survey coding.</a:t>
            </a:r>
          </a:p>
          <a:p>
            <a:pPr algn="l">
              <a:lnSpc>
                <a:spcPct val="100000"/>
              </a:lnSpc>
              <a:spcBef>
                <a:spcPts val="900"/>
              </a:spcBef>
            </a:pPr>
            <a:r>
              <a:rPr lang="en-US" sz="1150" b="1" spc="150" dirty="0">
                <a:solidFill>
                  <a:srgbClr val="B4553A"/>
                </a:solidFill>
                <a:latin typeface="Segoe UI"/>
                <a:cs typeface="Segoe UI"/>
              </a:rPr>
              <a:t>Watch out for</a:t>
            </a:r>
          </a:p>
          <a:p>
            <a:pPr algn="l">
              <a:lnSpc>
                <a:spcPct val="120000"/>
              </a:lnSpc>
              <a:spcBef>
                <a:spcPts val="300"/>
              </a:spcBef>
            </a:pPr>
            <a:r>
              <a:rPr lang="en-US" sz="1250" b="0" spc="0" dirty="0">
                <a:solidFill>
                  <a:srgbClr val="4A423A"/>
                </a:solidFill>
                <a:latin typeface="Segoe UI"/>
                <a:cs typeface="Segoe UI"/>
              </a:rPr>
              <a:t>Examples anchor hard. Biased or sloppy samples get copied faithfully, and long example sets eat your context window.</a:t>
            </a:r>
          </a:p>
        </p:txBody>
      </p:sp>
      <p:sp>
        <p:nvSpPr>
          <p:cNvPr id="36" name="s36"/>
          <p:cNvSpPr/>
          <p:nvPr/>
        </p:nvSpPr>
        <p:spPr>
          <a:xfrm>
            <a:off x="6226000" y="2320000"/>
            <a:ext cx="5127800" cy="3800000"/>
          </a:xfrm>
          <a:prstGeom prst="roundRect">
            <a:avLst>
              <a:gd name="adj" fmla="val 8000"/>
            </a:avLst>
          </a:prstGeom>
          <a:solidFill>
            <a:srgbClr val="F6EEE0"/>
          </a:solidFill>
          <a:ln w="12700">
            <a:solidFill>
              <a:srgbClr val="E0CDB0"/>
            </a:solidFill>
          </a:ln>
        </p:spPr>
        <p:txBody>
          <a:bodyPr/>
          <a:lstStyle/>
          <a:p>
            <a:endParaRPr lang="en-US"/>
          </a:p>
        </p:txBody>
      </p:sp>
      <p:sp>
        <p:nvSpPr>
          <p:cNvPr id="37" name="s37"/>
          <p:cNvSpPr/>
          <p:nvPr/>
        </p:nvSpPr>
        <p:spPr>
          <a:xfrm>
            <a:off x="6226000" y="2320000"/>
            <a:ext cx="60000" cy="3800000"/>
          </a:xfrm>
          <a:prstGeom prst="rect">
            <a:avLst/>
          </a:prstGeom>
          <a:solidFill>
            <a:srgbClr val="B4553A"/>
          </a:solidFill>
          <a:ln>
            <a:noFill/>
          </a:ln>
        </p:spPr>
        <p:txBody>
          <a:bodyPr/>
          <a:lstStyle/>
          <a:p>
            <a:endParaRPr lang="en-US"/>
          </a:p>
        </p:txBody>
      </p:sp>
      <p:sp>
        <p:nvSpPr>
          <p:cNvPr id="38" name="t38"/>
          <p:cNvSpPr txBox="1"/>
          <p:nvPr/>
        </p:nvSpPr>
        <p:spPr>
          <a:xfrm>
            <a:off x="6526000" y="2540000"/>
            <a:ext cx="4567800" cy="3400000"/>
          </a:xfrm>
          <a:prstGeom prst="rect">
            <a:avLst/>
          </a:prstGeom>
          <a:noFill/>
        </p:spPr>
        <p:txBody>
          <a:bodyPr wrap="square" lIns="0" tIns="0" rIns="0" bIns="0" anchor="t">
            <a:normAutofit/>
          </a:bodyPr>
          <a:lstStyle/>
          <a:p>
            <a:pPr algn="l">
              <a:lnSpc>
                <a:spcPct val="100000"/>
              </a:lnSpc>
              <a:spcBef>
                <a:spcPts val="0"/>
              </a:spcBef>
            </a:pPr>
            <a:r>
              <a:rPr lang="en-US" sz="1000" b="1" spc="200" dirty="0">
                <a:solidFill>
                  <a:srgbClr val="B4553A"/>
                </a:solidFill>
                <a:latin typeface="Segoe UI"/>
                <a:cs typeface="Segoe UI"/>
              </a:rPr>
              <a:t>FEW-SHOT EXAMPLE</a:t>
            </a:r>
          </a:p>
          <a:p>
            <a:pPr algn="l">
              <a:lnSpc>
                <a:spcPct val="115000"/>
              </a:lnSpc>
              <a:spcBef>
                <a:spcPts val="420"/>
              </a:spcBef>
            </a:pPr>
            <a:r>
              <a:rPr lang="en-US" sz="1100" b="0" spc="0" dirty="0">
                <a:solidFill>
                  <a:srgbClr val="2E2A26"/>
                </a:solidFill>
                <a:latin typeface="Consolas"/>
                <a:cs typeface="Consolas"/>
              </a:rPr>
              <a:t>Classify each exit comment by theme.</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Comment: "My manager never gave feedback."</a:t>
            </a:r>
          </a:p>
          <a:p>
            <a:pPr algn="l">
              <a:lnSpc>
                <a:spcPct val="115000"/>
              </a:lnSpc>
              <a:spcBef>
                <a:spcPts val="420"/>
              </a:spcBef>
            </a:pPr>
            <a:r>
              <a:rPr lang="en-US" sz="1100" b="0" spc="0" dirty="0">
                <a:solidFill>
                  <a:srgbClr val="2E2A26"/>
                </a:solidFill>
                <a:latin typeface="Consolas"/>
                <a:cs typeface="Consolas"/>
              </a:rPr>
              <a:t>Theme: Manager quality</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Comment: "Salary lagged the market badly."</a:t>
            </a:r>
          </a:p>
          <a:p>
            <a:pPr algn="l">
              <a:lnSpc>
                <a:spcPct val="115000"/>
              </a:lnSpc>
              <a:spcBef>
                <a:spcPts val="420"/>
              </a:spcBef>
            </a:pPr>
            <a:r>
              <a:rPr lang="en-US" sz="1100" b="0" spc="0" dirty="0">
                <a:solidFill>
                  <a:srgbClr val="2E2A26"/>
                </a:solidFill>
                <a:latin typeface="Consolas"/>
                <a:cs typeface="Consolas"/>
              </a:rPr>
              <a:t>Theme: Compensation</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Comment: "No clear path to the next level."</a:t>
            </a:r>
          </a:p>
          <a:p>
            <a:pPr algn="l">
              <a:lnSpc>
                <a:spcPct val="115000"/>
              </a:lnSpc>
              <a:spcBef>
                <a:spcPts val="420"/>
              </a:spcBef>
            </a:pPr>
            <a:r>
              <a:rPr lang="en-US" sz="1100" b="0" spc="0" dirty="0">
                <a:solidFill>
                  <a:srgbClr val="2E2A26"/>
                </a:solidFill>
                <a:latin typeface="Consolas"/>
                <a:cs typeface="Consolas"/>
              </a:rPr>
              <a:t>Theme: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39"/>
          <p:cNvSpPr/>
          <p:nvPr/>
        </p:nvSpPr>
        <p:spPr>
          <a:xfrm>
            <a:off x="0" y="0"/>
            <a:ext cx="12192000" cy="6858000"/>
          </a:xfrm>
          <a:prstGeom prst="rect">
            <a:avLst/>
          </a:prstGeom>
          <a:solidFill>
            <a:srgbClr val="F3EBDD"/>
          </a:solidFill>
          <a:ln>
            <a:noFill/>
          </a:ln>
        </p:spPr>
        <p:txBody>
          <a:bodyPr/>
          <a:lstStyle/>
          <a:p>
            <a:endParaRPr lang="en-US"/>
          </a:p>
        </p:txBody>
      </p:sp>
      <p:sp>
        <p:nvSpPr>
          <p:cNvPr id="40" name="s40"/>
          <p:cNvSpPr/>
          <p:nvPr/>
        </p:nvSpPr>
        <p:spPr>
          <a:xfrm>
            <a:off x="0" y="0"/>
            <a:ext cx="12192000" cy="80000"/>
          </a:xfrm>
          <a:prstGeom prst="rect">
            <a:avLst/>
          </a:prstGeom>
          <a:solidFill>
            <a:srgbClr val="B4553A"/>
          </a:solidFill>
          <a:ln>
            <a:noFill/>
          </a:ln>
        </p:spPr>
        <p:txBody>
          <a:bodyPr/>
          <a:lstStyle/>
          <a:p>
            <a:endParaRPr lang="en-US"/>
          </a:p>
        </p:txBody>
      </p:sp>
      <p:sp>
        <p:nvSpPr>
          <p:cNvPr id="41" name="s41"/>
          <p:cNvSpPr/>
          <p:nvPr/>
        </p:nvSpPr>
        <p:spPr>
          <a:xfrm>
            <a:off x="838200" y="520700"/>
            <a:ext cx="180000" cy="180000"/>
          </a:xfrm>
          <a:prstGeom prst="ellipse">
            <a:avLst/>
          </a:prstGeom>
          <a:solidFill>
            <a:srgbClr val="7A7A4E"/>
          </a:solidFill>
          <a:ln>
            <a:noFill/>
          </a:ln>
        </p:spPr>
        <p:txBody>
          <a:bodyPr/>
          <a:lstStyle/>
          <a:p>
            <a:endParaRPr lang="en-US"/>
          </a:p>
        </p:txBody>
      </p:sp>
      <p:sp>
        <p:nvSpPr>
          <p:cNvPr id="42" name="t42"/>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METHOD 03</a:t>
            </a:r>
          </a:p>
        </p:txBody>
      </p:sp>
      <p:sp>
        <p:nvSpPr>
          <p:cNvPr id="43" name="t43"/>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Chain-of-Thought Prompting</a:t>
            </a:r>
          </a:p>
        </p:txBody>
      </p:sp>
      <p:sp>
        <p:nvSpPr>
          <p:cNvPr id="44" name="s44"/>
          <p:cNvSpPr/>
          <p:nvPr/>
        </p:nvSpPr>
        <p:spPr>
          <a:xfrm>
            <a:off x="838200" y="1540000"/>
            <a:ext cx="3200000" cy="26000"/>
          </a:xfrm>
          <a:prstGeom prst="rect">
            <a:avLst/>
          </a:prstGeom>
          <a:solidFill>
            <a:srgbClr val="B4553A"/>
          </a:solidFill>
          <a:ln>
            <a:noFill/>
          </a:ln>
        </p:spPr>
        <p:txBody>
          <a:bodyPr/>
          <a:lstStyle/>
          <a:p>
            <a:endParaRPr lang="en-US"/>
          </a:p>
        </p:txBody>
      </p:sp>
      <p:sp>
        <p:nvSpPr>
          <p:cNvPr id="45" name="t45"/>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Ask for the reasoning path before the verdict, so the logic can be checked instead of trusted.</a:t>
            </a:r>
          </a:p>
        </p:txBody>
      </p:sp>
      <p:sp>
        <p:nvSpPr>
          <p:cNvPr id="46" name="s46"/>
          <p:cNvSpPr/>
          <p:nvPr/>
        </p:nvSpPr>
        <p:spPr>
          <a:xfrm>
            <a:off x="838200" y="6420000"/>
            <a:ext cx="10515600" cy="12700"/>
          </a:xfrm>
          <a:prstGeom prst="rect">
            <a:avLst/>
          </a:prstGeom>
          <a:solidFill>
            <a:srgbClr val="E0CDB0"/>
          </a:solidFill>
          <a:ln>
            <a:noFill/>
          </a:ln>
        </p:spPr>
        <p:txBody>
          <a:bodyPr/>
          <a:lstStyle/>
          <a:p>
            <a:endParaRPr lang="en-US"/>
          </a:p>
        </p:txBody>
      </p:sp>
      <p:sp>
        <p:nvSpPr>
          <p:cNvPr id="47" name="t47"/>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AI prompting framework for HR professionals</a:t>
            </a:r>
          </a:p>
        </p:txBody>
      </p:sp>
      <p:sp>
        <p:nvSpPr>
          <p:cNvPr id="48" name="s48"/>
          <p:cNvSpPr/>
          <p:nvPr/>
        </p:nvSpPr>
        <p:spPr>
          <a:xfrm>
            <a:off x="838200" y="2320000"/>
            <a:ext cx="5127800" cy="3800000"/>
          </a:xfrm>
          <a:prstGeom prst="roundRect">
            <a:avLst>
              <a:gd name="adj" fmla="val 6000"/>
            </a:avLst>
          </a:prstGeom>
          <a:solidFill>
            <a:srgbClr val="FBF6EC"/>
          </a:solidFill>
          <a:ln w="12700">
            <a:solidFill>
              <a:srgbClr val="E0CDB0"/>
            </a:solidFill>
          </a:ln>
        </p:spPr>
        <p:txBody>
          <a:bodyPr/>
          <a:lstStyle/>
          <a:p>
            <a:endParaRPr lang="en-US"/>
          </a:p>
        </p:txBody>
      </p:sp>
      <p:sp>
        <p:nvSpPr>
          <p:cNvPr id="49" name="t49"/>
          <p:cNvSpPr txBox="1"/>
          <p:nvPr/>
        </p:nvSpPr>
        <p:spPr>
          <a:xfrm>
            <a:off x="1178200" y="2660000"/>
            <a:ext cx="4447800" cy="3120000"/>
          </a:xfrm>
          <a:prstGeom prst="rect">
            <a:avLst/>
          </a:prstGeom>
          <a:noFill/>
        </p:spPr>
        <p:txBody>
          <a:bodyPr wrap="square" lIns="0" tIns="0" rIns="0" bIns="0" anchor="t">
            <a:normAutofit/>
          </a:bodyPr>
          <a:lstStyle/>
          <a:p>
            <a:pPr algn="l">
              <a:lnSpc>
                <a:spcPct val="100000"/>
              </a:lnSpc>
              <a:spcBef>
                <a:spcPts val="0"/>
              </a:spcBef>
            </a:pPr>
            <a:r>
              <a:rPr lang="en-US" sz="1150" b="1" spc="150" dirty="0">
                <a:solidFill>
                  <a:srgbClr val="B4553A"/>
                </a:solidFill>
                <a:latin typeface="Segoe UI"/>
                <a:cs typeface="Segoe UI"/>
              </a:rPr>
              <a:t>What it is</a:t>
            </a:r>
          </a:p>
          <a:p>
            <a:pPr algn="l">
              <a:lnSpc>
                <a:spcPct val="120000"/>
              </a:lnSpc>
              <a:spcBef>
                <a:spcPts val="300"/>
              </a:spcBef>
            </a:pPr>
            <a:r>
              <a:rPr lang="en-US" sz="1250" b="0" spc="0" dirty="0">
                <a:solidFill>
                  <a:srgbClr val="4A423A"/>
                </a:solidFill>
                <a:latin typeface="Segoe UI"/>
                <a:cs typeface="Segoe UI"/>
              </a:rPr>
              <a:t>You instruct the model to work through the problem step by step, stating assumptions before it commits to an answer.</a:t>
            </a:r>
          </a:p>
          <a:p>
            <a:pPr algn="l">
              <a:lnSpc>
                <a:spcPct val="100000"/>
              </a:lnSpc>
              <a:spcBef>
                <a:spcPts val="900"/>
              </a:spcBef>
            </a:pPr>
            <a:r>
              <a:rPr lang="en-US" sz="1150" b="1" spc="150" dirty="0">
                <a:solidFill>
                  <a:srgbClr val="B4553A"/>
                </a:solidFill>
                <a:latin typeface="Segoe UI"/>
                <a:cs typeface="Segoe UI"/>
              </a:rPr>
              <a:t>Use it when</a:t>
            </a:r>
          </a:p>
          <a:p>
            <a:pPr algn="l">
              <a:lnSpc>
                <a:spcPct val="120000"/>
              </a:lnSpc>
              <a:spcBef>
                <a:spcPts val="300"/>
              </a:spcBef>
            </a:pPr>
            <a:r>
              <a:rPr lang="en-US" sz="1250" b="0" spc="0" dirty="0">
                <a:solidFill>
                  <a:srgbClr val="4A423A"/>
                </a:solidFill>
                <a:latin typeface="Segoe UI"/>
                <a:cs typeface="Segoe UI"/>
              </a:rPr>
              <a:t>Pay-equity analysis, headcount planning, disciplinary case review, benefits eligibility — anything with multiple conditions.</a:t>
            </a:r>
          </a:p>
          <a:p>
            <a:pPr algn="l">
              <a:lnSpc>
                <a:spcPct val="100000"/>
              </a:lnSpc>
              <a:spcBef>
                <a:spcPts val="900"/>
              </a:spcBef>
            </a:pPr>
            <a:r>
              <a:rPr lang="en-US" sz="1150" b="1" spc="150" dirty="0">
                <a:solidFill>
                  <a:srgbClr val="B4553A"/>
                </a:solidFill>
                <a:latin typeface="Segoe UI"/>
                <a:cs typeface="Segoe UI"/>
              </a:rPr>
              <a:t>Watch out for</a:t>
            </a:r>
          </a:p>
          <a:p>
            <a:pPr algn="l">
              <a:lnSpc>
                <a:spcPct val="120000"/>
              </a:lnSpc>
              <a:spcBef>
                <a:spcPts val="300"/>
              </a:spcBef>
            </a:pPr>
            <a:r>
              <a:rPr lang="en-US" sz="1250" b="0" spc="0" dirty="0">
                <a:solidFill>
                  <a:srgbClr val="4A423A"/>
                </a:solidFill>
                <a:latin typeface="Segoe UI"/>
                <a:cs typeface="Segoe UI"/>
              </a:rPr>
              <a:t>Longer, slower answers, and plausible-looking reasoning can still be wrong. Treat it as a draft argument, not a finding.</a:t>
            </a:r>
          </a:p>
        </p:txBody>
      </p:sp>
      <p:sp>
        <p:nvSpPr>
          <p:cNvPr id="50" name="s50"/>
          <p:cNvSpPr/>
          <p:nvPr/>
        </p:nvSpPr>
        <p:spPr>
          <a:xfrm>
            <a:off x="6226000" y="2320000"/>
            <a:ext cx="5127800" cy="3800000"/>
          </a:xfrm>
          <a:prstGeom prst="roundRect">
            <a:avLst>
              <a:gd name="adj" fmla="val 8000"/>
            </a:avLst>
          </a:prstGeom>
          <a:solidFill>
            <a:srgbClr val="F6EEE0"/>
          </a:solidFill>
          <a:ln w="12700">
            <a:solidFill>
              <a:srgbClr val="E0CDB0"/>
            </a:solidFill>
          </a:ln>
        </p:spPr>
        <p:txBody>
          <a:bodyPr/>
          <a:lstStyle/>
          <a:p>
            <a:endParaRPr lang="en-US"/>
          </a:p>
        </p:txBody>
      </p:sp>
      <p:sp>
        <p:nvSpPr>
          <p:cNvPr id="51" name="s51"/>
          <p:cNvSpPr/>
          <p:nvPr/>
        </p:nvSpPr>
        <p:spPr>
          <a:xfrm>
            <a:off x="6226000" y="2320000"/>
            <a:ext cx="60000" cy="3800000"/>
          </a:xfrm>
          <a:prstGeom prst="rect">
            <a:avLst/>
          </a:prstGeom>
          <a:solidFill>
            <a:srgbClr val="B4553A"/>
          </a:solidFill>
          <a:ln>
            <a:noFill/>
          </a:ln>
        </p:spPr>
        <p:txBody>
          <a:bodyPr/>
          <a:lstStyle/>
          <a:p>
            <a:endParaRPr lang="en-US"/>
          </a:p>
        </p:txBody>
      </p:sp>
      <p:sp>
        <p:nvSpPr>
          <p:cNvPr id="52" name="t52"/>
          <p:cNvSpPr txBox="1"/>
          <p:nvPr/>
        </p:nvSpPr>
        <p:spPr>
          <a:xfrm>
            <a:off x="6526000" y="2540000"/>
            <a:ext cx="4567800" cy="3400000"/>
          </a:xfrm>
          <a:prstGeom prst="rect">
            <a:avLst/>
          </a:prstGeom>
          <a:noFill/>
        </p:spPr>
        <p:txBody>
          <a:bodyPr wrap="square" lIns="0" tIns="0" rIns="0" bIns="0" anchor="t">
            <a:normAutofit/>
          </a:bodyPr>
          <a:lstStyle/>
          <a:p>
            <a:pPr algn="l">
              <a:lnSpc>
                <a:spcPct val="100000"/>
              </a:lnSpc>
              <a:spcBef>
                <a:spcPts val="0"/>
              </a:spcBef>
            </a:pPr>
            <a:r>
              <a:rPr lang="en-US" sz="1000" b="1" spc="200" dirty="0">
                <a:solidFill>
                  <a:srgbClr val="B4553A"/>
                </a:solidFill>
                <a:latin typeface="Segoe UI"/>
                <a:cs typeface="Segoe UI"/>
              </a:rPr>
              <a:t>EXAMPLE PROMPT</a:t>
            </a:r>
          </a:p>
          <a:p>
            <a:pPr algn="l">
              <a:lnSpc>
                <a:spcPct val="115000"/>
              </a:lnSpc>
              <a:spcBef>
                <a:spcPts val="420"/>
              </a:spcBef>
            </a:pPr>
            <a:r>
              <a:rPr lang="en-US" sz="1100" b="0" spc="0" dirty="0">
                <a:solidFill>
                  <a:srgbClr val="2E2A26"/>
                </a:solidFill>
                <a:latin typeface="Consolas"/>
                <a:cs typeface="Consolas"/>
              </a:rPr>
              <a:t>A team of 12 has three pay outliers.</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Work step by step:</a:t>
            </a:r>
          </a:p>
          <a:p>
            <a:pPr algn="l">
              <a:lnSpc>
                <a:spcPct val="115000"/>
              </a:lnSpc>
              <a:spcBef>
                <a:spcPts val="420"/>
              </a:spcBef>
            </a:pPr>
            <a:r>
              <a:rPr lang="en-US" sz="1100" b="0" spc="0" dirty="0">
                <a:solidFill>
                  <a:srgbClr val="2E2A26"/>
                </a:solidFill>
                <a:latin typeface="Consolas"/>
                <a:cs typeface="Consolas"/>
              </a:rPr>
              <a:t>1. List the comparison criteria you will use.</a:t>
            </a:r>
          </a:p>
          <a:p>
            <a:pPr algn="l">
              <a:lnSpc>
                <a:spcPct val="115000"/>
              </a:lnSpc>
              <a:spcBef>
                <a:spcPts val="420"/>
              </a:spcBef>
            </a:pPr>
            <a:r>
              <a:rPr lang="en-US" sz="1100" b="0" spc="0" dirty="0">
                <a:solidFill>
                  <a:srgbClr val="2E2A26"/>
                </a:solidFill>
                <a:latin typeface="Consolas"/>
                <a:cs typeface="Consolas"/>
              </a:rPr>
              <a:t>2. State assumptions and missing data.</a:t>
            </a:r>
          </a:p>
          <a:p>
            <a:pPr algn="l">
              <a:lnSpc>
                <a:spcPct val="115000"/>
              </a:lnSpc>
              <a:spcBef>
                <a:spcPts val="420"/>
              </a:spcBef>
            </a:pPr>
            <a:r>
              <a:rPr lang="en-US" sz="1100" b="0" spc="0" dirty="0">
                <a:solidFill>
                  <a:srgbClr val="2E2A26"/>
                </a:solidFill>
                <a:latin typeface="Consolas"/>
                <a:cs typeface="Consolas"/>
              </a:rPr>
              <a:t>3. Test each outlier against the criteria.</a:t>
            </a:r>
          </a:p>
          <a:p>
            <a:pPr algn="l">
              <a:lnSpc>
                <a:spcPct val="115000"/>
              </a:lnSpc>
              <a:spcBef>
                <a:spcPts val="420"/>
              </a:spcBef>
            </a:pPr>
            <a:r>
              <a:rPr lang="en-US" sz="1100" b="0" spc="0" dirty="0">
                <a:solidFill>
                  <a:srgbClr val="2E2A26"/>
                </a:solidFill>
                <a:latin typeface="Consolas"/>
                <a:cs typeface="Consolas"/>
              </a:rPr>
              <a:t>4. Only then give a recommendation.</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Label anything you inferred as ASSUMPTION.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s155"/>
          <p:cNvSpPr/>
          <p:nvPr/>
        </p:nvSpPr>
        <p:spPr>
          <a:xfrm>
            <a:off x="0" y="0"/>
            <a:ext cx="12192000" cy="6858000"/>
          </a:xfrm>
          <a:prstGeom prst="rect">
            <a:avLst/>
          </a:prstGeom>
          <a:solidFill>
            <a:srgbClr val="F3EBDD"/>
          </a:solidFill>
          <a:ln>
            <a:noFill/>
          </a:ln>
        </p:spPr>
        <p:txBody>
          <a:bodyPr/>
          <a:lstStyle/>
          <a:p>
            <a:endParaRPr lang="en-US"/>
          </a:p>
        </p:txBody>
      </p:sp>
      <p:sp>
        <p:nvSpPr>
          <p:cNvPr id="156" name="s156"/>
          <p:cNvSpPr/>
          <p:nvPr/>
        </p:nvSpPr>
        <p:spPr>
          <a:xfrm>
            <a:off x="0" y="0"/>
            <a:ext cx="12192000" cy="80000"/>
          </a:xfrm>
          <a:prstGeom prst="rect">
            <a:avLst/>
          </a:prstGeom>
          <a:solidFill>
            <a:srgbClr val="B4553A"/>
          </a:solidFill>
          <a:ln>
            <a:noFill/>
          </a:ln>
        </p:spPr>
        <p:txBody>
          <a:bodyPr/>
          <a:lstStyle/>
          <a:p>
            <a:endParaRPr lang="en-US"/>
          </a:p>
        </p:txBody>
      </p:sp>
      <p:sp>
        <p:nvSpPr>
          <p:cNvPr id="157" name="s157"/>
          <p:cNvSpPr/>
          <p:nvPr/>
        </p:nvSpPr>
        <p:spPr>
          <a:xfrm>
            <a:off x="838200" y="520700"/>
            <a:ext cx="180000" cy="180000"/>
          </a:xfrm>
          <a:prstGeom prst="ellipse">
            <a:avLst/>
          </a:prstGeom>
          <a:solidFill>
            <a:srgbClr val="7A7A4E"/>
          </a:solidFill>
          <a:ln>
            <a:noFill/>
          </a:ln>
        </p:spPr>
        <p:txBody>
          <a:bodyPr/>
          <a:lstStyle/>
          <a:p>
            <a:endParaRPr lang="en-US"/>
          </a:p>
        </p:txBody>
      </p:sp>
      <p:sp>
        <p:nvSpPr>
          <p:cNvPr id="158" name="t158"/>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THE WIDER TOOLKIT</a:t>
            </a:r>
          </a:p>
        </p:txBody>
      </p:sp>
      <p:sp>
        <p:nvSpPr>
          <p:cNvPr id="159" name="t159"/>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More Methods Worth Knowing</a:t>
            </a:r>
          </a:p>
        </p:txBody>
      </p:sp>
      <p:sp>
        <p:nvSpPr>
          <p:cNvPr id="160" name="s160"/>
          <p:cNvSpPr/>
          <p:nvPr/>
        </p:nvSpPr>
        <p:spPr>
          <a:xfrm>
            <a:off x="838200" y="1540000"/>
            <a:ext cx="3200000" cy="26000"/>
          </a:xfrm>
          <a:prstGeom prst="rect">
            <a:avLst/>
          </a:prstGeom>
          <a:solidFill>
            <a:srgbClr val="B4553A"/>
          </a:solidFill>
          <a:ln>
            <a:noFill/>
          </a:ln>
        </p:spPr>
        <p:txBody>
          <a:bodyPr/>
          <a:lstStyle/>
          <a:p>
            <a:endParaRPr lang="en-US"/>
          </a:p>
        </p:txBody>
      </p:sp>
      <p:sp>
        <p:nvSpPr>
          <p:cNvPr id="161" name="t161"/>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Combine these with role, shot, and chain-of-thought prompts rather than choosing one.</a:t>
            </a:r>
          </a:p>
        </p:txBody>
      </p:sp>
      <p:sp>
        <p:nvSpPr>
          <p:cNvPr id="162" name="s162"/>
          <p:cNvSpPr/>
          <p:nvPr/>
        </p:nvSpPr>
        <p:spPr>
          <a:xfrm>
            <a:off x="838200" y="6420000"/>
            <a:ext cx="10515600" cy="12700"/>
          </a:xfrm>
          <a:prstGeom prst="rect">
            <a:avLst/>
          </a:prstGeom>
          <a:solidFill>
            <a:srgbClr val="E0CDB0"/>
          </a:solidFill>
          <a:ln>
            <a:noFill/>
          </a:ln>
        </p:spPr>
        <p:txBody>
          <a:bodyPr/>
          <a:lstStyle/>
          <a:p>
            <a:endParaRPr lang="en-US"/>
          </a:p>
        </p:txBody>
      </p:sp>
      <p:sp>
        <p:nvSpPr>
          <p:cNvPr id="163" name="t163"/>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AI prompting framework for HR professionals</a:t>
            </a:r>
          </a:p>
        </p:txBody>
      </p:sp>
      <p:sp>
        <p:nvSpPr>
          <p:cNvPr id="164" name="s164"/>
          <p:cNvSpPr/>
          <p:nvPr/>
        </p:nvSpPr>
        <p:spPr>
          <a:xfrm>
            <a:off x="838200" y="2320000"/>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65" name="s165"/>
          <p:cNvSpPr/>
          <p:nvPr/>
        </p:nvSpPr>
        <p:spPr>
          <a:xfrm>
            <a:off x="1078200" y="2654467"/>
            <a:ext cx="484399" cy="484399"/>
          </a:xfrm>
          <a:prstGeom prst="ellipse">
            <a:avLst/>
          </a:prstGeom>
          <a:solidFill>
            <a:srgbClr val="B4553A"/>
          </a:solidFill>
          <a:ln>
            <a:noFill/>
          </a:ln>
        </p:spPr>
        <p:txBody>
          <a:bodyPr/>
          <a:lstStyle/>
          <a:p>
            <a:endParaRPr lang="en-US"/>
          </a:p>
        </p:txBody>
      </p:sp>
      <p:sp>
        <p:nvSpPr>
          <p:cNvPr id="166" name="t166"/>
          <p:cNvSpPr txBox="1"/>
          <p:nvPr/>
        </p:nvSpPr>
        <p:spPr>
          <a:xfrm>
            <a:off x="1078200" y="2654467"/>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1</a:t>
            </a:r>
          </a:p>
        </p:txBody>
      </p:sp>
      <p:sp>
        <p:nvSpPr>
          <p:cNvPr id="167" name="t167"/>
          <p:cNvSpPr txBox="1"/>
          <p:nvPr/>
        </p:nvSpPr>
        <p:spPr>
          <a:xfrm>
            <a:off x="1822599" y="2492999"/>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dirty="0">
                <a:solidFill>
                  <a:srgbClr val="2E2A26"/>
                </a:solidFill>
                <a:latin typeface="Segoe UI"/>
                <a:cs typeface="Segoe UI"/>
              </a:rPr>
              <a:t>Delimiter &amp; template prompting</a:t>
            </a:r>
          </a:p>
          <a:p>
            <a:pPr algn="l">
              <a:lnSpc>
                <a:spcPct val="115000"/>
              </a:lnSpc>
              <a:spcBef>
                <a:spcPts val="450"/>
              </a:spcBef>
            </a:pPr>
            <a:r>
              <a:rPr lang="en-US" sz="1100" b="0" spc="0" dirty="0">
                <a:solidFill>
                  <a:srgbClr val="4A423A"/>
                </a:solidFill>
                <a:latin typeface="Segoe UI"/>
                <a:cs typeface="Segoe UI"/>
              </a:rPr>
              <a:t>Fence your policy text in triple quotes and give the model a fixed skeleton to fill in each time.</a:t>
            </a:r>
          </a:p>
        </p:txBody>
      </p:sp>
      <p:sp>
        <p:nvSpPr>
          <p:cNvPr id="168" name="s168"/>
          <p:cNvSpPr/>
          <p:nvPr/>
        </p:nvSpPr>
        <p:spPr>
          <a:xfrm>
            <a:off x="6206000" y="2320000"/>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69" name="s169"/>
          <p:cNvSpPr/>
          <p:nvPr/>
        </p:nvSpPr>
        <p:spPr>
          <a:xfrm>
            <a:off x="6446000" y="2654467"/>
            <a:ext cx="484399" cy="484399"/>
          </a:xfrm>
          <a:prstGeom prst="ellipse">
            <a:avLst/>
          </a:prstGeom>
          <a:solidFill>
            <a:srgbClr val="B4553A"/>
          </a:solidFill>
          <a:ln>
            <a:noFill/>
          </a:ln>
        </p:spPr>
        <p:txBody>
          <a:bodyPr/>
          <a:lstStyle/>
          <a:p>
            <a:endParaRPr lang="en-US"/>
          </a:p>
        </p:txBody>
      </p:sp>
      <p:sp>
        <p:nvSpPr>
          <p:cNvPr id="170" name="t170"/>
          <p:cNvSpPr txBox="1"/>
          <p:nvPr/>
        </p:nvSpPr>
        <p:spPr>
          <a:xfrm>
            <a:off x="6446000" y="2654467"/>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2</a:t>
            </a:r>
          </a:p>
        </p:txBody>
      </p:sp>
      <p:sp>
        <p:nvSpPr>
          <p:cNvPr id="171" name="t171"/>
          <p:cNvSpPr txBox="1"/>
          <p:nvPr/>
        </p:nvSpPr>
        <p:spPr>
          <a:xfrm>
            <a:off x="7190399" y="2492999"/>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dirty="0">
                <a:solidFill>
                  <a:srgbClr val="2E2A26"/>
                </a:solidFill>
                <a:latin typeface="Segoe UI"/>
                <a:cs typeface="Segoe UI"/>
              </a:rPr>
              <a:t>Grounded (source-restricted) prompting</a:t>
            </a:r>
          </a:p>
          <a:p>
            <a:pPr algn="l">
              <a:lnSpc>
                <a:spcPct val="115000"/>
              </a:lnSpc>
              <a:spcBef>
                <a:spcPts val="450"/>
              </a:spcBef>
            </a:pPr>
            <a:r>
              <a:rPr lang="en-US" sz="1100" b="0" spc="0" dirty="0">
                <a:solidFill>
                  <a:srgbClr val="4A423A"/>
                </a:solidFill>
                <a:latin typeface="Segoe UI"/>
                <a:cs typeface="Segoe UI"/>
              </a:rPr>
              <a:t>'Answer only from the attached handbook; if it is not there, say so.' The single best hallucination control.</a:t>
            </a:r>
          </a:p>
        </p:txBody>
      </p:sp>
      <p:sp>
        <p:nvSpPr>
          <p:cNvPr id="172" name="s172"/>
          <p:cNvSpPr/>
          <p:nvPr/>
        </p:nvSpPr>
        <p:spPr>
          <a:xfrm>
            <a:off x="838200" y="3643333"/>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73" name="s173"/>
          <p:cNvSpPr/>
          <p:nvPr/>
        </p:nvSpPr>
        <p:spPr>
          <a:xfrm>
            <a:off x="1078200" y="3977800"/>
            <a:ext cx="484399" cy="484399"/>
          </a:xfrm>
          <a:prstGeom prst="ellipse">
            <a:avLst/>
          </a:prstGeom>
          <a:solidFill>
            <a:srgbClr val="B4553A"/>
          </a:solidFill>
          <a:ln>
            <a:noFill/>
          </a:ln>
        </p:spPr>
        <p:txBody>
          <a:bodyPr/>
          <a:lstStyle/>
          <a:p>
            <a:endParaRPr lang="en-US"/>
          </a:p>
        </p:txBody>
      </p:sp>
      <p:sp>
        <p:nvSpPr>
          <p:cNvPr id="174" name="t174"/>
          <p:cNvSpPr txBox="1"/>
          <p:nvPr/>
        </p:nvSpPr>
        <p:spPr>
          <a:xfrm>
            <a:off x="1078200" y="3977800"/>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3</a:t>
            </a:r>
          </a:p>
        </p:txBody>
      </p:sp>
      <p:sp>
        <p:nvSpPr>
          <p:cNvPr id="175" name="t175"/>
          <p:cNvSpPr txBox="1"/>
          <p:nvPr/>
        </p:nvSpPr>
        <p:spPr>
          <a:xfrm>
            <a:off x="1822599" y="3816332"/>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dirty="0">
                <a:solidFill>
                  <a:srgbClr val="2E2A26"/>
                </a:solidFill>
                <a:latin typeface="Segoe UI"/>
                <a:cs typeface="Segoe UI"/>
              </a:rPr>
              <a:t>Constraint &amp; format prompting</a:t>
            </a:r>
          </a:p>
          <a:p>
            <a:pPr algn="l">
              <a:lnSpc>
                <a:spcPct val="115000"/>
              </a:lnSpc>
              <a:spcBef>
                <a:spcPts val="450"/>
              </a:spcBef>
            </a:pPr>
            <a:r>
              <a:rPr lang="en-US" sz="1100" b="0" spc="0" dirty="0">
                <a:solidFill>
                  <a:srgbClr val="4A423A"/>
                </a:solidFill>
                <a:latin typeface="Segoe UI"/>
                <a:cs typeface="Segoe UI"/>
              </a:rPr>
              <a:t>Word counts, banned phrases, reading level, and an explicit output schema such as a five-column table.</a:t>
            </a:r>
          </a:p>
        </p:txBody>
      </p:sp>
      <p:sp>
        <p:nvSpPr>
          <p:cNvPr id="176" name="s176"/>
          <p:cNvSpPr/>
          <p:nvPr/>
        </p:nvSpPr>
        <p:spPr>
          <a:xfrm>
            <a:off x="6206000" y="3643333"/>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77" name="s177"/>
          <p:cNvSpPr/>
          <p:nvPr/>
        </p:nvSpPr>
        <p:spPr>
          <a:xfrm>
            <a:off x="6446000" y="3977800"/>
            <a:ext cx="484399" cy="484399"/>
          </a:xfrm>
          <a:prstGeom prst="ellipse">
            <a:avLst/>
          </a:prstGeom>
          <a:solidFill>
            <a:srgbClr val="B4553A"/>
          </a:solidFill>
          <a:ln>
            <a:noFill/>
          </a:ln>
        </p:spPr>
        <p:txBody>
          <a:bodyPr/>
          <a:lstStyle/>
          <a:p>
            <a:endParaRPr lang="en-US"/>
          </a:p>
        </p:txBody>
      </p:sp>
      <p:sp>
        <p:nvSpPr>
          <p:cNvPr id="178" name="t178"/>
          <p:cNvSpPr txBox="1"/>
          <p:nvPr/>
        </p:nvSpPr>
        <p:spPr>
          <a:xfrm>
            <a:off x="6446000" y="3977800"/>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4</a:t>
            </a:r>
          </a:p>
        </p:txBody>
      </p:sp>
      <p:sp>
        <p:nvSpPr>
          <p:cNvPr id="179" name="t179"/>
          <p:cNvSpPr txBox="1"/>
          <p:nvPr/>
        </p:nvSpPr>
        <p:spPr>
          <a:xfrm>
            <a:off x="7190399" y="3816332"/>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dirty="0">
                <a:solidFill>
                  <a:srgbClr val="2E2A26"/>
                </a:solidFill>
                <a:latin typeface="Segoe UI"/>
                <a:cs typeface="Segoe UI"/>
              </a:rPr>
              <a:t>Self-critique and refine</a:t>
            </a:r>
          </a:p>
          <a:p>
            <a:pPr algn="l">
              <a:lnSpc>
                <a:spcPct val="115000"/>
              </a:lnSpc>
              <a:spcBef>
                <a:spcPts val="450"/>
              </a:spcBef>
            </a:pPr>
            <a:r>
              <a:rPr lang="en-US" sz="1100" b="0" spc="0" dirty="0">
                <a:solidFill>
                  <a:srgbClr val="4A423A"/>
                </a:solidFill>
                <a:latin typeface="Segoe UI"/>
                <a:cs typeface="Segoe UI"/>
              </a:rPr>
              <a:t>Ask for a draft, then 'critique this against our tone and bias guidelines and rewrite the weakest parts.'</a:t>
            </a:r>
          </a:p>
        </p:txBody>
      </p:sp>
      <p:sp>
        <p:nvSpPr>
          <p:cNvPr id="180" name="s180"/>
          <p:cNvSpPr/>
          <p:nvPr/>
        </p:nvSpPr>
        <p:spPr>
          <a:xfrm>
            <a:off x="838200" y="4966666"/>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81" name="s181"/>
          <p:cNvSpPr/>
          <p:nvPr/>
        </p:nvSpPr>
        <p:spPr>
          <a:xfrm>
            <a:off x="1078200" y="5301133"/>
            <a:ext cx="484399" cy="484399"/>
          </a:xfrm>
          <a:prstGeom prst="ellipse">
            <a:avLst/>
          </a:prstGeom>
          <a:solidFill>
            <a:srgbClr val="B4553A"/>
          </a:solidFill>
          <a:ln>
            <a:noFill/>
          </a:ln>
        </p:spPr>
        <p:txBody>
          <a:bodyPr/>
          <a:lstStyle/>
          <a:p>
            <a:endParaRPr lang="en-US"/>
          </a:p>
        </p:txBody>
      </p:sp>
      <p:sp>
        <p:nvSpPr>
          <p:cNvPr id="182" name="t182"/>
          <p:cNvSpPr txBox="1"/>
          <p:nvPr/>
        </p:nvSpPr>
        <p:spPr>
          <a:xfrm>
            <a:off x="1078200" y="5301133"/>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5</a:t>
            </a:r>
          </a:p>
        </p:txBody>
      </p:sp>
      <p:sp>
        <p:nvSpPr>
          <p:cNvPr id="183" name="t183"/>
          <p:cNvSpPr txBox="1"/>
          <p:nvPr/>
        </p:nvSpPr>
        <p:spPr>
          <a:xfrm>
            <a:off x="1822599" y="5139665"/>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dirty="0">
                <a:solidFill>
                  <a:srgbClr val="2E2A26"/>
                </a:solidFill>
                <a:latin typeface="Segoe UI"/>
                <a:cs typeface="Segoe UI"/>
              </a:rPr>
              <a:t>Perspective prompting</a:t>
            </a:r>
          </a:p>
          <a:p>
            <a:pPr algn="l">
              <a:lnSpc>
                <a:spcPct val="115000"/>
              </a:lnSpc>
              <a:spcBef>
                <a:spcPts val="450"/>
              </a:spcBef>
            </a:pPr>
            <a:r>
              <a:rPr lang="en-US" sz="1100" b="0" spc="0" dirty="0">
                <a:solidFill>
                  <a:srgbClr val="4A423A"/>
                </a:solidFill>
                <a:latin typeface="Segoe UI"/>
                <a:cs typeface="Segoe UI"/>
              </a:rPr>
              <a:t>Re-run the same brief as the employee, the manager, and the works council to surface blind spots.</a:t>
            </a:r>
          </a:p>
        </p:txBody>
      </p:sp>
      <p:sp>
        <p:nvSpPr>
          <p:cNvPr id="184" name="s184"/>
          <p:cNvSpPr/>
          <p:nvPr/>
        </p:nvSpPr>
        <p:spPr>
          <a:xfrm>
            <a:off x="6206000" y="4966666"/>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85" name="s185"/>
          <p:cNvSpPr/>
          <p:nvPr/>
        </p:nvSpPr>
        <p:spPr>
          <a:xfrm>
            <a:off x="6446000" y="5301133"/>
            <a:ext cx="484399" cy="484399"/>
          </a:xfrm>
          <a:prstGeom prst="ellipse">
            <a:avLst/>
          </a:prstGeom>
          <a:solidFill>
            <a:srgbClr val="B4553A"/>
          </a:solidFill>
          <a:ln>
            <a:noFill/>
          </a:ln>
        </p:spPr>
        <p:txBody>
          <a:bodyPr/>
          <a:lstStyle/>
          <a:p>
            <a:endParaRPr lang="en-US"/>
          </a:p>
        </p:txBody>
      </p:sp>
      <p:sp>
        <p:nvSpPr>
          <p:cNvPr id="186" name="t186"/>
          <p:cNvSpPr txBox="1"/>
          <p:nvPr/>
        </p:nvSpPr>
        <p:spPr>
          <a:xfrm>
            <a:off x="6446000" y="5301133"/>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6</a:t>
            </a:r>
          </a:p>
        </p:txBody>
      </p:sp>
      <p:sp>
        <p:nvSpPr>
          <p:cNvPr id="187" name="t187"/>
          <p:cNvSpPr txBox="1"/>
          <p:nvPr/>
        </p:nvSpPr>
        <p:spPr>
          <a:xfrm>
            <a:off x="7190399" y="5139665"/>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dirty="0">
                <a:solidFill>
                  <a:srgbClr val="2E2A26"/>
                </a:solidFill>
                <a:latin typeface="Segoe UI"/>
                <a:cs typeface="Segoe UI"/>
              </a:rPr>
              <a:t>Iterative chaining</a:t>
            </a:r>
          </a:p>
          <a:p>
            <a:pPr algn="l">
              <a:lnSpc>
                <a:spcPct val="115000"/>
              </a:lnSpc>
              <a:spcBef>
                <a:spcPts val="450"/>
              </a:spcBef>
            </a:pPr>
            <a:r>
              <a:rPr lang="en-US" sz="1100" b="0" spc="0" dirty="0">
                <a:solidFill>
                  <a:srgbClr val="4A423A"/>
                </a:solidFill>
                <a:latin typeface="Segoe UI"/>
                <a:cs typeface="Segoe UI"/>
              </a:rPr>
              <a:t>Break big jobs into linked prompts: extract, then classify, then summarise, then draft the communication.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s188"/>
          <p:cNvSpPr/>
          <p:nvPr/>
        </p:nvSpPr>
        <p:spPr>
          <a:xfrm>
            <a:off x="0" y="0"/>
            <a:ext cx="12192000" cy="6858000"/>
          </a:xfrm>
          <a:prstGeom prst="rect">
            <a:avLst/>
          </a:prstGeom>
          <a:solidFill>
            <a:srgbClr val="F3EBDD"/>
          </a:solidFill>
          <a:ln>
            <a:noFill/>
          </a:ln>
        </p:spPr>
        <p:txBody>
          <a:bodyPr/>
          <a:lstStyle/>
          <a:p>
            <a:endParaRPr lang="en-US"/>
          </a:p>
        </p:txBody>
      </p:sp>
      <p:sp>
        <p:nvSpPr>
          <p:cNvPr id="189" name="s189"/>
          <p:cNvSpPr/>
          <p:nvPr/>
        </p:nvSpPr>
        <p:spPr>
          <a:xfrm>
            <a:off x="0" y="0"/>
            <a:ext cx="12192000" cy="80000"/>
          </a:xfrm>
          <a:prstGeom prst="rect">
            <a:avLst/>
          </a:prstGeom>
          <a:solidFill>
            <a:srgbClr val="B4553A"/>
          </a:solidFill>
          <a:ln>
            <a:noFill/>
          </a:ln>
        </p:spPr>
        <p:txBody>
          <a:bodyPr/>
          <a:lstStyle/>
          <a:p>
            <a:endParaRPr lang="en-US"/>
          </a:p>
        </p:txBody>
      </p:sp>
      <p:sp>
        <p:nvSpPr>
          <p:cNvPr id="190" name="s190"/>
          <p:cNvSpPr/>
          <p:nvPr/>
        </p:nvSpPr>
        <p:spPr>
          <a:xfrm>
            <a:off x="838200" y="520700"/>
            <a:ext cx="180000" cy="180000"/>
          </a:xfrm>
          <a:prstGeom prst="ellipse">
            <a:avLst/>
          </a:prstGeom>
          <a:solidFill>
            <a:srgbClr val="7A7A4E"/>
          </a:solidFill>
          <a:ln>
            <a:noFill/>
          </a:ln>
        </p:spPr>
        <p:txBody>
          <a:bodyPr/>
          <a:lstStyle/>
          <a:p>
            <a:endParaRPr lang="en-US"/>
          </a:p>
        </p:txBody>
      </p:sp>
      <p:sp>
        <p:nvSpPr>
          <p:cNvPr id="191" name="t191"/>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WORKED EXAMPLE</a:t>
            </a:r>
          </a:p>
        </p:txBody>
      </p:sp>
      <p:sp>
        <p:nvSpPr>
          <p:cNvPr id="192" name="t192"/>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From Vague Ask to Working Prompt</a:t>
            </a:r>
          </a:p>
        </p:txBody>
      </p:sp>
      <p:sp>
        <p:nvSpPr>
          <p:cNvPr id="193" name="s193"/>
          <p:cNvSpPr/>
          <p:nvPr/>
        </p:nvSpPr>
        <p:spPr>
          <a:xfrm>
            <a:off x="838200" y="1540000"/>
            <a:ext cx="3200000" cy="26000"/>
          </a:xfrm>
          <a:prstGeom prst="rect">
            <a:avLst/>
          </a:prstGeom>
          <a:solidFill>
            <a:srgbClr val="B4553A"/>
          </a:solidFill>
          <a:ln>
            <a:noFill/>
          </a:ln>
        </p:spPr>
        <p:txBody>
          <a:bodyPr/>
          <a:lstStyle/>
          <a:p>
            <a:endParaRPr lang="en-US"/>
          </a:p>
        </p:txBody>
      </p:sp>
      <p:sp>
        <p:nvSpPr>
          <p:cNvPr id="194" name="t194"/>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The same request, rewritten with role, context, examples, format, and guardrails in place.</a:t>
            </a:r>
          </a:p>
        </p:txBody>
      </p:sp>
      <p:sp>
        <p:nvSpPr>
          <p:cNvPr id="195" name="s195"/>
          <p:cNvSpPr/>
          <p:nvPr/>
        </p:nvSpPr>
        <p:spPr>
          <a:xfrm>
            <a:off x="838200" y="6420000"/>
            <a:ext cx="10515600" cy="12700"/>
          </a:xfrm>
          <a:prstGeom prst="rect">
            <a:avLst/>
          </a:prstGeom>
          <a:solidFill>
            <a:srgbClr val="E0CDB0"/>
          </a:solidFill>
          <a:ln>
            <a:noFill/>
          </a:ln>
        </p:spPr>
        <p:txBody>
          <a:bodyPr/>
          <a:lstStyle/>
          <a:p>
            <a:endParaRPr lang="en-US"/>
          </a:p>
        </p:txBody>
      </p:sp>
      <p:sp>
        <p:nvSpPr>
          <p:cNvPr id="196" name="t196"/>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AI prompting framework for HR professionals</a:t>
            </a:r>
          </a:p>
        </p:txBody>
      </p:sp>
      <p:sp>
        <p:nvSpPr>
          <p:cNvPr id="197" name="s197"/>
          <p:cNvSpPr/>
          <p:nvPr/>
        </p:nvSpPr>
        <p:spPr>
          <a:xfrm>
            <a:off x="838200" y="2320000"/>
            <a:ext cx="5127800" cy="3800000"/>
          </a:xfrm>
          <a:prstGeom prst="roundRect">
            <a:avLst>
              <a:gd name="adj" fmla="val 8000"/>
            </a:avLst>
          </a:prstGeom>
          <a:solidFill>
            <a:srgbClr val="F6EEE0"/>
          </a:solidFill>
          <a:ln w="12700">
            <a:solidFill>
              <a:srgbClr val="E0CDB0"/>
            </a:solidFill>
          </a:ln>
        </p:spPr>
        <p:txBody>
          <a:bodyPr/>
          <a:lstStyle/>
          <a:p>
            <a:endParaRPr lang="en-US"/>
          </a:p>
        </p:txBody>
      </p:sp>
      <p:sp>
        <p:nvSpPr>
          <p:cNvPr id="198" name="s198"/>
          <p:cNvSpPr/>
          <p:nvPr/>
        </p:nvSpPr>
        <p:spPr>
          <a:xfrm>
            <a:off x="838200" y="2320000"/>
            <a:ext cx="60000" cy="3800000"/>
          </a:xfrm>
          <a:prstGeom prst="rect">
            <a:avLst/>
          </a:prstGeom>
          <a:solidFill>
            <a:srgbClr val="B4553A"/>
          </a:solidFill>
          <a:ln>
            <a:noFill/>
          </a:ln>
        </p:spPr>
        <p:txBody>
          <a:bodyPr/>
          <a:lstStyle/>
          <a:p>
            <a:endParaRPr lang="en-US"/>
          </a:p>
        </p:txBody>
      </p:sp>
      <p:sp>
        <p:nvSpPr>
          <p:cNvPr id="199" name="t199"/>
          <p:cNvSpPr txBox="1"/>
          <p:nvPr/>
        </p:nvSpPr>
        <p:spPr>
          <a:xfrm>
            <a:off x="1138200" y="2540000"/>
            <a:ext cx="4567800" cy="3400000"/>
          </a:xfrm>
          <a:prstGeom prst="rect">
            <a:avLst/>
          </a:prstGeom>
          <a:noFill/>
        </p:spPr>
        <p:txBody>
          <a:bodyPr wrap="square" lIns="0" tIns="0" rIns="0" bIns="0" anchor="t">
            <a:normAutofit/>
          </a:bodyPr>
          <a:lstStyle/>
          <a:p>
            <a:pPr algn="l">
              <a:lnSpc>
                <a:spcPct val="100000"/>
              </a:lnSpc>
              <a:spcBef>
                <a:spcPts val="0"/>
              </a:spcBef>
            </a:pPr>
            <a:r>
              <a:rPr lang="en-US" sz="1000" b="1" spc="200" dirty="0">
                <a:solidFill>
                  <a:srgbClr val="B4553A"/>
                </a:solidFill>
                <a:latin typeface="Segoe UI"/>
                <a:cs typeface="Segoe UI"/>
              </a:rPr>
              <a:t>BEFORE — VAGUE</a:t>
            </a:r>
          </a:p>
          <a:p>
            <a:pPr algn="l">
              <a:lnSpc>
                <a:spcPct val="115000"/>
              </a:lnSpc>
              <a:spcBef>
                <a:spcPts val="420"/>
              </a:spcBef>
            </a:pPr>
            <a:r>
              <a:rPr lang="en-US" sz="1100" b="0" spc="0" dirty="0">
                <a:solidFill>
                  <a:srgbClr val="2E2A26"/>
                </a:solidFill>
                <a:latin typeface="Consolas"/>
                <a:cs typeface="Consolas"/>
              </a:rPr>
              <a:t>Write a job description for an</a:t>
            </a:r>
          </a:p>
          <a:p>
            <a:pPr algn="l">
              <a:lnSpc>
                <a:spcPct val="115000"/>
              </a:lnSpc>
              <a:spcBef>
                <a:spcPts val="420"/>
              </a:spcBef>
            </a:pPr>
            <a:r>
              <a:rPr lang="en-US" sz="1100" b="0" spc="0" dirty="0">
                <a:solidFill>
                  <a:srgbClr val="2E2A26"/>
                </a:solidFill>
                <a:latin typeface="Consolas"/>
                <a:cs typeface="Consolas"/>
              </a:rPr>
              <a:t>HR manager.</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Result:</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Generic duties. Invented requirements.</a:t>
            </a:r>
          </a:p>
          <a:p>
            <a:pPr algn="l">
              <a:lnSpc>
                <a:spcPct val="115000"/>
              </a:lnSpc>
              <a:spcBef>
                <a:spcPts val="420"/>
              </a:spcBef>
            </a:pPr>
            <a:r>
              <a:rPr lang="en-US" sz="1100" b="0" spc="0" dirty="0">
                <a:solidFill>
                  <a:srgbClr val="2E2A26"/>
                </a:solidFill>
                <a:latin typeface="Consolas"/>
                <a:cs typeface="Consolas"/>
              </a:rPr>
              <a:t>Wrong seniority. No inclusive-language</a:t>
            </a:r>
          </a:p>
          <a:p>
            <a:pPr algn="l">
              <a:lnSpc>
                <a:spcPct val="115000"/>
              </a:lnSpc>
              <a:spcBef>
                <a:spcPts val="420"/>
              </a:spcBef>
            </a:pPr>
            <a:r>
              <a:rPr lang="en-US" sz="1100" b="0" spc="0" dirty="0">
                <a:solidFill>
                  <a:srgbClr val="2E2A26"/>
                </a:solidFill>
                <a:latin typeface="Consolas"/>
                <a:cs typeface="Consolas"/>
              </a:rPr>
              <a:t>check. No format control.</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Unusable without a full rewrite.</a:t>
            </a:r>
          </a:p>
        </p:txBody>
      </p:sp>
      <p:sp>
        <p:nvSpPr>
          <p:cNvPr id="200" name="s200"/>
          <p:cNvSpPr/>
          <p:nvPr/>
        </p:nvSpPr>
        <p:spPr>
          <a:xfrm>
            <a:off x="6226000" y="2320000"/>
            <a:ext cx="5127800" cy="3800000"/>
          </a:xfrm>
          <a:prstGeom prst="roundRect">
            <a:avLst>
              <a:gd name="adj" fmla="val 8000"/>
            </a:avLst>
          </a:prstGeom>
          <a:solidFill>
            <a:srgbClr val="F6EEE0"/>
          </a:solidFill>
          <a:ln w="12700">
            <a:solidFill>
              <a:srgbClr val="E0CDB0"/>
            </a:solidFill>
          </a:ln>
        </p:spPr>
        <p:txBody>
          <a:bodyPr/>
          <a:lstStyle/>
          <a:p>
            <a:endParaRPr lang="en-US"/>
          </a:p>
        </p:txBody>
      </p:sp>
      <p:sp>
        <p:nvSpPr>
          <p:cNvPr id="201" name="s201"/>
          <p:cNvSpPr/>
          <p:nvPr/>
        </p:nvSpPr>
        <p:spPr>
          <a:xfrm>
            <a:off x="6226000" y="2320000"/>
            <a:ext cx="60000" cy="3800000"/>
          </a:xfrm>
          <a:prstGeom prst="rect">
            <a:avLst/>
          </a:prstGeom>
          <a:solidFill>
            <a:srgbClr val="B4553A"/>
          </a:solidFill>
          <a:ln>
            <a:noFill/>
          </a:ln>
        </p:spPr>
        <p:txBody>
          <a:bodyPr/>
          <a:lstStyle/>
          <a:p>
            <a:endParaRPr lang="en-US"/>
          </a:p>
        </p:txBody>
      </p:sp>
      <p:sp>
        <p:nvSpPr>
          <p:cNvPr id="202" name="t202"/>
          <p:cNvSpPr txBox="1"/>
          <p:nvPr/>
        </p:nvSpPr>
        <p:spPr>
          <a:xfrm>
            <a:off x="6526000" y="2540000"/>
            <a:ext cx="4567800" cy="3400000"/>
          </a:xfrm>
          <a:prstGeom prst="rect">
            <a:avLst/>
          </a:prstGeom>
          <a:noFill/>
        </p:spPr>
        <p:txBody>
          <a:bodyPr wrap="square" lIns="0" tIns="0" rIns="0" bIns="0" anchor="t">
            <a:normAutofit lnSpcReduction="10000"/>
          </a:bodyPr>
          <a:lstStyle/>
          <a:p>
            <a:pPr algn="l">
              <a:lnSpc>
                <a:spcPct val="100000"/>
              </a:lnSpc>
              <a:spcBef>
                <a:spcPts val="0"/>
              </a:spcBef>
            </a:pPr>
            <a:r>
              <a:rPr lang="en-US" sz="1000" b="1" spc="200" dirty="0">
                <a:solidFill>
                  <a:srgbClr val="B4553A"/>
                </a:solidFill>
                <a:latin typeface="Segoe UI"/>
                <a:cs typeface="Segoe UI"/>
              </a:rPr>
              <a:t>AFTER — STRUCTURED</a:t>
            </a:r>
          </a:p>
          <a:p>
            <a:pPr algn="l">
              <a:lnSpc>
                <a:spcPct val="115000"/>
              </a:lnSpc>
              <a:spcBef>
                <a:spcPts val="420"/>
              </a:spcBef>
            </a:pPr>
            <a:r>
              <a:rPr lang="en-US" sz="1100" b="0" spc="0" dirty="0">
                <a:solidFill>
                  <a:srgbClr val="2E2A26"/>
                </a:solidFill>
                <a:latin typeface="Consolas"/>
                <a:cs typeface="Consolas"/>
              </a:rPr>
              <a:t>You are a talent acquisition lead in</a:t>
            </a:r>
          </a:p>
          <a:p>
            <a:pPr algn="l">
              <a:lnSpc>
                <a:spcPct val="115000"/>
              </a:lnSpc>
              <a:spcBef>
                <a:spcPts val="420"/>
              </a:spcBef>
            </a:pPr>
            <a:r>
              <a:rPr lang="en-US" sz="1100" b="0" spc="0" dirty="0">
                <a:solidFill>
                  <a:srgbClr val="2E2A26"/>
                </a:solidFill>
                <a:latin typeface="Consolas"/>
                <a:cs typeface="Consolas"/>
              </a:rPr>
              <a:t>Indian IT services.</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Write a job description for an HR Manager,</a:t>
            </a:r>
          </a:p>
          <a:p>
            <a:pPr algn="l">
              <a:lnSpc>
                <a:spcPct val="115000"/>
              </a:lnSpc>
              <a:spcBef>
                <a:spcPts val="420"/>
              </a:spcBef>
            </a:pPr>
            <a:r>
              <a:rPr lang="en-US" sz="1100" b="0" spc="0" dirty="0">
                <a:solidFill>
                  <a:srgbClr val="2E2A26"/>
                </a:solidFill>
                <a:latin typeface="Consolas"/>
                <a:cs typeface="Consolas"/>
              </a:rPr>
              <a:t>Bangalore, 8-10 years' experience, owning</a:t>
            </a:r>
          </a:p>
          <a:p>
            <a:pPr algn="l">
              <a:lnSpc>
                <a:spcPct val="115000"/>
              </a:lnSpc>
              <a:spcBef>
                <a:spcPts val="420"/>
              </a:spcBef>
            </a:pPr>
            <a:r>
              <a:rPr lang="en-US" sz="1100" b="0" spc="0" dirty="0">
                <a:solidFill>
                  <a:srgbClr val="2E2A26"/>
                </a:solidFill>
                <a:latin typeface="Consolas"/>
                <a:cs typeface="Consolas"/>
              </a:rPr>
              <a:t>employee relations and performance cycles.</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Use the attached JD as the style example.</a:t>
            </a:r>
          </a:p>
          <a:p>
            <a:pPr algn="l">
              <a:lnSpc>
                <a:spcPct val="115000"/>
              </a:lnSpc>
              <a:spcBef>
                <a:spcPts val="420"/>
              </a:spcBef>
            </a:pPr>
            <a:r>
              <a:rPr lang="en-US" sz="1100" b="0" spc="0" dirty="0">
                <a:solidFill>
                  <a:srgbClr val="2E2A26"/>
                </a:solidFill>
                <a:latin typeface="Consolas"/>
                <a:cs typeface="Consolas"/>
              </a:rPr>
              <a:t>Format: Purpose, Responsibilities (6),</a:t>
            </a:r>
          </a:p>
          <a:p>
            <a:pPr algn="l">
              <a:lnSpc>
                <a:spcPct val="115000"/>
              </a:lnSpc>
              <a:spcBef>
                <a:spcPts val="420"/>
              </a:spcBef>
            </a:pPr>
            <a:r>
              <a:rPr lang="en-US" sz="1100" b="0" spc="0" dirty="0">
                <a:solidFill>
                  <a:srgbClr val="2E2A26"/>
                </a:solidFill>
                <a:latin typeface="Consolas"/>
                <a:cs typeface="Consolas"/>
              </a:rPr>
              <a:t>Must-have skills (5), Nice-to-have (3).</a:t>
            </a:r>
          </a:p>
          <a:p>
            <a:pPr algn="l">
              <a:lnSpc>
                <a:spcPct val="115000"/>
              </a:lnSpc>
              <a:spcBef>
                <a:spcPts val="420"/>
              </a:spcBef>
            </a:pPr>
            <a:endParaRPr lang="en-US" sz="1100" b="0" spc="0" dirty="0">
              <a:solidFill>
                <a:srgbClr val="2E2A26"/>
              </a:solidFill>
              <a:latin typeface="Consolas"/>
              <a:cs typeface="Consolas"/>
            </a:endParaRPr>
          </a:p>
          <a:p>
            <a:pPr algn="l">
              <a:lnSpc>
                <a:spcPct val="115000"/>
              </a:lnSpc>
              <a:spcBef>
                <a:spcPts val="420"/>
              </a:spcBef>
            </a:pPr>
            <a:r>
              <a:rPr lang="en-US" sz="1100" b="0" spc="0" dirty="0">
                <a:solidFill>
                  <a:srgbClr val="2E2A26"/>
                </a:solidFill>
                <a:latin typeface="Consolas"/>
                <a:cs typeface="Consolas"/>
              </a:rPr>
              <a:t>Under 400 words, gender-neutral language,</a:t>
            </a:r>
          </a:p>
          <a:p>
            <a:pPr algn="l">
              <a:lnSpc>
                <a:spcPct val="115000"/>
              </a:lnSpc>
              <a:spcBef>
                <a:spcPts val="420"/>
              </a:spcBef>
            </a:pPr>
            <a:r>
              <a:rPr lang="en-US" sz="1100" b="0" spc="0" dirty="0">
                <a:solidFill>
                  <a:srgbClr val="2E2A26"/>
                </a:solidFill>
                <a:latin typeface="Consolas"/>
                <a:cs typeface="Consolas"/>
              </a:rPr>
              <a:t>no salary figures. Flag any requirement</a:t>
            </a:r>
          </a:p>
          <a:p>
            <a:pPr algn="l">
              <a:lnSpc>
                <a:spcPct val="115000"/>
              </a:lnSpc>
              <a:spcBef>
                <a:spcPts val="420"/>
              </a:spcBef>
            </a:pPr>
            <a:r>
              <a:rPr lang="en-US" sz="1100" b="0" spc="0" dirty="0">
                <a:solidFill>
                  <a:srgbClr val="2E2A26"/>
                </a:solidFill>
                <a:latin typeface="Consolas"/>
                <a:cs typeface="Consolas"/>
              </a:rPr>
              <a:t>you inferred.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s188"/>
          <p:cNvSpPr/>
          <p:nvPr/>
        </p:nvSpPr>
        <p:spPr>
          <a:xfrm>
            <a:off x="0" y="0"/>
            <a:ext cx="12192000" cy="6858000"/>
          </a:xfrm>
          <a:prstGeom prst="rect">
            <a:avLst/>
          </a:prstGeom>
          <a:solidFill>
            <a:srgbClr val="F3EBDD"/>
          </a:solidFill>
          <a:ln>
            <a:noFill/>
          </a:ln>
        </p:spPr>
        <p:txBody>
          <a:bodyPr/>
          <a:lstStyle/>
          <a:p>
            <a:endParaRPr lang="en-US"/>
          </a:p>
        </p:txBody>
      </p:sp>
      <p:sp>
        <p:nvSpPr>
          <p:cNvPr id="189" name="s189"/>
          <p:cNvSpPr/>
          <p:nvPr/>
        </p:nvSpPr>
        <p:spPr>
          <a:xfrm>
            <a:off x="0" y="0"/>
            <a:ext cx="12192000" cy="80000"/>
          </a:xfrm>
          <a:prstGeom prst="rect">
            <a:avLst/>
          </a:prstGeom>
          <a:solidFill>
            <a:srgbClr val="B4553A"/>
          </a:solidFill>
          <a:ln>
            <a:noFill/>
          </a:ln>
        </p:spPr>
        <p:txBody>
          <a:bodyPr/>
          <a:lstStyle/>
          <a:p>
            <a:endParaRPr lang="en-US"/>
          </a:p>
        </p:txBody>
      </p:sp>
      <p:sp>
        <p:nvSpPr>
          <p:cNvPr id="190" name="s190"/>
          <p:cNvSpPr/>
          <p:nvPr/>
        </p:nvSpPr>
        <p:spPr>
          <a:xfrm>
            <a:off x="838200" y="520700"/>
            <a:ext cx="180000" cy="180000"/>
          </a:xfrm>
          <a:prstGeom prst="ellipse">
            <a:avLst/>
          </a:prstGeom>
          <a:solidFill>
            <a:srgbClr val="7A7A4E"/>
          </a:solidFill>
          <a:ln>
            <a:noFill/>
          </a:ln>
        </p:spPr>
        <p:txBody>
          <a:bodyPr/>
          <a:lstStyle/>
          <a:p>
            <a:endParaRPr lang="en-US"/>
          </a:p>
        </p:txBody>
      </p:sp>
      <p:sp>
        <p:nvSpPr>
          <p:cNvPr id="191" name="t191"/>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a:solidFill>
                  <a:srgbClr val="7A7A4E"/>
                </a:solidFill>
                <a:latin typeface="Segoe UI"/>
                <a:cs typeface="Segoe UI"/>
              </a:rPr>
              <a:t>WORKED EXAMPLE</a:t>
            </a:r>
          </a:p>
        </p:txBody>
      </p:sp>
      <p:sp>
        <p:nvSpPr>
          <p:cNvPr id="192" name="t192"/>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a:solidFill>
                  <a:srgbClr val="2E2A26"/>
                </a:solidFill>
                <a:latin typeface="Georgia"/>
                <a:cs typeface="Georgia"/>
              </a:rPr>
              <a:t>H.R. S.M.A.R.T in a Single Prompt</a:t>
            </a:r>
          </a:p>
        </p:txBody>
      </p:sp>
      <p:sp>
        <p:nvSpPr>
          <p:cNvPr id="193" name="s193"/>
          <p:cNvSpPr/>
          <p:nvPr/>
        </p:nvSpPr>
        <p:spPr>
          <a:xfrm>
            <a:off x="838200" y="1540000"/>
            <a:ext cx="3200000" cy="26000"/>
          </a:xfrm>
          <a:prstGeom prst="rect">
            <a:avLst/>
          </a:prstGeom>
          <a:solidFill>
            <a:srgbClr val="B4553A"/>
          </a:solidFill>
          <a:ln>
            <a:noFill/>
          </a:ln>
        </p:spPr>
        <p:txBody>
          <a:bodyPr/>
          <a:lstStyle/>
          <a:p>
            <a:endParaRPr lang="en-US"/>
          </a:p>
        </p:txBody>
      </p:sp>
      <p:sp>
        <p:nvSpPr>
          <p:cNvPr id="194" name="t194"/>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a:solidFill>
                  <a:srgbClr val="4A423A"/>
                </a:solidFill>
                <a:latin typeface="Segoe UI"/>
                <a:cs typeface="Segoe UI"/>
              </a:rPr>
              <a:t>A Copilot adoption plan, built element by element, with every part of the framework doing visible work.</a:t>
            </a:r>
          </a:p>
        </p:txBody>
      </p:sp>
      <p:sp>
        <p:nvSpPr>
          <p:cNvPr id="195" name="s195"/>
          <p:cNvSpPr/>
          <p:nvPr/>
        </p:nvSpPr>
        <p:spPr>
          <a:xfrm>
            <a:off x="838200" y="6420000"/>
            <a:ext cx="10515600" cy="12700"/>
          </a:xfrm>
          <a:prstGeom prst="rect">
            <a:avLst/>
          </a:prstGeom>
          <a:solidFill>
            <a:srgbClr val="E0CDB0"/>
          </a:solidFill>
          <a:ln>
            <a:noFill/>
          </a:ln>
        </p:spPr>
        <p:txBody>
          <a:bodyPr/>
          <a:lstStyle/>
          <a:p>
            <a:endParaRPr lang="en-US"/>
          </a:p>
        </p:txBody>
      </p:sp>
      <p:sp>
        <p:nvSpPr>
          <p:cNvPr id="196" name="t196"/>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a:solidFill>
                  <a:srgbClr val="4A423A"/>
                </a:solidFill>
                <a:latin typeface="Segoe UI"/>
                <a:cs typeface="Segoe UI"/>
              </a:rPr>
              <a:t>H.R. S.M.A.R.T prompting framework</a:t>
            </a:r>
          </a:p>
        </p:txBody>
      </p:sp>
      <p:sp>
        <p:nvSpPr>
          <p:cNvPr id="197" name="s197"/>
          <p:cNvSpPr/>
          <p:nvPr/>
        </p:nvSpPr>
        <p:spPr>
          <a:xfrm>
            <a:off x="838200" y="2320000"/>
            <a:ext cx="5127800" cy="3800000"/>
          </a:xfrm>
          <a:prstGeom prst="roundRect">
            <a:avLst>
              <a:gd name="adj" fmla="val 8000"/>
            </a:avLst>
          </a:prstGeom>
          <a:solidFill>
            <a:srgbClr val="F6EEE0"/>
          </a:solidFill>
          <a:ln w="12700">
            <a:solidFill>
              <a:srgbClr val="E0CDB0"/>
            </a:solidFill>
          </a:ln>
        </p:spPr>
        <p:txBody>
          <a:bodyPr/>
          <a:lstStyle/>
          <a:p>
            <a:endParaRPr lang="en-US"/>
          </a:p>
        </p:txBody>
      </p:sp>
      <p:sp>
        <p:nvSpPr>
          <p:cNvPr id="198" name="s198"/>
          <p:cNvSpPr/>
          <p:nvPr/>
        </p:nvSpPr>
        <p:spPr>
          <a:xfrm>
            <a:off x="838200" y="2320000"/>
            <a:ext cx="60000" cy="3800000"/>
          </a:xfrm>
          <a:prstGeom prst="rect">
            <a:avLst/>
          </a:prstGeom>
          <a:solidFill>
            <a:srgbClr val="B4553A"/>
          </a:solidFill>
          <a:ln>
            <a:noFill/>
          </a:ln>
        </p:spPr>
        <p:txBody>
          <a:bodyPr/>
          <a:lstStyle/>
          <a:p>
            <a:endParaRPr lang="en-US"/>
          </a:p>
        </p:txBody>
      </p:sp>
      <p:sp>
        <p:nvSpPr>
          <p:cNvPr id="199" name="t199"/>
          <p:cNvSpPr txBox="1"/>
          <p:nvPr/>
        </p:nvSpPr>
        <p:spPr>
          <a:xfrm>
            <a:off x="1138200" y="2540000"/>
            <a:ext cx="4567800" cy="3400000"/>
          </a:xfrm>
          <a:prstGeom prst="rect">
            <a:avLst/>
          </a:prstGeom>
          <a:noFill/>
        </p:spPr>
        <p:txBody>
          <a:bodyPr wrap="square" lIns="0" tIns="0" rIns="0" bIns="0" anchor="t">
            <a:normAutofit/>
          </a:bodyPr>
          <a:lstStyle/>
          <a:p>
            <a:pPr algn="l">
              <a:lnSpc>
                <a:spcPct val="100000"/>
              </a:lnSpc>
              <a:spcBef>
                <a:spcPts val="0"/>
              </a:spcBef>
            </a:pPr>
            <a:r>
              <a:rPr lang="en-US" sz="1000" b="1" spc="200">
                <a:solidFill>
                  <a:srgbClr val="B4553A"/>
                </a:solidFill>
                <a:latin typeface="Segoe UI"/>
                <a:cs typeface="Segoe UI"/>
              </a:rPr>
              <a:t>THE PROMPT — H.R. S.M.A.R.T</a:t>
            </a:r>
          </a:p>
          <a:p>
            <a:pPr algn="l">
              <a:lnSpc>
                <a:spcPct val="115000"/>
              </a:lnSpc>
              <a:spcBef>
                <a:spcPts val="420"/>
              </a:spcBef>
            </a:pPr>
            <a:endParaRPr lang="en-US" sz="1000" b="1" spc="200">
              <a:solidFill>
                <a:srgbClr val="B4553A"/>
              </a:solidFill>
              <a:latin typeface="Segoe UI"/>
              <a:cs typeface="Segoe UI"/>
            </a:endParaRPr>
          </a:p>
          <a:p>
            <a:pPr algn="l">
              <a:lnSpc>
                <a:spcPct val="115000"/>
              </a:lnSpc>
              <a:spcBef>
                <a:spcPts val="420"/>
              </a:spcBef>
            </a:pPr>
            <a:r>
              <a:rPr lang="en-US" sz="1100" b="0" spc="0">
                <a:solidFill>
                  <a:srgbClr val="2E2A26"/>
                </a:solidFill>
                <a:latin typeface="Consolas"/>
                <a:cs typeface="Consolas"/>
              </a:rPr>
              <a:t>H   Senior HR business partner</a:t>
            </a:r>
          </a:p>
          <a:p>
            <a:pPr algn="l">
              <a:lnSpc>
                <a:spcPct val="115000"/>
              </a:lnSpc>
              <a:spcBef>
                <a:spcPts val="420"/>
              </a:spcBef>
            </a:pPr>
            <a:r>
              <a:rPr lang="en-US" sz="1100" b="0" spc="0">
                <a:solidFill>
                  <a:srgbClr val="2E2A26"/>
                </a:solidFill>
                <a:latin typeface="Consolas"/>
                <a:cs typeface="Consolas"/>
              </a:rPr>
              <a:t>R   Create a Copilot adoption plan</a:t>
            </a:r>
          </a:p>
          <a:p>
            <a:pPr algn="l">
              <a:lnSpc>
                <a:spcPct val="115000"/>
              </a:lnSpc>
              <a:spcBef>
                <a:spcPts val="420"/>
              </a:spcBef>
            </a:pPr>
            <a:r>
              <a:rPr lang="en-US" sz="1100" b="0" spc="0">
                <a:solidFill>
                  <a:srgbClr val="2E2A26"/>
                </a:solidFill>
                <a:latin typeface="Consolas"/>
                <a:cs typeface="Consolas"/>
              </a:rPr>
              <a:t>S   1,000 staff, mixed AI familiarity</a:t>
            </a:r>
          </a:p>
          <a:p>
            <a:pPr algn="l">
              <a:lnSpc>
                <a:spcPct val="115000"/>
              </a:lnSpc>
              <a:spcBef>
                <a:spcPts val="420"/>
              </a:spcBef>
            </a:pPr>
            <a:r>
              <a:rPr lang="en-US" sz="1100" b="0" spc="0">
                <a:solidFill>
                  <a:srgbClr val="2E2A26"/>
                </a:solidFill>
                <a:latin typeface="Consolas"/>
                <a:cs typeface="Consolas"/>
              </a:rPr>
              <a:t>M   Executives, managers, employees</a:t>
            </a:r>
          </a:p>
          <a:p>
            <a:pPr algn="l">
              <a:lnSpc>
                <a:spcPct val="115000"/>
              </a:lnSpc>
              <a:spcBef>
                <a:spcPts val="420"/>
              </a:spcBef>
            </a:pPr>
            <a:r>
              <a:rPr lang="en-US" sz="1100" b="0" spc="0">
                <a:solidFill>
                  <a:srgbClr val="2E2A26"/>
                </a:solidFill>
                <a:latin typeface="Consolas"/>
                <a:cs typeface="Consolas"/>
              </a:rPr>
              <a:t>A   90-day plan, messages, KPIs, risks</a:t>
            </a:r>
          </a:p>
          <a:p>
            <a:pPr algn="l">
              <a:lnSpc>
                <a:spcPct val="115000"/>
              </a:lnSpc>
              <a:spcBef>
                <a:spcPts val="420"/>
              </a:spcBef>
            </a:pPr>
            <a:r>
              <a:rPr lang="en-US" sz="1100" b="0" spc="0">
                <a:solidFill>
                  <a:srgbClr val="2E2A26"/>
                </a:solidFill>
                <a:latin typeface="Consolas"/>
                <a:cs typeface="Consolas"/>
              </a:rPr>
              <a:t>R   Summary, roadmap, risk matrices</a:t>
            </a:r>
          </a:p>
          <a:p>
            <a:pPr algn="l">
              <a:lnSpc>
                <a:spcPct val="115000"/>
              </a:lnSpc>
              <a:spcBef>
                <a:spcPts val="420"/>
              </a:spcBef>
            </a:pPr>
            <a:r>
              <a:rPr lang="en-US" sz="1100" b="0" spc="0">
                <a:solidFill>
                  <a:srgbClr val="2E2A26"/>
                </a:solidFill>
                <a:latin typeface="Consolas"/>
                <a:cs typeface="Consolas"/>
              </a:rPr>
              <a:t>T   Professional, simple, measurable</a:t>
            </a:r>
          </a:p>
          <a:p>
            <a:pPr algn="l">
              <a:lnSpc>
                <a:spcPct val="115000"/>
              </a:lnSpc>
              <a:spcBef>
                <a:spcPts val="420"/>
              </a:spcBef>
            </a:pPr>
            <a:endParaRPr lang="en-US" sz="1100" b="0" spc="0">
              <a:solidFill>
                <a:srgbClr val="2E2A26"/>
              </a:solidFill>
              <a:latin typeface="Consolas"/>
              <a:cs typeface="Consolas"/>
            </a:endParaRPr>
          </a:p>
          <a:p>
            <a:pPr algn="l">
              <a:lnSpc>
                <a:spcPct val="115000"/>
              </a:lnSpc>
              <a:spcBef>
                <a:spcPts val="420"/>
              </a:spcBef>
            </a:pPr>
            <a:r>
              <a:rPr lang="en-US" sz="1100" b="0" spc="0">
                <a:solidFill>
                  <a:srgbClr val="2E2A26"/>
                </a:solidFill>
                <a:latin typeface="Consolas"/>
                <a:cs typeface="Consolas"/>
              </a:rPr>
              <a:t>Seven lines. Nothing invented, and</a:t>
            </a:r>
          </a:p>
          <a:p>
            <a:pPr algn="l">
              <a:lnSpc>
                <a:spcPct val="115000"/>
              </a:lnSpc>
              <a:spcBef>
                <a:spcPts val="420"/>
              </a:spcBef>
            </a:pPr>
            <a:r>
              <a:rPr lang="en-US" sz="1100" b="0" spc="0">
                <a:solidFill>
                  <a:srgbClr val="2E2A26"/>
                </a:solidFill>
                <a:latin typeface="Consolas"/>
                <a:cs typeface="Consolas"/>
              </a:rPr>
              <a:t>nothing left for the model to guess.</a:t>
            </a:r>
          </a:p>
        </p:txBody>
      </p:sp>
      <p:sp>
        <p:nvSpPr>
          <p:cNvPr id="200" name="s200"/>
          <p:cNvSpPr/>
          <p:nvPr/>
        </p:nvSpPr>
        <p:spPr>
          <a:xfrm>
            <a:off x="6226000" y="2320000"/>
            <a:ext cx="5127800" cy="3800000"/>
          </a:xfrm>
          <a:prstGeom prst="roundRect">
            <a:avLst>
              <a:gd name="adj" fmla="val 8000"/>
            </a:avLst>
          </a:prstGeom>
          <a:solidFill>
            <a:srgbClr val="F6EEE0"/>
          </a:solidFill>
          <a:ln w="12700">
            <a:solidFill>
              <a:srgbClr val="E0CDB0"/>
            </a:solidFill>
          </a:ln>
        </p:spPr>
        <p:txBody>
          <a:bodyPr/>
          <a:lstStyle/>
          <a:p>
            <a:endParaRPr lang="en-US"/>
          </a:p>
        </p:txBody>
      </p:sp>
      <p:sp>
        <p:nvSpPr>
          <p:cNvPr id="201" name="s201"/>
          <p:cNvSpPr/>
          <p:nvPr/>
        </p:nvSpPr>
        <p:spPr>
          <a:xfrm>
            <a:off x="6226000" y="2320000"/>
            <a:ext cx="60000" cy="3800000"/>
          </a:xfrm>
          <a:prstGeom prst="rect">
            <a:avLst/>
          </a:prstGeom>
          <a:solidFill>
            <a:srgbClr val="B4553A"/>
          </a:solidFill>
          <a:ln>
            <a:noFill/>
          </a:ln>
        </p:spPr>
        <p:txBody>
          <a:bodyPr/>
          <a:lstStyle/>
          <a:p>
            <a:endParaRPr lang="en-US"/>
          </a:p>
        </p:txBody>
      </p:sp>
      <p:sp>
        <p:nvSpPr>
          <p:cNvPr id="202" name="t202"/>
          <p:cNvSpPr txBox="1"/>
          <p:nvPr/>
        </p:nvSpPr>
        <p:spPr>
          <a:xfrm>
            <a:off x="6526000" y="2540000"/>
            <a:ext cx="4567800" cy="3400000"/>
          </a:xfrm>
          <a:prstGeom prst="rect">
            <a:avLst/>
          </a:prstGeom>
          <a:noFill/>
        </p:spPr>
        <p:txBody>
          <a:bodyPr wrap="square" lIns="0" tIns="0" rIns="0" bIns="0" anchor="t">
            <a:normAutofit lnSpcReduction="10000"/>
          </a:bodyPr>
          <a:lstStyle/>
          <a:p>
            <a:pPr algn="l">
              <a:lnSpc>
                <a:spcPct val="100000"/>
              </a:lnSpc>
              <a:spcBef>
                <a:spcPts val="0"/>
              </a:spcBef>
            </a:pPr>
            <a:r>
              <a:rPr lang="en-US" sz="1000" b="1" spc="200">
                <a:solidFill>
                  <a:srgbClr val="B4553A"/>
                </a:solidFill>
                <a:latin typeface="Segoe UI"/>
                <a:cs typeface="Segoe UI"/>
              </a:rPr>
              <a:t>WHY EACH ELEMENT EARNS ITS PLACE</a:t>
            </a:r>
          </a:p>
          <a:p>
            <a:pPr algn="l">
              <a:lnSpc>
                <a:spcPct val="115000"/>
              </a:lnSpc>
              <a:spcBef>
                <a:spcPts val="420"/>
              </a:spcBef>
            </a:pPr>
            <a:r>
              <a:rPr lang="en-US" sz="1100" b="0" spc="0">
                <a:solidFill>
                  <a:srgbClr val="2E2A26"/>
                </a:solidFill>
                <a:latin typeface="Consolas"/>
                <a:cs typeface="Consolas"/>
              </a:rPr>
              <a:t>H   Sets vocabulary, seniority and caution.</a:t>
            </a:r>
          </a:p>
          <a:p>
            <a:pPr algn="l">
              <a:lnSpc>
                <a:spcPct val="115000"/>
              </a:lnSpc>
              <a:spcBef>
                <a:spcPts val="420"/>
              </a:spcBef>
            </a:pPr>
            <a:r>
              <a:rPr lang="en-US" sz="1100" b="0" spc="0">
                <a:solidFill>
                  <a:srgbClr val="2E2A26"/>
                </a:solidFill>
                <a:latin typeface="Consolas"/>
                <a:cs typeface="Consolas"/>
              </a:rPr>
              <a:t>R   One deliverable, not a topic.</a:t>
            </a:r>
          </a:p>
          <a:p>
            <a:pPr algn="l">
              <a:lnSpc>
                <a:spcPct val="115000"/>
              </a:lnSpc>
              <a:spcBef>
                <a:spcPts val="420"/>
              </a:spcBef>
            </a:pPr>
            <a:endParaRPr lang="en-US" sz="1100" b="0" spc="0">
              <a:solidFill>
                <a:srgbClr val="2E2A26"/>
              </a:solidFill>
              <a:latin typeface="Consolas"/>
              <a:cs typeface="Consolas"/>
            </a:endParaRPr>
          </a:p>
          <a:p>
            <a:pPr algn="l">
              <a:lnSpc>
                <a:spcPct val="115000"/>
              </a:lnSpc>
              <a:spcBef>
                <a:spcPts val="420"/>
              </a:spcBef>
            </a:pPr>
            <a:r>
              <a:rPr lang="en-US" sz="1100" b="0" spc="0">
                <a:solidFill>
                  <a:srgbClr val="2E2A26"/>
                </a:solidFill>
                <a:latin typeface="Consolas"/>
                <a:cs typeface="Consolas"/>
              </a:rPr>
              <a:t>S   Scale and readiness shape the plan.</a:t>
            </a:r>
          </a:p>
          <a:p>
            <a:pPr algn="l">
              <a:lnSpc>
                <a:spcPct val="115000"/>
              </a:lnSpc>
              <a:spcBef>
                <a:spcPts val="420"/>
              </a:spcBef>
            </a:pPr>
            <a:r>
              <a:rPr lang="en-US" sz="1100" b="0" spc="0">
                <a:solidFill>
                  <a:srgbClr val="2E2A26"/>
                </a:solidFill>
                <a:latin typeface="Consolas"/>
                <a:cs typeface="Consolas"/>
              </a:rPr>
              <a:t>M   Three audiences, three messages.</a:t>
            </a:r>
          </a:p>
          <a:p>
            <a:pPr algn="l">
              <a:lnSpc>
                <a:spcPct val="115000"/>
              </a:lnSpc>
              <a:spcBef>
                <a:spcPts val="420"/>
              </a:spcBef>
            </a:pPr>
            <a:r>
              <a:rPr lang="en-US" sz="1100" b="0" spc="0">
                <a:solidFill>
                  <a:srgbClr val="2E2A26"/>
                </a:solidFill>
                <a:latin typeface="Consolas"/>
                <a:cs typeface="Consolas"/>
              </a:rPr>
              <a:t>A   Explicit outputs, nothing implied.</a:t>
            </a:r>
          </a:p>
          <a:p>
            <a:pPr algn="l">
              <a:lnSpc>
                <a:spcPct val="115000"/>
              </a:lnSpc>
              <a:spcBef>
                <a:spcPts val="420"/>
              </a:spcBef>
            </a:pPr>
            <a:endParaRPr lang="en-US" sz="1100" b="0" spc="0">
              <a:solidFill>
                <a:srgbClr val="2E2A26"/>
              </a:solidFill>
              <a:latin typeface="Consolas"/>
              <a:cs typeface="Consolas"/>
            </a:endParaRPr>
          </a:p>
          <a:p>
            <a:pPr algn="l">
              <a:lnSpc>
                <a:spcPct val="115000"/>
              </a:lnSpc>
              <a:spcBef>
                <a:spcPts val="420"/>
              </a:spcBef>
            </a:pPr>
            <a:r>
              <a:rPr lang="en-US" sz="1100" b="0" spc="0">
                <a:solidFill>
                  <a:srgbClr val="2E2A26"/>
                </a:solidFill>
                <a:latin typeface="Consolas"/>
                <a:cs typeface="Consolas"/>
              </a:rPr>
              <a:t>R   A format the team can actually use.</a:t>
            </a:r>
          </a:p>
          <a:p>
            <a:pPr algn="l">
              <a:lnSpc>
                <a:spcPct val="115000"/>
              </a:lnSpc>
              <a:spcBef>
                <a:spcPts val="420"/>
              </a:spcBef>
            </a:pPr>
            <a:r>
              <a:rPr lang="en-US" sz="1100" b="0" spc="0">
                <a:solidFill>
                  <a:srgbClr val="2E2A26"/>
                </a:solidFill>
                <a:latin typeface="Consolas"/>
                <a:cs typeface="Consolas"/>
              </a:rPr>
              <a:t>T   Tone, limits and review built in.</a:t>
            </a:r>
          </a:p>
          <a:p>
            <a:pPr algn="l">
              <a:lnSpc>
                <a:spcPct val="115000"/>
              </a:lnSpc>
              <a:spcBef>
                <a:spcPts val="420"/>
              </a:spcBef>
            </a:pPr>
            <a:endParaRPr lang="en-US" sz="1100" b="0" spc="0">
              <a:solidFill>
                <a:srgbClr val="2E2A26"/>
              </a:solidFill>
              <a:latin typeface="Consolas"/>
              <a:cs typeface="Consolas"/>
            </a:endParaRPr>
          </a:p>
          <a:p>
            <a:pPr algn="l">
              <a:lnSpc>
                <a:spcPct val="115000"/>
              </a:lnSpc>
              <a:spcBef>
                <a:spcPts val="420"/>
              </a:spcBef>
            </a:pPr>
            <a:r>
              <a:rPr lang="en-US" sz="1100" b="0" spc="0">
                <a:solidFill>
                  <a:srgbClr val="2E2A26"/>
                </a:solidFill>
                <a:latin typeface="Consolas"/>
                <a:cs typeface="Consolas"/>
              </a:rPr>
              <a:t>Drop one element and the gap shows up</a:t>
            </a:r>
          </a:p>
          <a:p>
            <a:pPr algn="l">
              <a:lnSpc>
                <a:spcPct val="115000"/>
              </a:lnSpc>
              <a:spcBef>
                <a:spcPts val="420"/>
              </a:spcBef>
            </a:pPr>
            <a:r>
              <a:rPr lang="en-US" sz="1100" b="0" spc="0">
                <a:solidFill>
                  <a:srgbClr val="2E2A26"/>
                </a:solidFill>
                <a:latin typeface="Consolas"/>
                <a:cs typeface="Consolas"/>
              </a:rPr>
              <a:t>in the output, usually as invented</a:t>
            </a:r>
          </a:p>
          <a:p>
            <a:pPr algn="l">
              <a:lnSpc>
                <a:spcPct val="115000"/>
              </a:lnSpc>
              <a:spcBef>
                <a:spcPts val="420"/>
              </a:spcBef>
            </a:pPr>
            <a:r>
              <a:rPr lang="en-US" sz="1100" b="0" spc="0">
                <a:solidFill>
                  <a:srgbClr val="2E2A26"/>
                </a:solidFill>
                <a:latin typeface="Consolas"/>
                <a:cs typeface="Consolas"/>
              </a:rPr>
              <a:t>detail, the wrong tone, or the wrong</a:t>
            </a:r>
          </a:p>
          <a:p>
            <a:pPr algn="l">
              <a:lnSpc>
                <a:spcPct val="115000"/>
              </a:lnSpc>
              <a:spcBef>
                <a:spcPts val="420"/>
              </a:spcBef>
            </a:pPr>
            <a:r>
              <a:rPr lang="en-US" sz="1100" b="0" spc="0">
                <a:solidFill>
                  <a:srgbClr val="2E2A26"/>
                </a:solidFill>
                <a:latin typeface="Consolas"/>
                <a:cs typeface="Consolas"/>
              </a:rPr>
              <a:t>audience.</a:t>
            </a:r>
          </a:p>
        </p:txBody>
      </p:sp>
    </p:spTree>
    <p:extLst>
      <p:ext uri="{BB962C8B-B14F-4D97-AF65-F5344CB8AC3E}">
        <p14:creationId xmlns:p14="http://schemas.microsoft.com/office/powerpoint/2010/main" val="3938014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s155"/>
          <p:cNvSpPr/>
          <p:nvPr/>
        </p:nvSpPr>
        <p:spPr>
          <a:xfrm>
            <a:off x="0" y="0"/>
            <a:ext cx="12192000" cy="6858000"/>
          </a:xfrm>
          <a:prstGeom prst="rect">
            <a:avLst/>
          </a:prstGeom>
          <a:solidFill>
            <a:srgbClr val="F3EBDD"/>
          </a:solidFill>
          <a:ln>
            <a:noFill/>
          </a:ln>
        </p:spPr>
        <p:txBody>
          <a:bodyPr/>
          <a:lstStyle/>
          <a:p>
            <a:endParaRPr lang="en-US"/>
          </a:p>
        </p:txBody>
      </p:sp>
      <p:sp>
        <p:nvSpPr>
          <p:cNvPr id="156" name="s156"/>
          <p:cNvSpPr/>
          <p:nvPr/>
        </p:nvSpPr>
        <p:spPr>
          <a:xfrm>
            <a:off x="0" y="0"/>
            <a:ext cx="12192000" cy="80000"/>
          </a:xfrm>
          <a:prstGeom prst="rect">
            <a:avLst/>
          </a:prstGeom>
          <a:solidFill>
            <a:srgbClr val="B4553A"/>
          </a:solidFill>
          <a:ln>
            <a:noFill/>
          </a:ln>
        </p:spPr>
        <p:txBody>
          <a:bodyPr/>
          <a:lstStyle/>
          <a:p>
            <a:endParaRPr lang="en-US"/>
          </a:p>
        </p:txBody>
      </p:sp>
      <p:sp>
        <p:nvSpPr>
          <p:cNvPr id="157" name="s157"/>
          <p:cNvSpPr/>
          <p:nvPr/>
        </p:nvSpPr>
        <p:spPr>
          <a:xfrm>
            <a:off x="838200" y="520700"/>
            <a:ext cx="180000" cy="180000"/>
          </a:xfrm>
          <a:prstGeom prst="ellipse">
            <a:avLst/>
          </a:prstGeom>
          <a:solidFill>
            <a:srgbClr val="7A7A4E"/>
          </a:solidFill>
          <a:ln>
            <a:noFill/>
          </a:ln>
        </p:spPr>
        <p:txBody>
          <a:bodyPr/>
          <a:lstStyle/>
          <a:p>
            <a:endParaRPr lang="en-US"/>
          </a:p>
        </p:txBody>
      </p:sp>
      <p:sp>
        <p:nvSpPr>
          <p:cNvPr id="158" name="t158"/>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a:solidFill>
                  <a:srgbClr val="7A7A4E"/>
                </a:solidFill>
                <a:latin typeface="Segoe UI"/>
                <a:cs typeface="Segoe UI"/>
              </a:rPr>
              <a:t>ACROSS THE HR LIFECYCLE</a:t>
            </a:r>
          </a:p>
        </p:txBody>
      </p:sp>
      <p:sp>
        <p:nvSpPr>
          <p:cNvPr id="159" name="t159"/>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a:solidFill>
                  <a:srgbClr val="2E2A26"/>
                </a:solidFill>
                <a:latin typeface="Georgia"/>
                <a:cs typeface="Georgia"/>
              </a:rPr>
              <a:t>One Framework, Many Workflows</a:t>
            </a:r>
          </a:p>
        </p:txBody>
      </p:sp>
      <p:sp>
        <p:nvSpPr>
          <p:cNvPr id="160" name="s160"/>
          <p:cNvSpPr/>
          <p:nvPr/>
        </p:nvSpPr>
        <p:spPr>
          <a:xfrm>
            <a:off x="838200" y="1540000"/>
            <a:ext cx="3200000" cy="26000"/>
          </a:xfrm>
          <a:prstGeom prst="rect">
            <a:avLst/>
          </a:prstGeom>
          <a:solidFill>
            <a:srgbClr val="B4553A"/>
          </a:solidFill>
          <a:ln>
            <a:noFill/>
          </a:ln>
        </p:spPr>
        <p:txBody>
          <a:bodyPr/>
          <a:lstStyle/>
          <a:p>
            <a:endParaRPr lang="en-US"/>
          </a:p>
        </p:txBody>
      </p:sp>
      <p:sp>
        <p:nvSpPr>
          <p:cNvPr id="161" name="t161"/>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a:solidFill>
                  <a:srgbClr val="4A423A"/>
                </a:solidFill>
                <a:latin typeface="Segoe UI"/>
                <a:cs typeface="Segoe UI"/>
              </a:rPr>
              <a:t>Keep the method constant and change only the role, situation, action and format. Human review stays essential throughout.</a:t>
            </a:r>
          </a:p>
        </p:txBody>
      </p:sp>
      <p:sp>
        <p:nvSpPr>
          <p:cNvPr id="162" name="s162"/>
          <p:cNvSpPr/>
          <p:nvPr/>
        </p:nvSpPr>
        <p:spPr>
          <a:xfrm>
            <a:off x="838200" y="6420000"/>
            <a:ext cx="10515600" cy="12700"/>
          </a:xfrm>
          <a:prstGeom prst="rect">
            <a:avLst/>
          </a:prstGeom>
          <a:solidFill>
            <a:srgbClr val="E0CDB0"/>
          </a:solidFill>
          <a:ln>
            <a:noFill/>
          </a:ln>
        </p:spPr>
        <p:txBody>
          <a:bodyPr/>
          <a:lstStyle/>
          <a:p>
            <a:endParaRPr lang="en-US"/>
          </a:p>
        </p:txBody>
      </p:sp>
      <p:sp>
        <p:nvSpPr>
          <p:cNvPr id="163" name="t163"/>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a:solidFill>
                  <a:srgbClr val="4A423A"/>
                </a:solidFill>
                <a:latin typeface="Segoe UI"/>
                <a:cs typeface="Segoe UI"/>
              </a:rPr>
              <a:t>H.R. S.M.A.R.T prompting framework</a:t>
            </a:r>
          </a:p>
        </p:txBody>
      </p:sp>
      <p:sp>
        <p:nvSpPr>
          <p:cNvPr id="164" name="s164"/>
          <p:cNvSpPr/>
          <p:nvPr/>
        </p:nvSpPr>
        <p:spPr>
          <a:xfrm>
            <a:off x="838200" y="2320000"/>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65" name="s165"/>
          <p:cNvSpPr/>
          <p:nvPr/>
        </p:nvSpPr>
        <p:spPr>
          <a:xfrm>
            <a:off x="1078200" y="2654467"/>
            <a:ext cx="484399" cy="484399"/>
          </a:xfrm>
          <a:prstGeom prst="ellipse">
            <a:avLst/>
          </a:prstGeom>
          <a:solidFill>
            <a:srgbClr val="B4553A"/>
          </a:solidFill>
          <a:ln>
            <a:noFill/>
          </a:ln>
        </p:spPr>
        <p:txBody>
          <a:bodyPr/>
          <a:lstStyle/>
          <a:p>
            <a:endParaRPr lang="en-US"/>
          </a:p>
        </p:txBody>
      </p:sp>
      <p:sp>
        <p:nvSpPr>
          <p:cNvPr id="166" name="t166"/>
          <p:cNvSpPr txBox="1"/>
          <p:nvPr/>
        </p:nvSpPr>
        <p:spPr>
          <a:xfrm>
            <a:off x="1078200" y="2654467"/>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a:solidFill>
                  <a:srgbClr val="FBF6EC"/>
                </a:solidFill>
                <a:latin typeface="Segoe UI"/>
                <a:cs typeface="Segoe UI"/>
              </a:rPr>
              <a:t>1</a:t>
            </a:r>
          </a:p>
        </p:txBody>
      </p:sp>
      <p:sp>
        <p:nvSpPr>
          <p:cNvPr id="167" name="t167"/>
          <p:cNvSpPr txBox="1"/>
          <p:nvPr/>
        </p:nvSpPr>
        <p:spPr>
          <a:xfrm>
            <a:off x="1822599" y="2492999"/>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a:solidFill>
                  <a:srgbClr val="2E2A26"/>
                </a:solidFill>
                <a:latin typeface="Segoe UI"/>
                <a:cs typeface="Segoe UI"/>
              </a:rPr>
              <a:t>Recruitment</a:t>
            </a:r>
          </a:p>
          <a:p>
            <a:pPr algn="l">
              <a:lnSpc>
                <a:spcPct val="115000"/>
              </a:lnSpc>
              <a:spcBef>
                <a:spcPts val="450"/>
              </a:spcBef>
            </a:pPr>
            <a:r>
              <a:rPr lang="en-US" sz="1100" b="0" spc="0">
                <a:solidFill>
                  <a:srgbClr val="4A423A"/>
                </a:solidFill>
                <a:latin typeface="Segoe UI"/>
                <a:cs typeface="Segoe UI"/>
              </a:rPr>
              <a:t>Job descriptions, interview guides and candidate communications built from one brief.</a:t>
            </a:r>
          </a:p>
        </p:txBody>
      </p:sp>
      <p:sp>
        <p:nvSpPr>
          <p:cNvPr id="168" name="s168"/>
          <p:cNvSpPr/>
          <p:nvPr/>
        </p:nvSpPr>
        <p:spPr>
          <a:xfrm>
            <a:off x="6206000" y="2320000"/>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69" name="s169"/>
          <p:cNvSpPr/>
          <p:nvPr/>
        </p:nvSpPr>
        <p:spPr>
          <a:xfrm>
            <a:off x="6446000" y="2654467"/>
            <a:ext cx="484399" cy="484399"/>
          </a:xfrm>
          <a:prstGeom prst="ellipse">
            <a:avLst/>
          </a:prstGeom>
          <a:solidFill>
            <a:srgbClr val="B4553A"/>
          </a:solidFill>
          <a:ln>
            <a:noFill/>
          </a:ln>
        </p:spPr>
        <p:txBody>
          <a:bodyPr/>
          <a:lstStyle/>
          <a:p>
            <a:endParaRPr lang="en-US"/>
          </a:p>
        </p:txBody>
      </p:sp>
      <p:sp>
        <p:nvSpPr>
          <p:cNvPr id="170" name="t170"/>
          <p:cNvSpPr txBox="1"/>
          <p:nvPr/>
        </p:nvSpPr>
        <p:spPr>
          <a:xfrm>
            <a:off x="6446000" y="2654467"/>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a:solidFill>
                  <a:srgbClr val="FBF6EC"/>
                </a:solidFill>
                <a:latin typeface="Segoe UI"/>
                <a:cs typeface="Segoe UI"/>
              </a:rPr>
              <a:t>2</a:t>
            </a:r>
          </a:p>
        </p:txBody>
      </p:sp>
      <p:sp>
        <p:nvSpPr>
          <p:cNvPr id="171" name="t171"/>
          <p:cNvSpPr txBox="1"/>
          <p:nvPr/>
        </p:nvSpPr>
        <p:spPr>
          <a:xfrm>
            <a:off x="7190399" y="2492999"/>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a:solidFill>
                  <a:srgbClr val="2E2A26"/>
                </a:solidFill>
                <a:latin typeface="Segoe UI"/>
                <a:cs typeface="Segoe UI"/>
              </a:rPr>
              <a:t>Onboarding</a:t>
            </a:r>
          </a:p>
          <a:p>
            <a:pPr algn="l">
              <a:lnSpc>
                <a:spcPct val="115000"/>
              </a:lnSpc>
              <a:spcBef>
                <a:spcPts val="450"/>
              </a:spcBef>
            </a:pPr>
            <a:r>
              <a:rPr lang="en-US" sz="1100" b="0" spc="0">
                <a:solidFill>
                  <a:srgbClr val="4A423A"/>
                </a:solidFill>
                <a:latin typeface="Segoe UI"/>
                <a:cs typeface="Segoe UI"/>
              </a:rPr>
              <a:t>Welcome plans, FAQs and role-based learning journeys for every new joiner.</a:t>
            </a:r>
          </a:p>
        </p:txBody>
      </p:sp>
      <p:sp>
        <p:nvSpPr>
          <p:cNvPr id="172" name="s172"/>
          <p:cNvSpPr/>
          <p:nvPr/>
        </p:nvSpPr>
        <p:spPr>
          <a:xfrm>
            <a:off x="838200" y="3643333"/>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73" name="s173"/>
          <p:cNvSpPr/>
          <p:nvPr/>
        </p:nvSpPr>
        <p:spPr>
          <a:xfrm>
            <a:off x="1078200" y="3977800"/>
            <a:ext cx="484399" cy="484399"/>
          </a:xfrm>
          <a:prstGeom prst="ellipse">
            <a:avLst/>
          </a:prstGeom>
          <a:solidFill>
            <a:srgbClr val="B4553A"/>
          </a:solidFill>
          <a:ln>
            <a:noFill/>
          </a:ln>
        </p:spPr>
        <p:txBody>
          <a:bodyPr/>
          <a:lstStyle/>
          <a:p>
            <a:endParaRPr lang="en-US"/>
          </a:p>
        </p:txBody>
      </p:sp>
      <p:sp>
        <p:nvSpPr>
          <p:cNvPr id="174" name="t174"/>
          <p:cNvSpPr txBox="1"/>
          <p:nvPr/>
        </p:nvSpPr>
        <p:spPr>
          <a:xfrm>
            <a:off x="1078200" y="3977800"/>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a:solidFill>
                  <a:srgbClr val="FBF6EC"/>
                </a:solidFill>
                <a:latin typeface="Segoe UI"/>
                <a:cs typeface="Segoe UI"/>
              </a:rPr>
              <a:t>3</a:t>
            </a:r>
          </a:p>
        </p:txBody>
      </p:sp>
      <p:sp>
        <p:nvSpPr>
          <p:cNvPr id="175" name="t175"/>
          <p:cNvSpPr txBox="1"/>
          <p:nvPr/>
        </p:nvSpPr>
        <p:spPr>
          <a:xfrm>
            <a:off x="1822599" y="3816332"/>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a:solidFill>
                  <a:srgbClr val="2E2A26"/>
                </a:solidFill>
                <a:latin typeface="Segoe UI"/>
                <a:cs typeface="Segoe UI"/>
              </a:rPr>
              <a:t>Learning and development</a:t>
            </a:r>
          </a:p>
          <a:p>
            <a:pPr algn="l">
              <a:lnSpc>
                <a:spcPct val="115000"/>
              </a:lnSpc>
              <a:spcBef>
                <a:spcPts val="450"/>
              </a:spcBef>
            </a:pPr>
            <a:r>
              <a:rPr lang="en-US" sz="1100" b="0" spc="0">
                <a:solidFill>
                  <a:srgbClr val="4A423A"/>
                </a:solidFill>
                <a:latin typeface="Segoe UI"/>
                <a:cs typeface="Segoe UI"/>
              </a:rPr>
              <a:t>Training agendas, exercises, assessments and structured follow-up material.</a:t>
            </a:r>
          </a:p>
        </p:txBody>
      </p:sp>
      <p:sp>
        <p:nvSpPr>
          <p:cNvPr id="176" name="s176"/>
          <p:cNvSpPr/>
          <p:nvPr/>
        </p:nvSpPr>
        <p:spPr>
          <a:xfrm>
            <a:off x="6206000" y="3643333"/>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77" name="s177"/>
          <p:cNvSpPr/>
          <p:nvPr/>
        </p:nvSpPr>
        <p:spPr>
          <a:xfrm>
            <a:off x="6446000" y="3977800"/>
            <a:ext cx="484399" cy="484399"/>
          </a:xfrm>
          <a:prstGeom prst="ellipse">
            <a:avLst/>
          </a:prstGeom>
          <a:solidFill>
            <a:srgbClr val="B4553A"/>
          </a:solidFill>
          <a:ln>
            <a:noFill/>
          </a:ln>
        </p:spPr>
        <p:txBody>
          <a:bodyPr/>
          <a:lstStyle/>
          <a:p>
            <a:endParaRPr lang="en-US"/>
          </a:p>
        </p:txBody>
      </p:sp>
      <p:sp>
        <p:nvSpPr>
          <p:cNvPr id="178" name="t178"/>
          <p:cNvSpPr txBox="1"/>
          <p:nvPr/>
        </p:nvSpPr>
        <p:spPr>
          <a:xfrm>
            <a:off x="6446000" y="3977800"/>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a:solidFill>
                  <a:srgbClr val="FBF6EC"/>
                </a:solidFill>
                <a:latin typeface="Segoe UI"/>
                <a:cs typeface="Segoe UI"/>
              </a:rPr>
              <a:t>4</a:t>
            </a:r>
          </a:p>
        </p:txBody>
      </p:sp>
      <p:sp>
        <p:nvSpPr>
          <p:cNvPr id="179" name="t179"/>
          <p:cNvSpPr txBox="1"/>
          <p:nvPr/>
        </p:nvSpPr>
        <p:spPr>
          <a:xfrm>
            <a:off x="7190399" y="3816332"/>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a:solidFill>
                  <a:srgbClr val="2E2A26"/>
                </a:solidFill>
                <a:latin typeface="Segoe UI"/>
                <a:cs typeface="Segoe UI"/>
              </a:rPr>
              <a:t>Employee communications</a:t>
            </a:r>
          </a:p>
          <a:p>
            <a:pPr algn="l">
              <a:lnSpc>
                <a:spcPct val="115000"/>
              </a:lnSpc>
              <a:spcBef>
                <a:spcPts val="450"/>
              </a:spcBef>
            </a:pPr>
            <a:r>
              <a:rPr lang="en-US" sz="1100" b="0" spc="0">
                <a:solidFill>
                  <a:srgbClr val="4A423A"/>
                </a:solidFill>
                <a:latin typeface="Segoe UI"/>
                <a:cs typeface="Segoe UI"/>
              </a:rPr>
              <a:t>Announcements, manager toolkits and change campaigns in a consistent voice.</a:t>
            </a:r>
          </a:p>
        </p:txBody>
      </p:sp>
      <p:sp>
        <p:nvSpPr>
          <p:cNvPr id="180" name="s180"/>
          <p:cNvSpPr/>
          <p:nvPr/>
        </p:nvSpPr>
        <p:spPr>
          <a:xfrm>
            <a:off x="838200" y="4966666"/>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81" name="s181"/>
          <p:cNvSpPr/>
          <p:nvPr/>
        </p:nvSpPr>
        <p:spPr>
          <a:xfrm>
            <a:off x="1078200" y="5301133"/>
            <a:ext cx="484399" cy="484399"/>
          </a:xfrm>
          <a:prstGeom prst="ellipse">
            <a:avLst/>
          </a:prstGeom>
          <a:solidFill>
            <a:srgbClr val="B4553A"/>
          </a:solidFill>
          <a:ln>
            <a:noFill/>
          </a:ln>
        </p:spPr>
        <p:txBody>
          <a:bodyPr/>
          <a:lstStyle/>
          <a:p>
            <a:endParaRPr lang="en-US"/>
          </a:p>
        </p:txBody>
      </p:sp>
      <p:sp>
        <p:nvSpPr>
          <p:cNvPr id="182" name="t182"/>
          <p:cNvSpPr txBox="1"/>
          <p:nvPr/>
        </p:nvSpPr>
        <p:spPr>
          <a:xfrm>
            <a:off x="1078200" y="5301133"/>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a:solidFill>
                  <a:srgbClr val="FBF6EC"/>
                </a:solidFill>
                <a:latin typeface="Segoe UI"/>
                <a:cs typeface="Segoe UI"/>
              </a:rPr>
              <a:t>5</a:t>
            </a:r>
          </a:p>
        </p:txBody>
      </p:sp>
      <p:sp>
        <p:nvSpPr>
          <p:cNvPr id="183" name="t183"/>
          <p:cNvSpPr txBox="1"/>
          <p:nvPr/>
        </p:nvSpPr>
        <p:spPr>
          <a:xfrm>
            <a:off x="1822599" y="5139665"/>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a:solidFill>
                  <a:srgbClr val="2E2A26"/>
                </a:solidFill>
                <a:latin typeface="Segoe UI"/>
                <a:cs typeface="Segoe UI"/>
              </a:rPr>
              <a:t>HR analytics</a:t>
            </a:r>
          </a:p>
          <a:p>
            <a:pPr algn="l">
              <a:lnSpc>
                <a:spcPct val="115000"/>
              </a:lnSpc>
              <a:spcBef>
                <a:spcPts val="450"/>
              </a:spcBef>
            </a:pPr>
            <a:r>
              <a:rPr lang="en-US" sz="1100" b="0" spc="0">
                <a:solidFill>
                  <a:srgbClr val="4A423A"/>
                </a:solidFill>
                <a:latin typeface="Segoe UI"/>
                <a:cs typeface="Segoe UI"/>
              </a:rPr>
              <a:t>KPI definitions, insight summaries and the questions worth asking of the data.</a:t>
            </a:r>
          </a:p>
        </p:txBody>
      </p:sp>
      <p:sp>
        <p:nvSpPr>
          <p:cNvPr id="184" name="s184"/>
          <p:cNvSpPr/>
          <p:nvPr/>
        </p:nvSpPr>
        <p:spPr>
          <a:xfrm>
            <a:off x="6206000" y="4966666"/>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185" name="s185"/>
          <p:cNvSpPr/>
          <p:nvPr/>
        </p:nvSpPr>
        <p:spPr>
          <a:xfrm>
            <a:off x="6446000" y="5301133"/>
            <a:ext cx="484399" cy="484399"/>
          </a:xfrm>
          <a:prstGeom prst="ellipse">
            <a:avLst/>
          </a:prstGeom>
          <a:solidFill>
            <a:srgbClr val="B4553A"/>
          </a:solidFill>
          <a:ln>
            <a:noFill/>
          </a:ln>
        </p:spPr>
        <p:txBody>
          <a:bodyPr/>
          <a:lstStyle/>
          <a:p>
            <a:endParaRPr lang="en-US"/>
          </a:p>
        </p:txBody>
      </p:sp>
      <p:sp>
        <p:nvSpPr>
          <p:cNvPr id="186" name="t186"/>
          <p:cNvSpPr txBox="1"/>
          <p:nvPr/>
        </p:nvSpPr>
        <p:spPr>
          <a:xfrm>
            <a:off x="6446000" y="5301133"/>
            <a:ext cx="484399" cy="484399"/>
          </a:xfrm>
          <a:prstGeom prst="rect">
            <a:avLst/>
          </a:prstGeom>
          <a:noFill/>
        </p:spPr>
        <p:txBody>
          <a:bodyPr wrap="square" lIns="0" tIns="0" rIns="0" bIns="0" anchor="ctr">
            <a:normAutofit/>
          </a:bodyPr>
          <a:lstStyle/>
          <a:p>
            <a:pPr algn="ctr">
              <a:lnSpc>
                <a:spcPct val="100000"/>
              </a:lnSpc>
              <a:spcBef>
                <a:spcPts val="0"/>
              </a:spcBef>
            </a:pPr>
            <a:r>
              <a:rPr lang="en-US" sz="1200" b="1" spc="0">
                <a:solidFill>
                  <a:srgbClr val="FBF6EC"/>
                </a:solidFill>
                <a:latin typeface="Segoe UI"/>
                <a:cs typeface="Segoe UI"/>
              </a:rPr>
              <a:t>6</a:t>
            </a:r>
          </a:p>
        </p:txBody>
      </p:sp>
      <p:sp>
        <p:nvSpPr>
          <p:cNvPr id="187" name="t187"/>
          <p:cNvSpPr txBox="1"/>
          <p:nvPr/>
        </p:nvSpPr>
        <p:spPr>
          <a:xfrm>
            <a:off x="7190399" y="5139665"/>
            <a:ext cx="3903401" cy="864999"/>
          </a:xfrm>
          <a:prstGeom prst="rect">
            <a:avLst/>
          </a:prstGeom>
          <a:noFill/>
        </p:spPr>
        <p:txBody>
          <a:bodyPr wrap="square" lIns="0" tIns="0" rIns="0" bIns="0" anchor="t">
            <a:normAutofit/>
          </a:bodyPr>
          <a:lstStyle/>
          <a:p>
            <a:pPr algn="l">
              <a:lnSpc>
                <a:spcPct val="100000"/>
              </a:lnSpc>
              <a:spcBef>
                <a:spcPts val="0"/>
              </a:spcBef>
            </a:pPr>
            <a:r>
              <a:rPr lang="en-US" sz="1350" b="1" spc="0">
                <a:solidFill>
                  <a:srgbClr val="2E2A26"/>
                </a:solidFill>
                <a:latin typeface="Segoe UI"/>
                <a:cs typeface="Segoe UI"/>
              </a:rPr>
              <a:t>Policies</a:t>
            </a:r>
          </a:p>
          <a:p>
            <a:pPr algn="l">
              <a:lnSpc>
                <a:spcPct val="115000"/>
              </a:lnSpc>
              <a:spcBef>
                <a:spcPts val="450"/>
              </a:spcBef>
            </a:pPr>
            <a:r>
              <a:rPr lang="en-US" sz="1100" b="0" spc="0">
                <a:solidFill>
                  <a:srgbClr val="4A423A"/>
                </a:solidFill>
                <a:latin typeface="Segoe UI"/>
                <a:cs typeface="Segoe UI"/>
              </a:rPr>
              <a:t>First drafts, plain-language simplification, FAQs and version comparison.</a:t>
            </a:r>
          </a:p>
        </p:txBody>
      </p:sp>
    </p:spTree>
    <p:extLst>
      <p:ext uri="{BB962C8B-B14F-4D97-AF65-F5344CB8AC3E}">
        <p14:creationId xmlns:p14="http://schemas.microsoft.com/office/powerpoint/2010/main" val="3141233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11"/>
          <p:cNvSpPr/>
          <p:nvPr/>
        </p:nvSpPr>
        <p:spPr>
          <a:xfrm>
            <a:off x="0" y="0"/>
            <a:ext cx="12192000" cy="6858000"/>
          </a:xfrm>
          <a:prstGeom prst="rect">
            <a:avLst/>
          </a:prstGeom>
          <a:solidFill>
            <a:srgbClr val="F3EBDD"/>
          </a:solidFill>
          <a:ln>
            <a:noFill/>
          </a:ln>
        </p:spPr>
        <p:txBody>
          <a:bodyPr/>
          <a:lstStyle/>
          <a:p>
            <a:endParaRPr lang="en-US"/>
          </a:p>
        </p:txBody>
      </p:sp>
      <p:sp>
        <p:nvSpPr>
          <p:cNvPr id="12" name="s12"/>
          <p:cNvSpPr/>
          <p:nvPr/>
        </p:nvSpPr>
        <p:spPr>
          <a:xfrm>
            <a:off x="0" y="0"/>
            <a:ext cx="12192000" cy="80000"/>
          </a:xfrm>
          <a:prstGeom prst="rect">
            <a:avLst/>
          </a:prstGeom>
          <a:solidFill>
            <a:srgbClr val="B4553A"/>
          </a:solidFill>
          <a:ln>
            <a:noFill/>
          </a:ln>
        </p:spPr>
        <p:txBody>
          <a:bodyPr/>
          <a:lstStyle/>
          <a:p>
            <a:endParaRPr lang="en-US"/>
          </a:p>
        </p:txBody>
      </p:sp>
      <p:sp>
        <p:nvSpPr>
          <p:cNvPr id="13" name="s13"/>
          <p:cNvSpPr/>
          <p:nvPr/>
        </p:nvSpPr>
        <p:spPr>
          <a:xfrm>
            <a:off x="838200" y="520700"/>
            <a:ext cx="180000" cy="180000"/>
          </a:xfrm>
          <a:prstGeom prst="ellipse">
            <a:avLst/>
          </a:prstGeom>
          <a:solidFill>
            <a:srgbClr val="7A7A4E"/>
          </a:solidFill>
          <a:ln>
            <a:noFill/>
          </a:ln>
        </p:spPr>
        <p:txBody>
          <a:bodyPr/>
          <a:lstStyle/>
          <a:p>
            <a:endParaRPr lang="en-US"/>
          </a:p>
        </p:txBody>
      </p:sp>
      <p:sp>
        <p:nvSpPr>
          <p:cNvPr id="14" name="t14"/>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REUSABLE TEMPLATE</a:t>
            </a:r>
          </a:p>
        </p:txBody>
      </p:sp>
      <p:sp>
        <p:nvSpPr>
          <p:cNvPr id="15" name="t15"/>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Fill in the Blanks</a:t>
            </a:r>
          </a:p>
        </p:txBody>
      </p:sp>
      <p:sp>
        <p:nvSpPr>
          <p:cNvPr id="16" name="s16"/>
          <p:cNvSpPr/>
          <p:nvPr/>
        </p:nvSpPr>
        <p:spPr>
          <a:xfrm>
            <a:off x="838200" y="1540000"/>
            <a:ext cx="3200000" cy="26000"/>
          </a:xfrm>
          <a:prstGeom prst="rect">
            <a:avLst/>
          </a:prstGeom>
          <a:solidFill>
            <a:srgbClr val="B4553A"/>
          </a:solidFill>
          <a:ln>
            <a:noFill/>
          </a:ln>
        </p:spPr>
        <p:txBody>
          <a:bodyPr/>
          <a:lstStyle/>
          <a:p>
            <a:endParaRPr lang="en-US"/>
          </a:p>
        </p:txBody>
      </p:sp>
      <p:sp>
        <p:nvSpPr>
          <p:cNvPr id="17" name="t17"/>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Copy this into any assistant and replace the bracketed fields. Delete a line only when it genuinely does not apply.</a:t>
            </a:r>
          </a:p>
        </p:txBody>
      </p:sp>
      <p:sp>
        <p:nvSpPr>
          <p:cNvPr id="18" name="s18"/>
          <p:cNvSpPr/>
          <p:nvPr/>
        </p:nvSpPr>
        <p:spPr>
          <a:xfrm>
            <a:off x="838200" y="6420000"/>
            <a:ext cx="10515600" cy="12700"/>
          </a:xfrm>
          <a:prstGeom prst="rect">
            <a:avLst/>
          </a:prstGeom>
          <a:solidFill>
            <a:srgbClr val="E0CDB0"/>
          </a:solidFill>
          <a:ln>
            <a:noFill/>
          </a:ln>
        </p:spPr>
        <p:txBody>
          <a:bodyPr/>
          <a:lstStyle/>
          <a:p>
            <a:endParaRPr lang="en-US"/>
          </a:p>
        </p:txBody>
      </p:sp>
      <p:sp>
        <p:nvSpPr>
          <p:cNvPr id="19" name="t19"/>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AI prompting framework for HR professionals</a:t>
            </a:r>
          </a:p>
        </p:txBody>
      </p:sp>
      <p:sp>
        <p:nvSpPr>
          <p:cNvPr id="20" name="s20"/>
          <p:cNvSpPr/>
          <p:nvPr/>
        </p:nvSpPr>
        <p:spPr>
          <a:xfrm>
            <a:off x="838200" y="2320000"/>
            <a:ext cx="6900000" cy="3800000"/>
          </a:xfrm>
          <a:prstGeom prst="roundRect">
            <a:avLst>
              <a:gd name="adj" fmla="val 6000"/>
            </a:avLst>
          </a:prstGeom>
          <a:solidFill>
            <a:srgbClr val="F6EEE0"/>
          </a:solidFill>
          <a:ln w="12700">
            <a:solidFill>
              <a:srgbClr val="E0CDB0"/>
            </a:solidFill>
          </a:ln>
        </p:spPr>
        <p:txBody>
          <a:bodyPr/>
          <a:lstStyle/>
          <a:p>
            <a:endParaRPr lang="en-US"/>
          </a:p>
        </p:txBody>
      </p:sp>
      <p:sp>
        <p:nvSpPr>
          <p:cNvPr id="21" name="s21"/>
          <p:cNvSpPr/>
          <p:nvPr/>
        </p:nvSpPr>
        <p:spPr>
          <a:xfrm>
            <a:off x="838200" y="2320000"/>
            <a:ext cx="60000" cy="3800000"/>
          </a:xfrm>
          <a:prstGeom prst="rect">
            <a:avLst/>
          </a:prstGeom>
          <a:solidFill>
            <a:srgbClr val="B4553A"/>
          </a:solidFill>
          <a:ln>
            <a:noFill/>
          </a:ln>
        </p:spPr>
        <p:txBody>
          <a:bodyPr/>
          <a:lstStyle/>
          <a:p>
            <a:endParaRPr lang="en-US"/>
          </a:p>
        </p:txBody>
      </p:sp>
      <p:sp>
        <p:nvSpPr>
          <p:cNvPr id="22" name="t22"/>
          <p:cNvSpPr txBox="1"/>
          <p:nvPr/>
        </p:nvSpPr>
        <p:spPr>
          <a:xfrm>
            <a:off x="1138200" y="2540000"/>
            <a:ext cx="6340000" cy="3420000"/>
          </a:xfrm>
          <a:prstGeom prst="rect">
            <a:avLst/>
          </a:prstGeom>
          <a:noFill/>
        </p:spPr>
        <p:txBody>
          <a:bodyPr wrap="square" lIns="0" tIns="0" rIns="0" bIns="0" anchor="t">
            <a:normAutofit/>
          </a:bodyPr>
          <a:lstStyle/>
          <a:p>
            <a:pPr algn="l">
              <a:lnSpc>
                <a:spcPct val="100000"/>
              </a:lnSpc>
              <a:spcBef>
                <a:spcPts val="0"/>
              </a:spcBef>
            </a:pPr>
            <a:r>
              <a:rPr lang="en-US" sz="1000" b="1" spc="200" dirty="0">
                <a:solidFill>
                  <a:srgbClr val="B4553A"/>
                </a:solidFill>
                <a:latin typeface="Segoe UI"/>
                <a:cs typeface="Segoe UI"/>
              </a:rPr>
              <a:t>PROMPT TEMPLATE</a:t>
            </a:r>
          </a:p>
          <a:p>
            <a:pPr algn="l">
              <a:lnSpc>
                <a:spcPct val="112000"/>
              </a:lnSpc>
              <a:spcBef>
                <a:spcPts val="380"/>
              </a:spcBef>
            </a:pPr>
            <a:r>
              <a:rPr lang="en-US" sz="1000" b="1" spc="100" dirty="0">
                <a:solidFill>
                  <a:srgbClr val="7A7A4E"/>
                </a:solidFill>
                <a:latin typeface="Consolas"/>
                <a:cs typeface="Consolas"/>
              </a:rPr>
              <a:t>ROLE       </a:t>
            </a:r>
            <a:r>
              <a:rPr lang="en-US" sz="1150" b="0" spc="0" dirty="0">
                <a:solidFill>
                  <a:srgbClr val="2E2A26"/>
                </a:solidFill>
                <a:latin typeface="Consolas"/>
                <a:cs typeface="Consolas"/>
              </a:rPr>
              <a:t>You are a [seniority] HR [specialism] in a</a:t>
            </a:r>
          </a:p>
          <a:p>
            <a:pPr algn="l">
              <a:lnSpc>
                <a:spcPct val="112000"/>
              </a:lnSpc>
              <a:spcBef>
                <a:spcPts val="380"/>
              </a:spcBef>
            </a:pPr>
            <a:r>
              <a:rPr lang="en-US" sz="1000" b="0" spc="100" dirty="0">
                <a:solidFill>
                  <a:srgbClr val="7A7A4E"/>
                </a:solidFill>
                <a:latin typeface="Consolas"/>
                <a:cs typeface="Consolas"/>
              </a:rPr>
              <a:t>           </a:t>
            </a:r>
            <a:r>
              <a:rPr lang="en-US" sz="1150" b="0" spc="0" dirty="0">
                <a:solidFill>
                  <a:srgbClr val="2E2A26"/>
                </a:solidFill>
                <a:latin typeface="Consolas"/>
                <a:cs typeface="Consolas"/>
              </a:rPr>
              <a:t>[industry] organisation of [headcount] people.</a:t>
            </a:r>
          </a:p>
          <a:p>
            <a:pPr algn="l">
              <a:lnSpc>
                <a:spcPct val="112000"/>
              </a:lnSpc>
              <a:spcBef>
                <a:spcPts val="380"/>
              </a:spcBef>
            </a:pPr>
            <a:r>
              <a:rPr lang="en-US" sz="1000" b="0" spc="100" dirty="0">
                <a:solidFill>
                  <a:srgbClr val="7A7A4E"/>
                </a:solidFill>
                <a:latin typeface="Consolas"/>
                <a:cs typeface="Consolas"/>
              </a:rPr>
              <a:t>           </a:t>
            </a:r>
            <a:r>
              <a:rPr lang="en-US" sz="1150" b="0" spc="0" dirty="0">
                <a:solidFill>
                  <a:srgbClr val="2E2A26"/>
                </a:solidFill>
                <a:latin typeface="Consolas"/>
                <a:cs typeface="Consolas"/>
              </a:rPr>
              <a:t>Audience: [who reads this].</a:t>
            </a:r>
          </a:p>
          <a:p>
            <a:pPr algn="l">
              <a:lnSpc>
                <a:spcPct val="112000"/>
              </a:lnSpc>
              <a:spcBef>
                <a:spcPts val="380"/>
              </a:spcBef>
            </a:pPr>
            <a:r>
              <a:rPr lang="en-US" sz="1000" b="1" spc="100" dirty="0">
                <a:solidFill>
                  <a:srgbClr val="7A7A4E"/>
                </a:solidFill>
                <a:latin typeface="Consolas"/>
                <a:cs typeface="Consolas"/>
              </a:rPr>
              <a:t>ASK        </a:t>
            </a:r>
            <a:r>
              <a:rPr lang="en-US" sz="1150" b="0" spc="0" dirty="0">
                <a:solidFill>
                  <a:srgbClr val="2E2A26"/>
                </a:solidFill>
                <a:latin typeface="Consolas"/>
                <a:cs typeface="Consolas"/>
              </a:rPr>
              <a:t>Task: [one specific deliverable] to support</a:t>
            </a:r>
          </a:p>
          <a:p>
            <a:pPr algn="l">
              <a:lnSpc>
                <a:spcPct val="112000"/>
              </a:lnSpc>
              <a:spcBef>
                <a:spcPts val="380"/>
              </a:spcBef>
            </a:pPr>
            <a:r>
              <a:rPr lang="en-US" sz="1000" b="0" spc="100" dirty="0">
                <a:solidFill>
                  <a:srgbClr val="7A7A4E"/>
                </a:solidFill>
                <a:latin typeface="Consolas"/>
                <a:cs typeface="Consolas"/>
              </a:rPr>
              <a:t>           </a:t>
            </a:r>
            <a:r>
              <a:rPr lang="en-US" sz="1150" b="0" spc="0" dirty="0">
                <a:solidFill>
                  <a:srgbClr val="2E2A26"/>
                </a:solidFill>
                <a:latin typeface="Consolas"/>
                <a:cs typeface="Consolas"/>
              </a:rPr>
              <a:t>[the decision it feeds].</a:t>
            </a:r>
          </a:p>
          <a:p>
            <a:pPr algn="l">
              <a:lnSpc>
                <a:spcPct val="112000"/>
              </a:lnSpc>
              <a:spcBef>
                <a:spcPts val="380"/>
              </a:spcBef>
            </a:pPr>
            <a:r>
              <a:rPr lang="en-US" sz="1000" b="1" spc="100" dirty="0">
                <a:solidFill>
                  <a:srgbClr val="7A7A4E"/>
                </a:solidFill>
                <a:latin typeface="Consolas"/>
                <a:cs typeface="Consolas"/>
              </a:rPr>
              <a:t>CONTEXT    </a:t>
            </a:r>
            <a:r>
              <a:rPr lang="en-US" sz="1150" b="0" spc="0" dirty="0">
                <a:solidFill>
                  <a:srgbClr val="2E2A26"/>
                </a:solidFill>
                <a:latin typeface="Consolas"/>
                <a:cs typeface="Consolas"/>
              </a:rPr>
              <a:t>Context: [policy, location, timing, tone].</a:t>
            </a:r>
          </a:p>
          <a:p>
            <a:pPr algn="l">
              <a:lnSpc>
                <a:spcPct val="112000"/>
              </a:lnSpc>
              <a:spcBef>
                <a:spcPts val="380"/>
              </a:spcBef>
            </a:pPr>
            <a:r>
              <a:rPr lang="en-US" sz="1000" b="0" spc="100" dirty="0">
                <a:solidFill>
                  <a:srgbClr val="7A7A4E"/>
                </a:solidFill>
                <a:latin typeface="Consolas"/>
                <a:cs typeface="Consolas"/>
              </a:rPr>
              <a:t>           </a:t>
            </a:r>
            <a:r>
              <a:rPr lang="en-US" sz="1150" b="0" spc="0" dirty="0">
                <a:solidFill>
                  <a:srgbClr val="2E2A26"/>
                </a:solidFill>
                <a:latin typeface="Consolas"/>
                <a:cs typeface="Consolas"/>
              </a:rPr>
              <a:t>Source of truth: [attached document] only.</a:t>
            </a:r>
          </a:p>
          <a:p>
            <a:pPr algn="l">
              <a:lnSpc>
                <a:spcPct val="112000"/>
              </a:lnSpc>
              <a:spcBef>
                <a:spcPts val="380"/>
              </a:spcBef>
            </a:pPr>
            <a:r>
              <a:rPr lang="en-US" sz="1000" b="1" spc="100" dirty="0">
                <a:solidFill>
                  <a:srgbClr val="7A7A4E"/>
                </a:solidFill>
                <a:latin typeface="Consolas"/>
                <a:cs typeface="Consolas"/>
              </a:rPr>
              <a:t>EXAMPLES   </a:t>
            </a:r>
            <a:r>
              <a:rPr lang="en-US" sz="1150" b="0" spc="0" dirty="0">
                <a:solidFill>
                  <a:srgbClr val="2E2A26"/>
                </a:solidFill>
                <a:latin typeface="Consolas"/>
                <a:cs typeface="Consolas"/>
              </a:rPr>
              <a:t>Good example: [paste one sample you would sign off].</a:t>
            </a:r>
          </a:p>
          <a:p>
            <a:pPr algn="l">
              <a:lnSpc>
                <a:spcPct val="112000"/>
              </a:lnSpc>
              <a:spcBef>
                <a:spcPts val="380"/>
              </a:spcBef>
            </a:pPr>
            <a:r>
              <a:rPr lang="en-US" sz="1000" b="1" spc="100" dirty="0">
                <a:solidFill>
                  <a:srgbClr val="7A7A4E"/>
                </a:solidFill>
                <a:latin typeface="Consolas"/>
                <a:cs typeface="Consolas"/>
              </a:rPr>
              <a:t>FORMAT     </a:t>
            </a:r>
            <a:r>
              <a:rPr lang="en-US" sz="1150" b="0" spc="0" dirty="0">
                <a:solidFill>
                  <a:srgbClr val="2E2A26"/>
                </a:solidFill>
                <a:latin typeface="Consolas"/>
                <a:cs typeface="Consolas"/>
              </a:rPr>
              <a:t>Format: [table / email / bullets], [length],</a:t>
            </a:r>
          </a:p>
          <a:p>
            <a:pPr algn="l">
              <a:lnSpc>
                <a:spcPct val="112000"/>
              </a:lnSpc>
              <a:spcBef>
                <a:spcPts val="380"/>
              </a:spcBef>
            </a:pPr>
            <a:r>
              <a:rPr lang="en-US" sz="1000" b="0" spc="100" dirty="0">
                <a:solidFill>
                  <a:srgbClr val="7A7A4E"/>
                </a:solidFill>
                <a:latin typeface="Consolas"/>
                <a:cs typeface="Consolas"/>
              </a:rPr>
              <a:t>           </a:t>
            </a:r>
            <a:r>
              <a:rPr lang="en-US" sz="1150" b="0" spc="0" dirty="0">
                <a:solidFill>
                  <a:srgbClr val="2E2A26"/>
                </a:solidFill>
                <a:latin typeface="Consolas"/>
                <a:cs typeface="Consolas"/>
              </a:rPr>
              <a:t>[named sections].</a:t>
            </a:r>
          </a:p>
          <a:p>
            <a:pPr algn="l">
              <a:lnSpc>
                <a:spcPct val="112000"/>
              </a:lnSpc>
              <a:spcBef>
                <a:spcPts val="380"/>
              </a:spcBef>
            </a:pPr>
            <a:r>
              <a:rPr lang="en-US" sz="1000" b="1" spc="100" dirty="0">
                <a:solidFill>
                  <a:srgbClr val="7A7A4E"/>
                </a:solidFill>
                <a:latin typeface="Consolas"/>
                <a:cs typeface="Consolas"/>
              </a:rPr>
              <a:t>GUARDRAILS </a:t>
            </a:r>
            <a:r>
              <a:rPr lang="en-US" sz="1150" b="0" spc="0" dirty="0">
                <a:solidFill>
                  <a:srgbClr val="2E2A26"/>
                </a:solidFill>
                <a:latin typeface="Consolas"/>
                <a:cs typeface="Consolas"/>
              </a:rPr>
              <a:t>No personal or identifiable data. Label anything</a:t>
            </a:r>
          </a:p>
          <a:p>
            <a:pPr algn="l">
              <a:lnSpc>
                <a:spcPct val="112000"/>
              </a:lnSpc>
              <a:spcBef>
                <a:spcPts val="380"/>
              </a:spcBef>
            </a:pPr>
            <a:r>
              <a:rPr lang="en-US" sz="1000" b="0" spc="100" dirty="0">
                <a:solidFill>
                  <a:srgbClr val="7A7A4E"/>
                </a:solidFill>
                <a:latin typeface="Consolas"/>
                <a:cs typeface="Consolas"/>
              </a:rPr>
              <a:t>           </a:t>
            </a:r>
            <a:r>
              <a:rPr lang="en-US" sz="1150" b="0" spc="0" dirty="0">
                <a:solidFill>
                  <a:srgbClr val="2E2A26"/>
                </a:solidFill>
                <a:latin typeface="Consolas"/>
                <a:cs typeface="Consolas"/>
              </a:rPr>
              <a:t>you inferred as ASSUMPTION. If the source does</a:t>
            </a:r>
          </a:p>
          <a:p>
            <a:pPr algn="l">
              <a:lnSpc>
                <a:spcPct val="112000"/>
              </a:lnSpc>
              <a:spcBef>
                <a:spcPts val="380"/>
              </a:spcBef>
            </a:pPr>
            <a:r>
              <a:rPr lang="en-US" sz="1000" b="0" spc="100" dirty="0">
                <a:solidFill>
                  <a:srgbClr val="7A7A4E"/>
                </a:solidFill>
                <a:latin typeface="Consolas"/>
                <a:cs typeface="Consolas"/>
              </a:rPr>
              <a:t>           </a:t>
            </a:r>
            <a:r>
              <a:rPr lang="en-US" sz="1150" b="0" spc="0" dirty="0">
                <a:solidFill>
                  <a:srgbClr val="2E2A26"/>
                </a:solidFill>
                <a:latin typeface="Consolas"/>
                <a:cs typeface="Consolas"/>
              </a:rPr>
              <a:t>not cover it, say so instead of guessing.</a:t>
            </a:r>
          </a:p>
        </p:txBody>
      </p:sp>
      <p:sp>
        <p:nvSpPr>
          <p:cNvPr id="23" name="s23"/>
          <p:cNvSpPr/>
          <p:nvPr/>
        </p:nvSpPr>
        <p:spPr>
          <a:xfrm>
            <a:off x="7998200" y="2320000"/>
            <a:ext cx="3355600" cy="822500"/>
          </a:xfrm>
          <a:prstGeom prst="roundRect">
            <a:avLst>
              <a:gd name="adj" fmla="val 10000"/>
            </a:avLst>
          </a:prstGeom>
          <a:solidFill>
            <a:srgbClr val="FBF6EC"/>
          </a:solidFill>
          <a:ln w="12700">
            <a:solidFill>
              <a:srgbClr val="E0CDB0"/>
            </a:solidFill>
          </a:ln>
        </p:spPr>
        <p:txBody>
          <a:bodyPr/>
          <a:lstStyle/>
          <a:p>
            <a:endParaRPr lang="en-US"/>
          </a:p>
        </p:txBody>
      </p:sp>
      <p:sp>
        <p:nvSpPr>
          <p:cNvPr id="24" name="s24"/>
          <p:cNvSpPr/>
          <p:nvPr/>
        </p:nvSpPr>
        <p:spPr>
          <a:xfrm>
            <a:off x="8238200" y="2550000"/>
            <a:ext cx="246750" cy="246750"/>
          </a:xfrm>
          <a:prstGeom prst="ellipse">
            <a:avLst/>
          </a:prstGeom>
          <a:solidFill>
            <a:srgbClr val="B4553A"/>
          </a:solidFill>
          <a:ln>
            <a:noFill/>
          </a:ln>
        </p:spPr>
        <p:txBody>
          <a:bodyPr/>
          <a:lstStyle/>
          <a:p>
            <a:endParaRPr lang="en-US"/>
          </a:p>
        </p:txBody>
      </p:sp>
      <p:sp>
        <p:nvSpPr>
          <p:cNvPr id="25" name="t25"/>
          <p:cNvSpPr txBox="1"/>
          <p:nvPr/>
        </p:nvSpPr>
        <p:spPr>
          <a:xfrm>
            <a:off x="8238200" y="2550000"/>
            <a:ext cx="246750" cy="246750"/>
          </a:xfrm>
          <a:prstGeom prst="rect">
            <a:avLst/>
          </a:prstGeom>
          <a:noFill/>
        </p:spPr>
        <p:txBody>
          <a:bodyPr wrap="square" lIns="0" tIns="0" rIns="0" bIns="0" anchor="ctr">
            <a:normAutofit/>
          </a:bodyPr>
          <a:lstStyle/>
          <a:p>
            <a:pPr algn="ctr">
              <a:lnSpc>
                <a:spcPct val="100000"/>
              </a:lnSpc>
              <a:spcBef>
                <a:spcPts val="0"/>
              </a:spcBef>
            </a:pPr>
            <a:r>
              <a:rPr lang="en-US" sz="1100" b="1" spc="0" dirty="0">
                <a:solidFill>
                  <a:srgbClr val="FBF6EC"/>
                </a:solidFill>
                <a:latin typeface="Segoe UI"/>
                <a:cs typeface="Segoe UI"/>
              </a:rPr>
              <a:t>1</a:t>
            </a:r>
          </a:p>
        </p:txBody>
      </p:sp>
      <p:sp>
        <p:nvSpPr>
          <p:cNvPr id="26" name="t26"/>
          <p:cNvSpPr txBox="1"/>
          <p:nvPr/>
        </p:nvSpPr>
        <p:spPr>
          <a:xfrm>
            <a:off x="8704950" y="2530000"/>
            <a:ext cx="2408850" cy="462500"/>
          </a:xfrm>
          <a:prstGeom prst="rect">
            <a:avLst/>
          </a:prstGeom>
          <a:noFill/>
        </p:spPr>
        <p:txBody>
          <a:bodyPr wrap="square" lIns="0" tIns="0" rIns="0" bIns="0" anchor="t">
            <a:normAutofit fontScale="85000" lnSpcReduction="20000"/>
          </a:bodyPr>
          <a:lstStyle/>
          <a:p>
            <a:pPr algn="l">
              <a:lnSpc>
                <a:spcPct val="100000"/>
              </a:lnSpc>
              <a:spcBef>
                <a:spcPts val="0"/>
              </a:spcBef>
            </a:pPr>
            <a:r>
              <a:rPr lang="en-US" sz="1300" b="1" spc="0" dirty="0">
                <a:solidFill>
                  <a:srgbClr val="2E2A26"/>
                </a:solidFill>
                <a:latin typeface="Segoe UI"/>
                <a:cs typeface="Segoe UI"/>
              </a:rPr>
              <a:t>Keep one file</a:t>
            </a:r>
          </a:p>
          <a:p>
            <a:pPr algn="l">
              <a:lnSpc>
                <a:spcPct val="115000"/>
              </a:lnSpc>
              <a:spcBef>
                <a:spcPts val="380"/>
              </a:spcBef>
            </a:pPr>
            <a:r>
              <a:rPr lang="en-US" sz="1050" b="0" spc="0" dirty="0">
                <a:solidFill>
                  <a:srgbClr val="4A423A"/>
                </a:solidFill>
                <a:latin typeface="Segoe UI"/>
                <a:cs typeface="Segoe UI"/>
              </a:rPr>
              <a:t>Store the filled versions by use case so the team reuses proven prompts.</a:t>
            </a:r>
          </a:p>
        </p:txBody>
      </p:sp>
      <p:sp>
        <p:nvSpPr>
          <p:cNvPr id="27" name="s27"/>
          <p:cNvSpPr/>
          <p:nvPr/>
        </p:nvSpPr>
        <p:spPr>
          <a:xfrm>
            <a:off x="7998200" y="3312500"/>
            <a:ext cx="3355600" cy="822500"/>
          </a:xfrm>
          <a:prstGeom prst="roundRect">
            <a:avLst>
              <a:gd name="adj" fmla="val 10000"/>
            </a:avLst>
          </a:prstGeom>
          <a:solidFill>
            <a:srgbClr val="FBF6EC"/>
          </a:solidFill>
          <a:ln w="12700">
            <a:solidFill>
              <a:srgbClr val="E0CDB0"/>
            </a:solidFill>
          </a:ln>
        </p:spPr>
        <p:txBody>
          <a:bodyPr/>
          <a:lstStyle/>
          <a:p>
            <a:endParaRPr lang="en-US"/>
          </a:p>
        </p:txBody>
      </p:sp>
      <p:sp>
        <p:nvSpPr>
          <p:cNvPr id="28" name="s28"/>
          <p:cNvSpPr/>
          <p:nvPr/>
        </p:nvSpPr>
        <p:spPr>
          <a:xfrm>
            <a:off x="8238200" y="3542500"/>
            <a:ext cx="246750" cy="246750"/>
          </a:xfrm>
          <a:prstGeom prst="ellipse">
            <a:avLst/>
          </a:prstGeom>
          <a:solidFill>
            <a:srgbClr val="B4553A"/>
          </a:solidFill>
          <a:ln>
            <a:noFill/>
          </a:ln>
        </p:spPr>
        <p:txBody>
          <a:bodyPr/>
          <a:lstStyle/>
          <a:p>
            <a:endParaRPr lang="en-US"/>
          </a:p>
        </p:txBody>
      </p:sp>
      <p:sp>
        <p:nvSpPr>
          <p:cNvPr id="29" name="t29"/>
          <p:cNvSpPr txBox="1"/>
          <p:nvPr/>
        </p:nvSpPr>
        <p:spPr>
          <a:xfrm>
            <a:off x="8238200" y="3542500"/>
            <a:ext cx="246750" cy="246750"/>
          </a:xfrm>
          <a:prstGeom prst="rect">
            <a:avLst/>
          </a:prstGeom>
          <a:noFill/>
        </p:spPr>
        <p:txBody>
          <a:bodyPr wrap="square" lIns="0" tIns="0" rIns="0" bIns="0" anchor="ctr">
            <a:normAutofit/>
          </a:bodyPr>
          <a:lstStyle/>
          <a:p>
            <a:pPr algn="ctr">
              <a:lnSpc>
                <a:spcPct val="100000"/>
              </a:lnSpc>
              <a:spcBef>
                <a:spcPts val="0"/>
              </a:spcBef>
            </a:pPr>
            <a:r>
              <a:rPr lang="en-US" sz="1100" b="1" spc="0" dirty="0">
                <a:solidFill>
                  <a:srgbClr val="FBF6EC"/>
                </a:solidFill>
                <a:latin typeface="Segoe UI"/>
                <a:cs typeface="Segoe UI"/>
              </a:rPr>
              <a:t>2</a:t>
            </a:r>
          </a:p>
        </p:txBody>
      </p:sp>
      <p:sp>
        <p:nvSpPr>
          <p:cNvPr id="30" name="t30"/>
          <p:cNvSpPr txBox="1"/>
          <p:nvPr/>
        </p:nvSpPr>
        <p:spPr>
          <a:xfrm>
            <a:off x="8704950" y="3522500"/>
            <a:ext cx="2408850" cy="462500"/>
          </a:xfrm>
          <a:prstGeom prst="rect">
            <a:avLst/>
          </a:prstGeom>
          <a:noFill/>
        </p:spPr>
        <p:txBody>
          <a:bodyPr wrap="square" lIns="0" tIns="0" rIns="0" bIns="0" anchor="t">
            <a:normAutofit fontScale="85000" lnSpcReduction="20000"/>
          </a:bodyPr>
          <a:lstStyle/>
          <a:p>
            <a:pPr algn="l">
              <a:lnSpc>
                <a:spcPct val="100000"/>
              </a:lnSpc>
              <a:spcBef>
                <a:spcPts val="0"/>
              </a:spcBef>
            </a:pPr>
            <a:r>
              <a:rPr lang="en-US" sz="1300" b="1" spc="0" dirty="0">
                <a:solidFill>
                  <a:srgbClr val="2E2A26"/>
                </a:solidFill>
                <a:latin typeface="Segoe UI"/>
                <a:cs typeface="Segoe UI"/>
              </a:rPr>
              <a:t>Swap two fields, not ten</a:t>
            </a:r>
          </a:p>
          <a:p>
            <a:pPr algn="l">
              <a:lnSpc>
                <a:spcPct val="115000"/>
              </a:lnSpc>
              <a:spcBef>
                <a:spcPts val="380"/>
              </a:spcBef>
            </a:pPr>
            <a:r>
              <a:rPr lang="en-US" sz="1050" b="0" spc="0" dirty="0">
                <a:solidFill>
                  <a:srgbClr val="4A423A"/>
                </a:solidFill>
                <a:latin typeface="Segoe UI"/>
                <a:cs typeface="Segoe UI"/>
              </a:rPr>
              <a:t>Most new tasks need only a fresh Ask and Context.</a:t>
            </a:r>
          </a:p>
        </p:txBody>
      </p:sp>
      <p:sp>
        <p:nvSpPr>
          <p:cNvPr id="31" name="s31"/>
          <p:cNvSpPr/>
          <p:nvPr/>
        </p:nvSpPr>
        <p:spPr>
          <a:xfrm>
            <a:off x="7998200" y="4305000"/>
            <a:ext cx="3355600" cy="822500"/>
          </a:xfrm>
          <a:prstGeom prst="roundRect">
            <a:avLst>
              <a:gd name="adj" fmla="val 10000"/>
            </a:avLst>
          </a:prstGeom>
          <a:solidFill>
            <a:srgbClr val="FBF6EC"/>
          </a:solidFill>
          <a:ln w="12700">
            <a:solidFill>
              <a:srgbClr val="E0CDB0"/>
            </a:solidFill>
          </a:ln>
        </p:spPr>
        <p:txBody>
          <a:bodyPr/>
          <a:lstStyle/>
          <a:p>
            <a:endParaRPr lang="en-US"/>
          </a:p>
        </p:txBody>
      </p:sp>
      <p:sp>
        <p:nvSpPr>
          <p:cNvPr id="32" name="s32"/>
          <p:cNvSpPr/>
          <p:nvPr/>
        </p:nvSpPr>
        <p:spPr>
          <a:xfrm>
            <a:off x="8238200" y="4535000"/>
            <a:ext cx="246750" cy="246750"/>
          </a:xfrm>
          <a:prstGeom prst="ellipse">
            <a:avLst/>
          </a:prstGeom>
          <a:solidFill>
            <a:srgbClr val="B4553A"/>
          </a:solidFill>
          <a:ln>
            <a:noFill/>
          </a:ln>
        </p:spPr>
        <p:txBody>
          <a:bodyPr/>
          <a:lstStyle/>
          <a:p>
            <a:endParaRPr lang="en-US"/>
          </a:p>
        </p:txBody>
      </p:sp>
      <p:sp>
        <p:nvSpPr>
          <p:cNvPr id="33" name="t33"/>
          <p:cNvSpPr txBox="1"/>
          <p:nvPr/>
        </p:nvSpPr>
        <p:spPr>
          <a:xfrm>
            <a:off x="8238200" y="4535000"/>
            <a:ext cx="246750" cy="246750"/>
          </a:xfrm>
          <a:prstGeom prst="rect">
            <a:avLst/>
          </a:prstGeom>
          <a:noFill/>
        </p:spPr>
        <p:txBody>
          <a:bodyPr wrap="square" lIns="0" tIns="0" rIns="0" bIns="0" anchor="ctr">
            <a:normAutofit/>
          </a:bodyPr>
          <a:lstStyle/>
          <a:p>
            <a:pPr algn="ctr">
              <a:lnSpc>
                <a:spcPct val="100000"/>
              </a:lnSpc>
              <a:spcBef>
                <a:spcPts val="0"/>
              </a:spcBef>
            </a:pPr>
            <a:r>
              <a:rPr lang="en-US" sz="1100" b="1" spc="0" dirty="0">
                <a:solidFill>
                  <a:srgbClr val="FBF6EC"/>
                </a:solidFill>
                <a:latin typeface="Segoe UI"/>
                <a:cs typeface="Segoe UI"/>
              </a:rPr>
              <a:t>3</a:t>
            </a:r>
          </a:p>
        </p:txBody>
      </p:sp>
      <p:sp>
        <p:nvSpPr>
          <p:cNvPr id="34" name="t34"/>
          <p:cNvSpPr txBox="1"/>
          <p:nvPr/>
        </p:nvSpPr>
        <p:spPr>
          <a:xfrm>
            <a:off x="8704950" y="4515000"/>
            <a:ext cx="2408850" cy="462500"/>
          </a:xfrm>
          <a:prstGeom prst="rect">
            <a:avLst/>
          </a:prstGeom>
          <a:noFill/>
        </p:spPr>
        <p:txBody>
          <a:bodyPr wrap="square" lIns="0" tIns="0" rIns="0" bIns="0" anchor="t">
            <a:normAutofit fontScale="85000" lnSpcReduction="20000"/>
          </a:bodyPr>
          <a:lstStyle/>
          <a:p>
            <a:pPr algn="l">
              <a:lnSpc>
                <a:spcPct val="100000"/>
              </a:lnSpc>
              <a:spcBef>
                <a:spcPts val="0"/>
              </a:spcBef>
            </a:pPr>
            <a:r>
              <a:rPr lang="en-US" sz="1300" b="1" spc="0" dirty="0">
                <a:solidFill>
                  <a:srgbClr val="2E2A26"/>
                </a:solidFill>
                <a:latin typeface="Segoe UI"/>
                <a:cs typeface="Segoe UI"/>
              </a:rPr>
              <a:t>Always attach the source</a:t>
            </a:r>
          </a:p>
          <a:p>
            <a:pPr algn="l">
              <a:lnSpc>
                <a:spcPct val="115000"/>
              </a:lnSpc>
              <a:spcBef>
                <a:spcPts val="380"/>
              </a:spcBef>
            </a:pPr>
            <a:r>
              <a:rPr lang="en-US" sz="1050" b="0" spc="0" dirty="0">
                <a:solidFill>
                  <a:srgbClr val="4A423A"/>
                </a:solidFill>
                <a:latin typeface="Segoe UI"/>
                <a:cs typeface="Segoe UI"/>
              </a:rPr>
              <a:t>A grounded prompt beats a clever one every time.</a:t>
            </a:r>
          </a:p>
        </p:txBody>
      </p:sp>
      <p:sp>
        <p:nvSpPr>
          <p:cNvPr id="35" name="s35"/>
          <p:cNvSpPr/>
          <p:nvPr/>
        </p:nvSpPr>
        <p:spPr>
          <a:xfrm>
            <a:off x="7998200" y="5297500"/>
            <a:ext cx="3355600" cy="822500"/>
          </a:xfrm>
          <a:prstGeom prst="roundRect">
            <a:avLst>
              <a:gd name="adj" fmla="val 10000"/>
            </a:avLst>
          </a:prstGeom>
          <a:solidFill>
            <a:srgbClr val="FBF6EC"/>
          </a:solidFill>
          <a:ln w="12700">
            <a:solidFill>
              <a:srgbClr val="E0CDB0"/>
            </a:solidFill>
          </a:ln>
        </p:spPr>
        <p:txBody>
          <a:bodyPr/>
          <a:lstStyle/>
          <a:p>
            <a:endParaRPr lang="en-US"/>
          </a:p>
        </p:txBody>
      </p:sp>
      <p:sp>
        <p:nvSpPr>
          <p:cNvPr id="36" name="s36"/>
          <p:cNvSpPr/>
          <p:nvPr/>
        </p:nvSpPr>
        <p:spPr>
          <a:xfrm>
            <a:off x="8238200" y="5527500"/>
            <a:ext cx="246750" cy="246750"/>
          </a:xfrm>
          <a:prstGeom prst="ellipse">
            <a:avLst/>
          </a:prstGeom>
          <a:solidFill>
            <a:srgbClr val="B4553A"/>
          </a:solidFill>
          <a:ln>
            <a:noFill/>
          </a:ln>
        </p:spPr>
        <p:txBody>
          <a:bodyPr/>
          <a:lstStyle/>
          <a:p>
            <a:endParaRPr lang="en-US"/>
          </a:p>
        </p:txBody>
      </p:sp>
      <p:sp>
        <p:nvSpPr>
          <p:cNvPr id="37" name="t37"/>
          <p:cNvSpPr txBox="1"/>
          <p:nvPr/>
        </p:nvSpPr>
        <p:spPr>
          <a:xfrm>
            <a:off x="8238200" y="5527500"/>
            <a:ext cx="246750" cy="246750"/>
          </a:xfrm>
          <a:prstGeom prst="rect">
            <a:avLst/>
          </a:prstGeom>
          <a:noFill/>
        </p:spPr>
        <p:txBody>
          <a:bodyPr wrap="square" lIns="0" tIns="0" rIns="0" bIns="0" anchor="ctr">
            <a:normAutofit/>
          </a:bodyPr>
          <a:lstStyle/>
          <a:p>
            <a:pPr algn="ctr">
              <a:lnSpc>
                <a:spcPct val="100000"/>
              </a:lnSpc>
              <a:spcBef>
                <a:spcPts val="0"/>
              </a:spcBef>
            </a:pPr>
            <a:r>
              <a:rPr lang="en-US" sz="1100" b="1" spc="0" dirty="0">
                <a:solidFill>
                  <a:srgbClr val="FBF6EC"/>
                </a:solidFill>
                <a:latin typeface="Segoe UI"/>
                <a:cs typeface="Segoe UI"/>
              </a:rPr>
              <a:t>4</a:t>
            </a:r>
          </a:p>
        </p:txBody>
      </p:sp>
      <p:sp>
        <p:nvSpPr>
          <p:cNvPr id="38" name="t38"/>
          <p:cNvSpPr txBox="1"/>
          <p:nvPr/>
        </p:nvSpPr>
        <p:spPr>
          <a:xfrm>
            <a:off x="8704950" y="5507500"/>
            <a:ext cx="2408850" cy="462500"/>
          </a:xfrm>
          <a:prstGeom prst="rect">
            <a:avLst/>
          </a:prstGeom>
          <a:noFill/>
        </p:spPr>
        <p:txBody>
          <a:bodyPr wrap="square" lIns="0" tIns="0" rIns="0" bIns="0" anchor="t">
            <a:normAutofit fontScale="85000" lnSpcReduction="10000"/>
          </a:bodyPr>
          <a:lstStyle/>
          <a:p>
            <a:pPr algn="l">
              <a:lnSpc>
                <a:spcPct val="100000"/>
              </a:lnSpc>
              <a:spcBef>
                <a:spcPts val="0"/>
              </a:spcBef>
            </a:pPr>
            <a:r>
              <a:rPr lang="en-US" sz="1300" b="1" spc="0" dirty="0">
                <a:solidFill>
                  <a:srgbClr val="2E2A26"/>
                </a:solidFill>
                <a:latin typeface="Segoe UI"/>
                <a:cs typeface="Segoe UI"/>
              </a:rPr>
              <a:t>Review before it ships</a:t>
            </a:r>
          </a:p>
          <a:p>
            <a:pPr algn="l">
              <a:lnSpc>
                <a:spcPct val="115000"/>
              </a:lnSpc>
              <a:spcBef>
                <a:spcPts val="380"/>
              </a:spcBef>
            </a:pPr>
            <a:r>
              <a:rPr lang="en-US" sz="1050" b="0" spc="0" dirty="0">
                <a:solidFill>
                  <a:srgbClr val="4A423A"/>
                </a:solidFill>
                <a:latin typeface="Segoe UI"/>
                <a:cs typeface="Segoe UI"/>
              </a:rPr>
              <a:t>The output is a draft; the decision stays yours.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s203"/>
          <p:cNvSpPr/>
          <p:nvPr/>
        </p:nvSpPr>
        <p:spPr>
          <a:xfrm>
            <a:off x="0" y="0"/>
            <a:ext cx="12192000" cy="6858000"/>
          </a:xfrm>
          <a:prstGeom prst="rect">
            <a:avLst/>
          </a:prstGeom>
          <a:solidFill>
            <a:srgbClr val="F3EBDD"/>
          </a:solidFill>
          <a:ln>
            <a:noFill/>
          </a:ln>
        </p:spPr>
        <p:txBody>
          <a:bodyPr/>
          <a:lstStyle/>
          <a:p>
            <a:endParaRPr lang="en-US"/>
          </a:p>
        </p:txBody>
      </p:sp>
      <p:sp>
        <p:nvSpPr>
          <p:cNvPr id="204" name="s204"/>
          <p:cNvSpPr/>
          <p:nvPr/>
        </p:nvSpPr>
        <p:spPr>
          <a:xfrm>
            <a:off x="0" y="0"/>
            <a:ext cx="12192000" cy="80000"/>
          </a:xfrm>
          <a:prstGeom prst="rect">
            <a:avLst/>
          </a:prstGeom>
          <a:solidFill>
            <a:srgbClr val="B4553A"/>
          </a:solidFill>
          <a:ln>
            <a:noFill/>
          </a:ln>
        </p:spPr>
        <p:txBody>
          <a:bodyPr/>
          <a:lstStyle/>
          <a:p>
            <a:endParaRPr lang="en-US"/>
          </a:p>
        </p:txBody>
      </p:sp>
      <p:sp>
        <p:nvSpPr>
          <p:cNvPr id="205" name="s205"/>
          <p:cNvSpPr/>
          <p:nvPr/>
        </p:nvSpPr>
        <p:spPr>
          <a:xfrm>
            <a:off x="838200" y="520700"/>
            <a:ext cx="180000" cy="180000"/>
          </a:xfrm>
          <a:prstGeom prst="ellipse">
            <a:avLst/>
          </a:prstGeom>
          <a:solidFill>
            <a:srgbClr val="7A7A4E"/>
          </a:solidFill>
          <a:ln>
            <a:noFill/>
          </a:ln>
        </p:spPr>
        <p:txBody>
          <a:bodyPr/>
          <a:lstStyle/>
          <a:p>
            <a:endParaRPr lang="en-US"/>
          </a:p>
        </p:txBody>
      </p:sp>
      <p:sp>
        <p:nvSpPr>
          <p:cNvPr id="206" name="t206"/>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GUARDRAILS &amp; HABITS</a:t>
            </a:r>
          </a:p>
        </p:txBody>
      </p:sp>
      <p:sp>
        <p:nvSpPr>
          <p:cNvPr id="207" name="t207"/>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Prompting Well, Safely</a:t>
            </a:r>
          </a:p>
        </p:txBody>
      </p:sp>
      <p:sp>
        <p:nvSpPr>
          <p:cNvPr id="208" name="s208"/>
          <p:cNvSpPr/>
          <p:nvPr/>
        </p:nvSpPr>
        <p:spPr>
          <a:xfrm>
            <a:off x="838200" y="1540000"/>
            <a:ext cx="3200000" cy="26000"/>
          </a:xfrm>
          <a:prstGeom prst="rect">
            <a:avLst/>
          </a:prstGeom>
          <a:solidFill>
            <a:srgbClr val="B4553A"/>
          </a:solidFill>
          <a:ln>
            <a:noFill/>
          </a:ln>
        </p:spPr>
        <p:txBody>
          <a:bodyPr/>
          <a:lstStyle/>
          <a:p>
            <a:endParaRPr lang="en-US"/>
          </a:p>
        </p:txBody>
      </p:sp>
      <p:sp>
        <p:nvSpPr>
          <p:cNvPr id="209" name="t209"/>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HR prompts touch personal data and career decisions — the discipline matters as much as the technique.</a:t>
            </a:r>
          </a:p>
        </p:txBody>
      </p:sp>
      <p:sp>
        <p:nvSpPr>
          <p:cNvPr id="210" name="s210"/>
          <p:cNvSpPr/>
          <p:nvPr/>
        </p:nvSpPr>
        <p:spPr>
          <a:xfrm>
            <a:off x="838200" y="6420000"/>
            <a:ext cx="10515600" cy="12700"/>
          </a:xfrm>
          <a:prstGeom prst="rect">
            <a:avLst/>
          </a:prstGeom>
          <a:solidFill>
            <a:srgbClr val="E0CDB0"/>
          </a:solidFill>
          <a:ln>
            <a:noFill/>
          </a:ln>
        </p:spPr>
        <p:txBody>
          <a:bodyPr/>
          <a:lstStyle/>
          <a:p>
            <a:endParaRPr lang="en-US"/>
          </a:p>
        </p:txBody>
      </p:sp>
      <p:sp>
        <p:nvSpPr>
          <p:cNvPr id="211" name="t211"/>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AI prompting framework for HR professionals</a:t>
            </a:r>
          </a:p>
        </p:txBody>
      </p:sp>
      <p:sp>
        <p:nvSpPr>
          <p:cNvPr id="212" name="s212"/>
          <p:cNvSpPr/>
          <p:nvPr/>
        </p:nvSpPr>
        <p:spPr>
          <a:xfrm>
            <a:off x="838200" y="2320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213" name="s213"/>
          <p:cNvSpPr/>
          <p:nvPr/>
        </p:nvSpPr>
        <p:spPr>
          <a:xfrm>
            <a:off x="1078200" y="2476000"/>
            <a:ext cx="312000" cy="312000"/>
          </a:xfrm>
          <a:prstGeom prst="ellipse">
            <a:avLst/>
          </a:prstGeom>
          <a:solidFill>
            <a:srgbClr val="B4553A"/>
          </a:solidFill>
          <a:ln>
            <a:noFill/>
          </a:ln>
        </p:spPr>
        <p:txBody>
          <a:bodyPr/>
          <a:lstStyle/>
          <a:p>
            <a:endParaRPr lang="en-US"/>
          </a:p>
        </p:txBody>
      </p:sp>
      <p:sp>
        <p:nvSpPr>
          <p:cNvPr id="214" name="t214"/>
          <p:cNvSpPr txBox="1"/>
          <p:nvPr/>
        </p:nvSpPr>
        <p:spPr>
          <a:xfrm>
            <a:off x="1078200" y="2476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dirty="0">
                <a:solidFill>
                  <a:srgbClr val="FBF6EC"/>
                </a:solidFill>
                <a:latin typeface="Segoe UI"/>
                <a:cs typeface="Segoe UI"/>
              </a:rPr>
              <a:t>1</a:t>
            </a:r>
          </a:p>
        </p:txBody>
      </p:sp>
      <p:sp>
        <p:nvSpPr>
          <p:cNvPr id="215" name="t215"/>
          <p:cNvSpPr txBox="1"/>
          <p:nvPr/>
        </p:nvSpPr>
        <p:spPr>
          <a:xfrm>
            <a:off x="1670200" y="2419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dirty="0">
                <a:solidFill>
                  <a:srgbClr val="2E2A26"/>
                </a:solidFill>
                <a:latin typeface="Segoe UI"/>
                <a:cs typeface="Segoe UI"/>
              </a:rPr>
              <a:t>Never paste identifiable employee data</a:t>
            </a:r>
          </a:p>
          <a:p>
            <a:pPr algn="l">
              <a:lnSpc>
                <a:spcPct val="115000"/>
              </a:lnSpc>
              <a:spcBef>
                <a:spcPts val="500"/>
              </a:spcBef>
            </a:pPr>
            <a:r>
              <a:rPr lang="en-US" sz="1150" b="0" spc="0" dirty="0">
                <a:solidFill>
                  <a:srgbClr val="4A423A"/>
                </a:solidFill>
                <a:latin typeface="Segoe UI"/>
                <a:cs typeface="Segoe UI"/>
              </a:rPr>
              <a:t>Anonymise names, IDs, and salaries, or use a tool approved for confidential HR data.</a:t>
            </a:r>
          </a:p>
        </p:txBody>
      </p:sp>
      <p:sp>
        <p:nvSpPr>
          <p:cNvPr id="216" name="s216"/>
          <p:cNvSpPr/>
          <p:nvPr/>
        </p:nvSpPr>
        <p:spPr>
          <a:xfrm>
            <a:off x="838200" y="3114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217" name="s217"/>
          <p:cNvSpPr/>
          <p:nvPr/>
        </p:nvSpPr>
        <p:spPr>
          <a:xfrm>
            <a:off x="1078200" y="3270000"/>
            <a:ext cx="312000" cy="312000"/>
          </a:xfrm>
          <a:prstGeom prst="ellipse">
            <a:avLst/>
          </a:prstGeom>
          <a:solidFill>
            <a:srgbClr val="B4553A"/>
          </a:solidFill>
          <a:ln>
            <a:noFill/>
          </a:ln>
        </p:spPr>
        <p:txBody>
          <a:bodyPr/>
          <a:lstStyle/>
          <a:p>
            <a:endParaRPr lang="en-US"/>
          </a:p>
        </p:txBody>
      </p:sp>
      <p:sp>
        <p:nvSpPr>
          <p:cNvPr id="218" name="t218"/>
          <p:cNvSpPr txBox="1"/>
          <p:nvPr/>
        </p:nvSpPr>
        <p:spPr>
          <a:xfrm>
            <a:off x="1078200" y="3270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dirty="0">
                <a:solidFill>
                  <a:srgbClr val="FBF6EC"/>
                </a:solidFill>
                <a:latin typeface="Segoe UI"/>
                <a:cs typeface="Segoe UI"/>
              </a:rPr>
              <a:t>2</a:t>
            </a:r>
          </a:p>
        </p:txBody>
      </p:sp>
      <p:sp>
        <p:nvSpPr>
          <p:cNvPr id="219" name="t219"/>
          <p:cNvSpPr txBox="1"/>
          <p:nvPr/>
        </p:nvSpPr>
        <p:spPr>
          <a:xfrm>
            <a:off x="1670200" y="3213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dirty="0">
                <a:solidFill>
                  <a:srgbClr val="2E2A26"/>
                </a:solidFill>
                <a:latin typeface="Segoe UI"/>
                <a:cs typeface="Segoe UI"/>
              </a:rPr>
              <a:t>Keep a shared prompt library</a:t>
            </a:r>
          </a:p>
          <a:p>
            <a:pPr algn="l">
              <a:lnSpc>
                <a:spcPct val="115000"/>
              </a:lnSpc>
              <a:spcBef>
                <a:spcPts val="500"/>
              </a:spcBef>
            </a:pPr>
            <a:r>
              <a:rPr lang="en-US" sz="1150" b="0" spc="0" dirty="0">
                <a:solidFill>
                  <a:srgbClr val="4A423A"/>
                </a:solidFill>
                <a:latin typeface="Segoe UI"/>
                <a:cs typeface="Segoe UI"/>
              </a:rPr>
              <a:t>Version your best prompts by use case so the team reuses what works instead of improvising.</a:t>
            </a:r>
          </a:p>
        </p:txBody>
      </p:sp>
      <p:sp>
        <p:nvSpPr>
          <p:cNvPr id="220" name="s220"/>
          <p:cNvSpPr/>
          <p:nvPr/>
        </p:nvSpPr>
        <p:spPr>
          <a:xfrm>
            <a:off x="838200" y="3908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221" name="s221"/>
          <p:cNvSpPr/>
          <p:nvPr/>
        </p:nvSpPr>
        <p:spPr>
          <a:xfrm>
            <a:off x="1078200" y="4064000"/>
            <a:ext cx="312000" cy="312000"/>
          </a:xfrm>
          <a:prstGeom prst="ellipse">
            <a:avLst/>
          </a:prstGeom>
          <a:solidFill>
            <a:srgbClr val="B4553A"/>
          </a:solidFill>
          <a:ln>
            <a:noFill/>
          </a:ln>
        </p:spPr>
        <p:txBody>
          <a:bodyPr/>
          <a:lstStyle/>
          <a:p>
            <a:endParaRPr lang="en-US"/>
          </a:p>
        </p:txBody>
      </p:sp>
      <p:sp>
        <p:nvSpPr>
          <p:cNvPr id="222" name="t222"/>
          <p:cNvSpPr txBox="1"/>
          <p:nvPr/>
        </p:nvSpPr>
        <p:spPr>
          <a:xfrm>
            <a:off x="1078200" y="4064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dirty="0">
                <a:solidFill>
                  <a:srgbClr val="FBF6EC"/>
                </a:solidFill>
                <a:latin typeface="Segoe UI"/>
                <a:cs typeface="Segoe UI"/>
              </a:rPr>
              <a:t>3</a:t>
            </a:r>
          </a:p>
        </p:txBody>
      </p:sp>
      <p:sp>
        <p:nvSpPr>
          <p:cNvPr id="223" name="t223"/>
          <p:cNvSpPr txBox="1"/>
          <p:nvPr/>
        </p:nvSpPr>
        <p:spPr>
          <a:xfrm>
            <a:off x="1670200" y="4007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dirty="0">
                <a:solidFill>
                  <a:srgbClr val="2E2A26"/>
                </a:solidFill>
                <a:latin typeface="Segoe UI"/>
                <a:cs typeface="Segoe UI"/>
              </a:rPr>
              <a:t>Always ask for assumptions</a:t>
            </a:r>
          </a:p>
          <a:p>
            <a:pPr algn="l">
              <a:lnSpc>
                <a:spcPct val="115000"/>
              </a:lnSpc>
              <a:spcBef>
                <a:spcPts val="500"/>
              </a:spcBef>
            </a:pPr>
            <a:r>
              <a:rPr lang="en-US" sz="1150" b="0" spc="0" dirty="0">
                <a:solidFill>
                  <a:srgbClr val="4A423A"/>
                </a:solidFill>
                <a:latin typeface="Segoe UI"/>
                <a:cs typeface="Segoe UI"/>
              </a:rPr>
              <a:t>Require the model to label inferences, so reviewers can see where it filled gaps.</a:t>
            </a:r>
          </a:p>
        </p:txBody>
      </p:sp>
      <p:sp>
        <p:nvSpPr>
          <p:cNvPr id="224" name="s224"/>
          <p:cNvSpPr/>
          <p:nvPr/>
        </p:nvSpPr>
        <p:spPr>
          <a:xfrm>
            <a:off x="838200" y="4702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225" name="s225"/>
          <p:cNvSpPr/>
          <p:nvPr/>
        </p:nvSpPr>
        <p:spPr>
          <a:xfrm>
            <a:off x="1078200" y="4858000"/>
            <a:ext cx="312000" cy="312000"/>
          </a:xfrm>
          <a:prstGeom prst="ellipse">
            <a:avLst/>
          </a:prstGeom>
          <a:solidFill>
            <a:srgbClr val="B4553A"/>
          </a:solidFill>
          <a:ln>
            <a:noFill/>
          </a:ln>
        </p:spPr>
        <p:txBody>
          <a:bodyPr/>
          <a:lstStyle/>
          <a:p>
            <a:endParaRPr lang="en-US"/>
          </a:p>
        </p:txBody>
      </p:sp>
      <p:sp>
        <p:nvSpPr>
          <p:cNvPr id="226" name="t226"/>
          <p:cNvSpPr txBox="1"/>
          <p:nvPr/>
        </p:nvSpPr>
        <p:spPr>
          <a:xfrm>
            <a:off x="1078200" y="4858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dirty="0">
                <a:solidFill>
                  <a:srgbClr val="FBF6EC"/>
                </a:solidFill>
                <a:latin typeface="Segoe UI"/>
                <a:cs typeface="Segoe UI"/>
              </a:rPr>
              <a:t>4</a:t>
            </a:r>
          </a:p>
        </p:txBody>
      </p:sp>
      <p:sp>
        <p:nvSpPr>
          <p:cNvPr id="227" name="t227"/>
          <p:cNvSpPr txBox="1"/>
          <p:nvPr/>
        </p:nvSpPr>
        <p:spPr>
          <a:xfrm>
            <a:off x="1670200" y="4801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dirty="0">
                <a:solidFill>
                  <a:srgbClr val="2E2A26"/>
                </a:solidFill>
                <a:latin typeface="Segoe UI"/>
                <a:cs typeface="Segoe UI"/>
              </a:rPr>
              <a:t>Ground answers in your own policy</a:t>
            </a:r>
          </a:p>
          <a:p>
            <a:pPr algn="l">
              <a:lnSpc>
                <a:spcPct val="115000"/>
              </a:lnSpc>
              <a:spcBef>
                <a:spcPts val="500"/>
              </a:spcBef>
            </a:pPr>
            <a:r>
              <a:rPr lang="en-US" sz="1150" b="0" spc="0" dirty="0">
                <a:solidFill>
                  <a:srgbClr val="4A423A"/>
                </a:solidFill>
                <a:latin typeface="Segoe UI"/>
                <a:cs typeface="Segoe UI"/>
              </a:rPr>
              <a:t>Attach the handbook and restrict the answer to it; verify every clause it cites.</a:t>
            </a:r>
          </a:p>
        </p:txBody>
      </p:sp>
      <p:sp>
        <p:nvSpPr>
          <p:cNvPr id="228" name="s228"/>
          <p:cNvSpPr/>
          <p:nvPr/>
        </p:nvSpPr>
        <p:spPr>
          <a:xfrm>
            <a:off x="838200" y="5496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229" name="s229"/>
          <p:cNvSpPr/>
          <p:nvPr/>
        </p:nvSpPr>
        <p:spPr>
          <a:xfrm>
            <a:off x="1078200" y="5652000"/>
            <a:ext cx="312000" cy="312000"/>
          </a:xfrm>
          <a:prstGeom prst="ellipse">
            <a:avLst/>
          </a:prstGeom>
          <a:solidFill>
            <a:srgbClr val="B4553A"/>
          </a:solidFill>
          <a:ln>
            <a:noFill/>
          </a:ln>
        </p:spPr>
        <p:txBody>
          <a:bodyPr/>
          <a:lstStyle/>
          <a:p>
            <a:endParaRPr lang="en-US"/>
          </a:p>
        </p:txBody>
      </p:sp>
      <p:sp>
        <p:nvSpPr>
          <p:cNvPr id="230" name="t230"/>
          <p:cNvSpPr txBox="1"/>
          <p:nvPr/>
        </p:nvSpPr>
        <p:spPr>
          <a:xfrm>
            <a:off x="1078200" y="5652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dirty="0">
                <a:solidFill>
                  <a:srgbClr val="FBF6EC"/>
                </a:solidFill>
                <a:latin typeface="Segoe UI"/>
                <a:cs typeface="Segoe UI"/>
              </a:rPr>
              <a:t>5</a:t>
            </a:r>
          </a:p>
        </p:txBody>
      </p:sp>
      <p:sp>
        <p:nvSpPr>
          <p:cNvPr id="231" name="t231"/>
          <p:cNvSpPr txBox="1"/>
          <p:nvPr/>
        </p:nvSpPr>
        <p:spPr>
          <a:xfrm>
            <a:off x="1670200" y="5595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dirty="0">
                <a:solidFill>
                  <a:srgbClr val="2E2A26"/>
                </a:solidFill>
                <a:latin typeface="Segoe UI"/>
                <a:cs typeface="Segoe UI"/>
              </a:rPr>
              <a:t>Keep a human decision-maker</a:t>
            </a:r>
          </a:p>
          <a:p>
            <a:pPr algn="l">
              <a:lnSpc>
                <a:spcPct val="115000"/>
              </a:lnSpc>
              <a:spcBef>
                <a:spcPts val="500"/>
              </a:spcBef>
            </a:pPr>
            <a:r>
              <a:rPr lang="en-US" sz="1150" b="0" spc="0" dirty="0">
                <a:solidFill>
                  <a:srgbClr val="4A423A"/>
                </a:solidFill>
                <a:latin typeface="Segoe UI"/>
                <a:cs typeface="Segoe UI"/>
              </a:rPr>
              <a:t>AI drafts and analyses; hiring, discipline, and pay decisions stay with accountable people.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s203"/>
          <p:cNvSpPr/>
          <p:nvPr/>
        </p:nvSpPr>
        <p:spPr>
          <a:xfrm>
            <a:off x="0" y="0"/>
            <a:ext cx="12192000" cy="6858000"/>
          </a:xfrm>
          <a:prstGeom prst="rect">
            <a:avLst/>
          </a:prstGeom>
          <a:solidFill>
            <a:srgbClr val="F3EBDD"/>
          </a:solidFill>
          <a:ln>
            <a:noFill/>
          </a:ln>
        </p:spPr>
        <p:txBody>
          <a:bodyPr/>
          <a:lstStyle/>
          <a:p>
            <a:endParaRPr lang="en-US"/>
          </a:p>
        </p:txBody>
      </p:sp>
      <p:sp>
        <p:nvSpPr>
          <p:cNvPr id="204" name="s204"/>
          <p:cNvSpPr/>
          <p:nvPr/>
        </p:nvSpPr>
        <p:spPr>
          <a:xfrm>
            <a:off x="0" y="0"/>
            <a:ext cx="12192000" cy="80000"/>
          </a:xfrm>
          <a:prstGeom prst="rect">
            <a:avLst/>
          </a:prstGeom>
          <a:solidFill>
            <a:srgbClr val="B4553A"/>
          </a:solidFill>
          <a:ln>
            <a:noFill/>
          </a:ln>
        </p:spPr>
        <p:txBody>
          <a:bodyPr/>
          <a:lstStyle/>
          <a:p>
            <a:endParaRPr lang="en-US"/>
          </a:p>
        </p:txBody>
      </p:sp>
      <p:sp>
        <p:nvSpPr>
          <p:cNvPr id="205" name="s205"/>
          <p:cNvSpPr/>
          <p:nvPr/>
        </p:nvSpPr>
        <p:spPr>
          <a:xfrm>
            <a:off x="838200" y="520700"/>
            <a:ext cx="180000" cy="180000"/>
          </a:xfrm>
          <a:prstGeom prst="ellipse">
            <a:avLst/>
          </a:prstGeom>
          <a:solidFill>
            <a:srgbClr val="7A7A4E"/>
          </a:solidFill>
          <a:ln>
            <a:noFill/>
          </a:ln>
        </p:spPr>
        <p:txBody>
          <a:bodyPr/>
          <a:lstStyle/>
          <a:p>
            <a:endParaRPr lang="en-US"/>
          </a:p>
        </p:txBody>
      </p:sp>
      <p:sp>
        <p:nvSpPr>
          <p:cNvPr id="206" name="t206"/>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a:solidFill>
                  <a:srgbClr val="7A7A4E"/>
                </a:solidFill>
                <a:latin typeface="Segoe UI"/>
                <a:cs typeface="Segoe UI"/>
              </a:rPr>
              <a:t>BEFORE YOU SEND</a:t>
            </a:r>
          </a:p>
        </p:txBody>
      </p:sp>
      <p:sp>
        <p:nvSpPr>
          <p:cNvPr id="207" name="t207"/>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a:solidFill>
                  <a:srgbClr val="2E2A26"/>
                </a:solidFill>
                <a:latin typeface="Georgia"/>
                <a:cs typeface="Georgia"/>
              </a:rPr>
              <a:t>The 60-Second Prompt Check</a:t>
            </a:r>
          </a:p>
        </p:txBody>
      </p:sp>
      <p:sp>
        <p:nvSpPr>
          <p:cNvPr id="208" name="s208"/>
          <p:cNvSpPr/>
          <p:nvPr/>
        </p:nvSpPr>
        <p:spPr>
          <a:xfrm>
            <a:off x="838200" y="1540000"/>
            <a:ext cx="3200000" cy="26000"/>
          </a:xfrm>
          <a:prstGeom prst="rect">
            <a:avLst/>
          </a:prstGeom>
          <a:solidFill>
            <a:srgbClr val="B4553A"/>
          </a:solidFill>
          <a:ln>
            <a:noFill/>
          </a:ln>
        </p:spPr>
        <p:txBody>
          <a:bodyPr/>
          <a:lstStyle/>
          <a:p>
            <a:endParaRPr lang="en-US"/>
          </a:p>
        </p:txBody>
      </p:sp>
      <p:sp>
        <p:nvSpPr>
          <p:cNvPr id="209" name="t209"/>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a:solidFill>
                  <a:srgbClr val="4A423A"/>
                </a:solidFill>
                <a:latin typeface="Segoe UI"/>
                <a:cs typeface="Segoe UI"/>
              </a:rPr>
              <a:t>Five questions to run before any HR prompt leaves your screen. Most weak outputs fail one of them.</a:t>
            </a:r>
          </a:p>
        </p:txBody>
      </p:sp>
      <p:sp>
        <p:nvSpPr>
          <p:cNvPr id="210" name="s210"/>
          <p:cNvSpPr/>
          <p:nvPr/>
        </p:nvSpPr>
        <p:spPr>
          <a:xfrm>
            <a:off x="838200" y="6420000"/>
            <a:ext cx="10515600" cy="12700"/>
          </a:xfrm>
          <a:prstGeom prst="rect">
            <a:avLst/>
          </a:prstGeom>
          <a:solidFill>
            <a:srgbClr val="E0CDB0"/>
          </a:solidFill>
          <a:ln>
            <a:noFill/>
          </a:ln>
        </p:spPr>
        <p:txBody>
          <a:bodyPr/>
          <a:lstStyle/>
          <a:p>
            <a:endParaRPr lang="en-US"/>
          </a:p>
        </p:txBody>
      </p:sp>
      <p:sp>
        <p:nvSpPr>
          <p:cNvPr id="211" name="t211"/>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a:solidFill>
                  <a:srgbClr val="4A423A"/>
                </a:solidFill>
                <a:latin typeface="Segoe UI"/>
                <a:cs typeface="Segoe UI"/>
              </a:rPr>
              <a:t>H.R. S.M.A.R.T prompting framework</a:t>
            </a:r>
          </a:p>
        </p:txBody>
      </p:sp>
      <p:sp>
        <p:nvSpPr>
          <p:cNvPr id="212" name="s212"/>
          <p:cNvSpPr/>
          <p:nvPr/>
        </p:nvSpPr>
        <p:spPr>
          <a:xfrm>
            <a:off x="838200" y="2320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213" name="s213"/>
          <p:cNvSpPr/>
          <p:nvPr/>
        </p:nvSpPr>
        <p:spPr>
          <a:xfrm>
            <a:off x="1078200" y="2476000"/>
            <a:ext cx="312000" cy="312000"/>
          </a:xfrm>
          <a:prstGeom prst="ellipse">
            <a:avLst/>
          </a:prstGeom>
          <a:solidFill>
            <a:srgbClr val="B4553A"/>
          </a:solidFill>
          <a:ln>
            <a:noFill/>
          </a:ln>
        </p:spPr>
        <p:txBody>
          <a:bodyPr/>
          <a:lstStyle/>
          <a:p>
            <a:endParaRPr lang="en-US"/>
          </a:p>
        </p:txBody>
      </p:sp>
      <p:sp>
        <p:nvSpPr>
          <p:cNvPr id="214" name="t214"/>
          <p:cNvSpPr txBox="1"/>
          <p:nvPr/>
        </p:nvSpPr>
        <p:spPr>
          <a:xfrm>
            <a:off x="1078200" y="2476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a:solidFill>
                  <a:srgbClr val="FBF6EC"/>
                </a:solidFill>
                <a:latin typeface="Segoe UI"/>
                <a:cs typeface="Segoe UI"/>
              </a:rPr>
              <a:t>1</a:t>
            </a:r>
          </a:p>
        </p:txBody>
      </p:sp>
      <p:sp>
        <p:nvSpPr>
          <p:cNvPr id="215" name="t215"/>
          <p:cNvSpPr txBox="1"/>
          <p:nvPr/>
        </p:nvSpPr>
        <p:spPr>
          <a:xfrm>
            <a:off x="1670200" y="2419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a:solidFill>
                  <a:srgbClr val="2E2A26"/>
                </a:solidFill>
                <a:latin typeface="Segoe UI"/>
                <a:cs typeface="Segoe UI"/>
              </a:rPr>
              <a:t>Is the role and the audience right?</a:t>
            </a:r>
          </a:p>
          <a:p>
            <a:pPr algn="l">
              <a:lnSpc>
                <a:spcPct val="115000"/>
              </a:lnSpc>
              <a:spcBef>
                <a:spcPts val="500"/>
              </a:spcBef>
            </a:pPr>
            <a:r>
              <a:rPr lang="en-US" sz="1150" b="0" spc="0">
                <a:solidFill>
                  <a:srgbClr val="4A423A"/>
                </a:solidFill>
                <a:latin typeface="Segoe UI"/>
                <a:cs typeface="Segoe UI"/>
              </a:rPr>
              <a:t>Named HR expertise, and the people the output actually serves.</a:t>
            </a:r>
          </a:p>
        </p:txBody>
      </p:sp>
      <p:sp>
        <p:nvSpPr>
          <p:cNvPr id="216" name="s216"/>
          <p:cNvSpPr/>
          <p:nvPr/>
        </p:nvSpPr>
        <p:spPr>
          <a:xfrm>
            <a:off x="838200" y="3114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217" name="s217"/>
          <p:cNvSpPr/>
          <p:nvPr/>
        </p:nvSpPr>
        <p:spPr>
          <a:xfrm>
            <a:off x="1078200" y="3270000"/>
            <a:ext cx="312000" cy="312000"/>
          </a:xfrm>
          <a:prstGeom prst="ellipse">
            <a:avLst/>
          </a:prstGeom>
          <a:solidFill>
            <a:srgbClr val="B4553A"/>
          </a:solidFill>
          <a:ln>
            <a:noFill/>
          </a:ln>
        </p:spPr>
        <p:txBody>
          <a:bodyPr/>
          <a:lstStyle/>
          <a:p>
            <a:endParaRPr lang="en-US"/>
          </a:p>
        </p:txBody>
      </p:sp>
      <p:sp>
        <p:nvSpPr>
          <p:cNvPr id="218" name="t218"/>
          <p:cNvSpPr txBox="1"/>
          <p:nvPr/>
        </p:nvSpPr>
        <p:spPr>
          <a:xfrm>
            <a:off x="1078200" y="3270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a:solidFill>
                  <a:srgbClr val="FBF6EC"/>
                </a:solidFill>
                <a:latin typeface="Segoe UI"/>
                <a:cs typeface="Segoe UI"/>
              </a:rPr>
              <a:t>2</a:t>
            </a:r>
          </a:p>
        </p:txBody>
      </p:sp>
      <p:sp>
        <p:nvSpPr>
          <p:cNvPr id="219" name="t219"/>
          <p:cNvSpPr txBox="1"/>
          <p:nvPr/>
        </p:nvSpPr>
        <p:spPr>
          <a:xfrm>
            <a:off x="1670200" y="3213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a:solidFill>
                  <a:srgbClr val="2E2A26"/>
                </a:solidFill>
                <a:latin typeface="Segoe UI"/>
                <a:cs typeface="Segoe UI"/>
              </a:rPr>
              <a:t>Is the request specific and actionable?</a:t>
            </a:r>
          </a:p>
          <a:p>
            <a:pPr algn="l">
              <a:lnSpc>
                <a:spcPct val="115000"/>
              </a:lnSpc>
              <a:spcBef>
                <a:spcPts val="500"/>
              </a:spcBef>
            </a:pPr>
            <a:r>
              <a:rPr lang="en-US" sz="1150" b="0" spc="0">
                <a:solidFill>
                  <a:srgbClr val="4A423A"/>
                </a:solidFill>
                <a:latin typeface="Segoe UI"/>
                <a:cs typeface="Segoe UI"/>
              </a:rPr>
              <a:t>One deliverable and the decision it supports, not a broad topic.</a:t>
            </a:r>
          </a:p>
        </p:txBody>
      </p:sp>
      <p:sp>
        <p:nvSpPr>
          <p:cNvPr id="220" name="s220"/>
          <p:cNvSpPr/>
          <p:nvPr/>
        </p:nvSpPr>
        <p:spPr>
          <a:xfrm>
            <a:off x="838200" y="3908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221" name="s221"/>
          <p:cNvSpPr/>
          <p:nvPr/>
        </p:nvSpPr>
        <p:spPr>
          <a:xfrm>
            <a:off x="1078200" y="4064000"/>
            <a:ext cx="312000" cy="312000"/>
          </a:xfrm>
          <a:prstGeom prst="ellipse">
            <a:avLst/>
          </a:prstGeom>
          <a:solidFill>
            <a:srgbClr val="B4553A"/>
          </a:solidFill>
          <a:ln>
            <a:noFill/>
          </a:ln>
        </p:spPr>
        <p:txBody>
          <a:bodyPr/>
          <a:lstStyle/>
          <a:p>
            <a:endParaRPr lang="en-US"/>
          </a:p>
        </p:txBody>
      </p:sp>
      <p:sp>
        <p:nvSpPr>
          <p:cNvPr id="222" name="t222"/>
          <p:cNvSpPr txBox="1"/>
          <p:nvPr/>
        </p:nvSpPr>
        <p:spPr>
          <a:xfrm>
            <a:off x="1078200" y="4064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a:solidFill>
                  <a:srgbClr val="FBF6EC"/>
                </a:solidFill>
                <a:latin typeface="Segoe UI"/>
                <a:cs typeface="Segoe UI"/>
              </a:rPr>
              <a:t>3</a:t>
            </a:r>
          </a:p>
        </p:txBody>
      </p:sp>
      <p:sp>
        <p:nvSpPr>
          <p:cNvPr id="223" name="t223"/>
          <p:cNvSpPr txBox="1"/>
          <p:nvPr/>
        </p:nvSpPr>
        <p:spPr>
          <a:xfrm>
            <a:off x="1670200" y="4007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a:solidFill>
                  <a:srgbClr val="2E2A26"/>
                </a:solidFill>
                <a:latin typeface="Segoe UI"/>
                <a:cs typeface="Segoe UI"/>
              </a:rPr>
              <a:t>Is the context necessary and no more?</a:t>
            </a:r>
          </a:p>
          <a:p>
            <a:pPr algn="l">
              <a:lnSpc>
                <a:spcPct val="115000"/>
              </a:lnSpc>
              <a:spcBef>
                <a:spcPts val="500"/>
              </a:spcBef>
            </a:pPr>
            <a:r>
              <a:rPr lang="en-US" sz="1150" b="0" spc="0">
                <a:solidFill>
                  <a:srgbClr val="4A423A"/>
                </a:solidFill>
                <a:latin typeface="Segoe UI"/>
                <a:cs typeface="Segoe UI"/>
              </a:rPr>
              <a:t>Enough business background, with names and sensitive detail stripped out.</a:t>
            </a:r>
          </a:p>
        </p:txBody>
      </p:sp>
      <p:sp>
        <p:nvSpPr>
          <p:cNvPr id="224" name="s224"/>
          <p:cNvSpPr/>
          <p:nvPr/>
        </p:nvSpPr>
        <p:spPr>
          <a:xfrm>
            <a:off x="838200" y="4702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225" name="s225"/>
          <p:cNvSpPr/>
          <p:nvPr/>
        </p:nvSpPr>
        <p:spPr>
          <a:xfrm>
            <a:off x="1078200" y="4858000"/>
            <a:ext cx="312000" cy="312000"/>
          </a:xfrm>
          <a:prstGeom prst="ellipse">
            <a:avLst/>
          </a:prstGeom>
          <a:solidFill>
            <a:srgbClr val="B4553A"/>
          </a:solidFill>
          <a:ln>
            <a:noFill/>
          </a:ln>
        </p:spPr>
        <p:txBody>
          <a:bodyPr/>
          <a:lstStyle/>
          <a:p>
            <a:endParaRPr lang="en-US"/>
          </a:p>
        </p:txBody>
      </p:sp>
      <p:sp>
        <p:nvSpPr>
          <p:cNvPr id="226" name="t226"/>
          <p:cNvSpPr txBox="1"/>
          <p:nvPr/>
        </p:nvSpPr>
        <p:spPr>
          <a:xfrm>
            <a:off x="1078200" y="4858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a:solidFill>
                  <a:srgbClr val="FBF6EC"/>
                </a:solidFill>
                <a:latin typeface="Segoe UI"/>
                <a:cs typeface="Segoe UI"/>
              </a:rPr>
              <a:t>4</a:t>
            </a:r>
          </a:p>
        </p:txBody>
      </p:sp>
      <p:sp>
        <p:nvSpPr>
          <p:cNvPr id="227" name="t227"/>
          <p:cNvSpPr txBox="1"/>
          <p:nvPr/>
        </p:nvSpPr>
        <p:spPr>
          <a:xfrm>
            <a:off x="1670200" y="4801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a:solidFill>
                  <a:srgbClr val="2E2A26"/>
                </a:solidFill>
                <a:latin typeface="Segoe UI"/>
                <a:cs typeface="Segoe UI"/>
              </a:rPr>
              <a:t>Are format, tone and boundaries stated?</a:t>
            </a:r>
          </a:p>
          <a:p>
            <a:pPr algn="l">
              <a:lnSpc>
                <a:spcPct val="115000"/>
              </a:lnSpc>
              <a:spcBef>
                <a:spcPts val="500"/>
              </a:spcBef>
            </a:pPr>
            <a:r>
              <a:rPr lang="en-US" sz="1150" b="0" spc="0">
                <a:solidFill>
                  <a:srgbClr val="4A423A"/>
                </a:solidFill>
                <a:latin typeface="Segoe UI"/>
                <a:cs typeface="Segoe UI"/>
              </a:rPr>
              <a:t>The shape of the output, its length, and what must never appear in it.</a:t>
            </a:r>
          </a:p>
        </p:txBody>
      </p:sp>
      <p:sp>
        <p:nvSpPr>
          <p:cNvPr id="228" name="s228"/>
          <p:cNvSpPr/>
          <p:nvPr/>
        </p:nvSpPr>
        <p:spPr>
          <a:xfrm>
            <a:off x="838200" y="5496000"/>
            <a:ext cx="10515600" cy="624000"/>
          </a:xfrm>
          <a:prstGeom prst="roundRect">
            <a:avLst>
              <a:gd name="adj" fmla="val 10000"/>
            </a:avLst>
          </a:prstGeom>
          <a:solidFill>
            <a:srgbClr val="FBF6EC"/>
          </a:solidFill>
          <a:ln w="12700">
            <a:solidFill>
              <a:srgbClr val="E0CDB0"/>
            </a:solidFill>
          </a:ln>
        </p:spPr>
        <p:txBody>
          <a:bodyPr/>
          <a:lstStyle/>
          <a:p>
            <a:endParaRPr lang="en-US"/>
          </a:p>
        </p:txBody>
      </p:sp>
      <p:sp>
        <p:nvSpPr>
          <p:cNvPr id="229" name="s229"/>
          <p:cNvSpPr/>
          <p:nvPr/>
        </p:nvSpPr>
        <p:spPr>
          <a:xfrm>
            <a:off x="1078200" y="5652000"/>
            <a:ext cx="312000" cy="312000"/>
          </a:xfrm>
          <a:prstGeom prst="ellipse">
            <a:avLst/>
          </a:prstGeom>
          <a:solidFill>
            <a:srgbClr val="B4553A"/>
          </a:solidFill>
          <a:ln>
            <a:noFill/>
          </a:ln>
        </p:spPr>
        <p:txBody>
          <a:bodyPr/>
          <a:lstStyle/>
          <a:p>
            <a:endParaRPr lang="en-US"/>
          </a:p>
        </p:txBody>
      </p:sp>
      <p:sp>
        <p:nvSpPr>
          <p:cNvPr id="230" name="t230"/>
          <p:cNvSpPr txBox="1"/>
          <p:nvPr/>
        </p:nvSpPr>
        <p:spPr>
          <a:xfrm>
            <a:off x="1078200" y="5652000"/>
            <a:ext cx="312000" cy="312000"/>
          </a:xfrm>
          <a:prstGeom prst="rect">
            <a:avLst/>
          </a:prstGeom>
          <a:noFill/>
        </p:spPr>
        <p:txBody>
          <a:bodyPr wrap="square" lIns="0" tIns="0" rIns="0" bIns="0" anchor="ctr">
            <a:normAutofit/>
          </a:bodyPr>
          <a:lstStyle/>
          <a:p>
            <a:pPr algn="ctr">
              <a:lnSpc>
                <a:spcPct val="100000"/>
              </a:lnSpc>
              <a:spcBef>
                <a:spcPts val="0"/>
              </a:spcBef>
            </a:pPr>
            <a:r>
              <a:rPr lang="en-US" sz="1300" b="1" spc="0">
                <a:solidFill>
                  <a:srgbClr val="FBF6EC"/>
                </a:solidFill>
                <a:latin typeface="Segoe UI"/>
                <a:cs typeface="Segoe UI"/>
              </a:rPr>
              <a:t>5</a:t>
            </a:r>
          </a:p>
        </p:txBody>
      </p:sp>
      <p:sp>
        <p:nvSpPr>
          <p:cNvPr id="231" name="t231"/>
          <p:cNvSpPr txBox="1"/>
          <p:nvPr/>
        </p:nvSpPr>
        <p:spPr>
          <a:xfrm>
            <a:off x="1670200" y="5595840"/>
            <a:ext cx="9100000" cy="449280"/>
          </a:xfrm>
          <a:prstGeom prst="rect">
            <a:avLst/>
          </a:prstGeom>
          <a:noFill/>
        </p:spPr>
        <p:txBody>
          <a:bodyPr wrap="square" lIns="0" tIns="0" rIns="0" bIns="0" anchor="t">
            <a:normAutofit lnSpcReduction="10000"/>
          </a:bodyPr>
          <a:lstStyle/>
          <a:p>
            <a:pPr algn="l">
              <a:lnSpc>
                <a:spcPct val="100000"/>
              </a:lnSpc>
              <a:spcBef>
                <a:spcPts val="0"/>
              </a:spcBef>
            </a:pPr>
            <a:r>
              <a:rPr lang="en-US" sz="1400" b="1" spc="0">
                <a:solidFill>
                  <a:srgbClr val="2E2A26"/>
                </a:solidFill>
                <a:latin typeface="Segoe UI"/>
                <a:cs typeface="Segoe UI"/>
              </a:rPr>
              <a:t>Will a qualified human review it?</a:t>
            </a:r>
          </a:p>
          <a:p>
            <a:pPr algn="l">
              <a:lnSpc>
                <a:spcPct val="115000"/>
              </a:lnSpc>
              <a:spcBef>
                <a:spcPts val="500"/>
              </a:spcBef>
            </a:pPr>
            <a:r>
              <a:rPr lang="en-US" sz="1150" b="0" spc="0">
                <a:solidFill>
                  <a:srgbClr val="4A423A"/>
                </a:solidFill>
                <a:latin typeface="Segoe UI"/>
                <a:cs typeface="Segoe UI"/>
              </a:rPr>
              <a:t>The framework gets you a stronger draft; the decision still stays yours.</a:t>
            </a:r>
          </a:p>
        </p:txBody>
      </p:sp>
    </p:spTree>
    <p:extLst>
      <p:ext uri="{BB962C8B-B14F-4D97-AF65-F5344CB8AC3E}">
        <p14:creationId xmlns:p14="http://schemas.microsoft.com/office/powerpoint/2010/main" val="1757996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78"/>
          <p:cNvSpPr/>
          <p:nvPr/>
        </p:nvSpPr>
        <p:spPr>
          <a:xfrm>
            <a:off x="0" y="0"/>
            <a:ext cx="12192000" cy="6858000"/>
          </a:xfrm>
          <a:prstGeom prst="rect">
            <a:avLst/>
          </a:prstGeom>
          <a:solidFill>
            <a:srgbClr val="F3EBDD"/>
          </a:solidFill>
          <a:ln>
            <a:noFill/>
          </a:ln>
        </p:spPr>
        <p:txBody>
          <a:bodyPr/>
          <a:lstStyle/>
          <a:p>
            <a:endParaRPr lang="en-US"/>
          </a:p>
        </p:txBody>
      </p:sp>
      <p:sp>
        <p:nvSpPr>
          <p:cNvPr id="79" name="s79"/>
          <p:cNvSpPr/>
          <p:nvPr/>
        </p:nvSpPr>
        <p:spPr>
          <a:xfrm>
            <a:off x="0" y="0"/>
            <a:ext cx="12192000" cy="80000"/>
          </a:xfrm>
          <a:prstGeom prst="rect">
            <a:avLst/>
          </a:prstGeom>
          <a:solidFill>
            <a:srgbClr val="B4553A"/>
          </a:solidFill>
          <a:ln>
            <a:noFill/>
          </a:ln>
        </p:spPr>
        <p:txBody>
          <a:bodyPr/>
          <a:lstStyle/>
          <a:p>
            <a:endParaRPr lang="en-US"/>
          </a:p>
        </p:txBody>
      </p:sp>
      <p:sp>
        <p:nvSpPr>
          <p:cNvPr id="80" name="g80"/>
          <p:cNvSpPr/>
          <p:nvPr/>
        </p:nvSpPr>
        <p:spPr>
          <a:xfrm>
            <a:off x="7010400" y="0"/>
            <a:ext cx="5181600" cy="6858000"/>
          </a:xfrm>
          <a:prstGeom prst="rect">
            <a:avLst/>
          </a:prstGeom>
          <a:solidFill>
            <a:srgbClr val="332E29"/>
          </a:solidFill>
          <a:ln>
            <a:noFill/>
          </a:ln>
        </p:spPr>
        <p:txBody>
          <a:bodyPr/>
          <a:lstStyle/>
          <a:p>
            <a:endParaRPr lang="en-US"/>
          </a:p>
        </p:txBody>
      </p:sp>
      <p:sp>
        <p:nvSpPr>
          <p:cNvPr id="81" name="g81"/>
          <p:cNvSpPr/>
          <p:nvPr/>
        </p:nvSpPr>
        <p:spPr>
          <a:xfrm>
            <a:off x="7876200" y="1374000"/>
            <a:ext cx="150000" cy="150000"/>
          </a:xfrm>
          <a:prstGeom prst="ellipse">
            <a:avLst/>
          </a:prstGeom>
          <a:solidFill>
            <a:srgbClr val="F3EBDD">
              <a:alpha val="32000"/>
            </a:srgbClr>
          </a:solidFill>
          <a:ln>
            <a:noFill/>
          </a:ln>
        </p:spPr>
        <p:txBody>
          <a:bodyPr/>
          <a:lstStyle/>
          <a:p>
            <a:endParaRPr lang="en-US"/>
          </a:p>
        </p:txBody>
      </p:sp>
      <p:sp>
        <p:nvSpPr>
          <p:cNvPr id="82" name="g82"/>
          <p:cNvSpPr/>
          <p:nvPr/>
        </p:nvSpPr>
        <p:spPr>
          <a:xfrm>
            <a:off x="8536200" y="1374000"/>
            <a:ext cx="150000" cy="150000"/>
          </a:xfrm>
          <a:prstGeom prst="ellipse">
            <a:avLst/>
          </a:prstGeom>
          <a:solidFill>
            <a:srgbClr val="F3EBDD">
              <a:alpha val="32000"/>
            </a:srgbClr>
          </a:solidFill>
          <a:ln>
            <a:noFill/>
          </a:ln>
        </p:spPr>
        <p:txBody>
          <a:bodyPr/>
          <a:lstStyle/>
          <a:p>
            <a:endParaRPr lang="en-US"/>
          </a:p>
        </p:txBody>
      </p:sp>
      <p:sp>
        <p:nvSpPr>
          <p:cNvPr id="83" name="g83"/>
          <p:cNvSpPr/>
          <p:nvPr/>
        </p:nvSpPr>
        <p:spPr>
          <a:xfrm>
            <a:off x="9196200" y="1374000"/>
            <a:ext cx="150000" cy="150000"/>
          </a:xfrm>
          <a:prstGeom prst="ellipse">
            <a:avLst/>
          </a:prstGeom>
          <a:solidFill>
            <a:srgbClr val="F3EBDD">
              <a:alpha val="32000"/>
            </a:srgbClr>
          </a:solidFill>
          <a:ln>
            <a:noFill/>
          </a:ln>
        </p:spPr>
        <p:txBody>
          <a:bodyPr/>
          <a:lstStyle/>
          <a:p>
            <a:endParaRPr lang="en-US"/>
          </a:p>
        </p:txBody>
      </p:sp>
      <p:sp>
        <p:nvSpPr>
          <p:cNvPr id="84" name="g84"/>
          <p:cNvSpPr/>
          <p:nvPr/>
        </p:nvSpPr>
        <p:spPr>
          <a:xfrm>
            <a:off x="9856200" y="1374000"/>
            <a:ext cx="150000" cy="150000"/>
          </a:xfrm>
          <a:prstGeom prst="ellipse">
            <a:avLst/>
          </a:prstGeom>
          <a:solidFill>
            <a:srgbClr val="F3EBDD">
              <a:alpha val="32000"/>
            </a:srgbClr>
          </a:solidFill>
          <a:ln>
            <a:noFill/>
          </a:ln>
        </p:spPr>
        <p:txBody>
          <a:bodyPr/>
          <a:lstStyle/>
          <a:p>
            <a:endParaRPr lang="en-US"/>
          </a:p>
        </p:txBody>
      </p:sp>
      <p:sp>
        <p:nvSpPr>
          <p:cNvPr id="85" name="g85"/>
          <p:cNvSpPr/>
          <p:nvPr/>
        </p:nvSpPr>
        <p:spPr>
          <a:xfrm>
            <a:off x="10516200" y="1374000"/>
            <a:ext cx="150000" cy="150000"/>
          </a:xfrm>
          <a:prstGeom prst="ellipse">
            <a:avLst/>
          </a:prstGeom>
          <a:solidFill>
            <a:srgbClr val="F3EBDD">
              <a:alpha val="32000"/>
            </a:srgbClr>
          </a:solidFill>
          <a:ln>
            <a:noFill/>
          </a:ln>
        </p:spPr>
        <p:txBody>
          <a:bodyPr/>
          <a:lstStyle/>
          <a:p>
            <a:endParaRPr lang="en-US"/>
          </a:p>
        </p:txBody>
      </p:sp>
      <p:sp>
        <p:nvSpPr>
          <p:cNvPr id="86" name="g86"/>
          <p:cNvSpPr/>
          <p:nvPr/>
        </p:nvSpPr>
        <p:spPr>
          <a:xfrm>
            <a:off x="11176200" y="1374000"/>
            <a:ext cx="150000" cy="150000"/>
          </a:xfrm>
          <a:prstGeom prst="ellipse">
            <a:avLst/>
          </a:prstGeom>
          <a:solidFill>
            <a:srgbClr val="F3EBDD">
              <a:alpha val="32000"/>
            </a:srgbClr>
          </a:solidFill>
          <a:ln>
            <a:noFill/>
          </a:ln>
        </p:spPr>
        <p:txBody>
          <a:bodyPr/>
          <a:lstStyle/>
          <a:p>
            <a:endParaRPr lang="en-US"/>
          </a:p>
        </p:txBody>
      </p:sp>
      <p:sp>
        <p:nvSpPr>
          <p:cNvPr id="87" name="g87"/>
          <p:cNvSpPr/>
          <p:nvPr/>
        </p:nvSpPr>
        <p:spPr>
          <a:xfrm>
            <a:off x="7876200" y="2034000"/>
            <a:ext cx="150000" cy="150000"/>
          </a:xfrm>
          <a:prstGeom prst="ellipse">
            <a:avLst/>
          </a:prstGeom>
          <a:solidFill>
            <a:srgbClr val="F3EBDD">
              <a:alpha val="32000"/>
            </a:srgbClr>
          </a:solidFill>
          <a:ln>
            <a:noFill/>
          </a:ln>
        </p:spPr>
        <p:txBody>
          <a:bodyPr/>
          <a:lstStyle/>
          <a:p>
            <a:endParaRPr lang="en-US"/>
          </a:p>
        </p:txBody>
      </p:sp>
      <p:sp>
        <p:nvSpPr>
          <p:cNvPr id="88" name="g88"/>
          <p:cNvSpPr/>
          <p:nvPr/>
        </p:nvSpPr>
        <p:spPr>
          <a:xfrm>
            <a:off x="8536200" y="2034000"/>
            <a:ext cx="150000" cy="150000"/>
          </a:xfrm>
          <a:prstGeom prst="ellipse">
            <a:avLst/>
          </a:prstGeom>
          <a:solidFill>
            <a:srgbClr val="F3EBDD">
              <a:alpha val="32000"/>
            </a:srgbClr>
          </a:solidFill>
          <a:ln>
            <a:noFill/>
          </a:ln>
        </p:spPr>
        <p:txBody>
          <a:bodyPr/>
          <a:lstStyle/>
          <a:p>
            <a:endParaRPr lang="en-US"/>
          </a:p>
        </p:txBody>
      </p:sp>
      <p:sp>
        <p:nvSpPr>
          <p:cNvPr id="89" name="g89"/>
          <p:cNvSpPr/>
          <p:nvPr/>
        </p:nvSpPr>
        <p:spPr>
          <a:xfrm>
            <a:off x="9196200" y="2034000"/>
            <a:ext cx="150000" cy="150000"/>
          </a:xfrm>
          <a:prstGeom prst="ellipse">
            <a:avLst/>
          </a:prstGeom>
          <a:solidFill>
            <a:srgbClr val="F3EBDD">
              <a:alpha val="32000"/>
            </a:srgbClr>
          </a:solidFill>
          <a:ln>
            <a:noFill/>
          </a:ln>
        </p:spPr>
        <p:txBody>
          <a:bodyPr/>
          <a:lstStyle/>
          <a:p>
            <a:endParaRPr lang="en-US"/>
          </a:p>
        </p:txBody>
      </p:sp>
      <p:sp>
        <p:nvSpPr>
          <p:cNvPr id="90" name="g90"/>
          <p:cNvSpPr/>
          <p:nvPr/>
        </p:nvSpPr>
        <p:spPr>
          <a:xfrm>
            <a:off x="9856200" y="2034000"/>
            <a:ext cx="150000" cy="150000"/>
          </a:xfrm>
          <a:prstGeom prst="ellipse">
            <a:avLst/>
          </a:prstGeom>
          <a:solidFill>
            <a:srgbClr val="F3EBDD">
              <a:alpha val="32000"/>
            </a:srgbClr>
          </a:solidFill>
          <a:ln>
            <a:noFill/>
          </a:ln>
        </p:spPr>
        <p:txBody>
          <a:bodyPr/>
          <a:lstStyle/>
          <a:p>
            <a:endParaRPr lang="en-US"/>
          </a:p>
        </p:txBody>
      </p:sp>
      <p:sp>
        <p:nvSpPr>
          <p:cNvPr id="91" name="g91"/>
          <p:cNvSpPr/>
          <p:nvPr/>
        </p:nvSpPr>
        <p:spPr>
          <a:xfrm>
            <a:off x="10516200" y="2034000"/>
            <a:ext cx="150000" cy="150000"/>
          </a:xfrm>
          <a:prstGeom prst="ellipse">
            <a:avLst/>
          </a:prstGeom>
          <a:solidFill>
            <a:srgbClr val="F3EBDD">
              <a:alpha val="32000"/>
            </a:srgbClr>
          </a:solidFill>
          <a:ln>
            <a:noFill/>
          </a:ln>
        </p:spPr>
        <p:txBody>
          <a:bodyPr/>
          <a:lstStyle/>
          <a:p>
            <a:endParaRPr lang="en-US"/>
          </a:p>
        </p:txBody>
      </p:sp>
      <p:sp>
        <p:nvSpPr>
          <p:cNvPr id="92" name="g92"/>
          <p:cNvSpPr/>
          <p:nvPr/>
        </p:nvSpPr>
        <p:spPr>
          <a:xfrm>
            <a:off x="11176200" y="2034000"/>
            <a:ext cx="150000" cy="150000"/>
          </a:xfrm>
          <a:prstGeom prst="ellipse">
            <a:avLst/>
          </a:prstGeom>
          <a:solidFill>
            <a:srgbClr val="F3EBDD">
              <a:alpha val="32000"/>
            </a:srgbClr>
          </a:solidFill>
          <a:ln>
            <a:noFill/>
          </a:ln>
        </p:spPr>
        <p:txBody>
          <a:bodyPr/>
          <a:lstStyle/>
          <a:p>
            <a:endParaRPr lang="en-US"/>
          </a:p>
        </p:txBody>
      </p:sp>
      <p:sp>
        <p:nvSpPr>
          <p:cNvPr id="93" name="g93"/>
          <p:cNvSpPr/>
          <p:nvPr/>
        </p:nvSpPr>
        <p:spPr>
          <a:xfrm>
            <a:off x="7876200" y="2694000"/>
            <a:ext cx="150000" cy="150000"/>
          </a:xfrm>
          <a:prstGeom prst="ellipse">
            <a:avLst/>
          </a:prstGeom>
          <a:solidFill>
            <a:srgbClr val="F3EBDD">
              <a:alpha val="32000"/>
            </a:srgbClr>
          </a:solidFill>
          <a:ln>
            <a:noFill/>
          </a:ln>
        </p:spPr>
        <p:txBody>
          <a:bodyPr/>
          <a:lstStyle/>
          <a:p>
            <a:endParaRPr lang="en-US"/>
          </a:p>
        </p:txBody>
      </p:sp>
      <p:sp>
        <p:nvSpPr>
          <p:cNvPr id="94" name="g94"/>
          <p:cNvSpPr/>
          <p:nvPr/>
        </p:nvSpPr>
        <p:spPr>
          <a:xfrm>
            <a:off x="8536200" y="2694000"/>
            <a:ext cx="150000" cy="150000"/>
          </a:xfrm>
          <a:prstGeom prst="ellipse">
            <a:avLst/>
          </a:prstGeom>
          <a:solidFill>
            <a:srgbClr val="F3EBDD">
              <a:alpha val="32000"/>
            </a:srgbClr>
          </a:solidFill>
          <a:ln>
            <a:noFill/>
          </a:ln>
        </p:spPr>
        <p:txBody>
          <a:bodyPr/>
          <a:lstStyle/>
          <a:p>
            <a:endParaRPr lang="en-US"/>
          </a:p>
        </p:txBody>
      </p:sp>
      <p:sp>
        <p:nvSpPr>
          <p:cNvPr id="95" name="g95"/>
          <p:cNvSpPr/>
          <p:nvPr/>
        </p:nvSpPr>
        <p:spPr>
          <a:xfrm>
            <a:off x="9196200" y="2694000"/>
            <a:ext cx="150000" cy="150000"/>
          </a:xfrm>
          <a:prstGeom prst="ellipse">
            <a:avLst/>
          </a:prstGeom>
          <a:solidFill>
            <a:srgbClr val="F3EBDD">
              <a:alpha val="32000"/>
            </a:srgbClr>
          </a:solidFill>
          <a:ln>
            <a:noFill/>
          </a:ln>
        </p:spPr>
        <p:txBody>
          <a:bodyPr/>
          <a:lstStyle/>
          <a:p>
            <a:endParaRPr lang="en-US"/>
          </a:p>
        </p:txBody>
      </p:sp>
      <p:sp>
        <p:nvSpPr>
          <p:cNvPr id="96" name="g96"/>
          <p:cNvSpPr/>
          <p:nvPr/>
        </p:nvSpPr>
        <p:spPr>
          <a:xfrm>
            <a:off x="9856200" y="2694000"/>
            <a:ext cx="150000" cy="150000"/>
          </a:xfrm>
          <a:prstGeom prst="ellipse">
            <a:avLst/>
          </a:prstGeom>
          <a:solidFill>
            <a:srgbClr val="F3EBDD">
              <a:alpha val="32000"/>
            </a:srgbClr>
          </a:solidFill>
          <a:ln>
            <a:noFill/>
          </a:ln>
        </p:spPr>
        <p:txBody>
          <a:bodyPr/>
          <a:lstStyle/>
          <a:p>
            <a:endParaRPr lang="en-US"/>
          </a:p>
        </p:txBody>
      </p:sp>
      <p:sp>
        <p:nvSpPr>
          <p:cNvPr id="97" name="g97"/>
          <p:cNvSpPr/>
          <p:nvPr/>
        </p:nvSpPr>
        <p:spPr>
          <a:xfrm>
            <a:off x="10516200" y="2694000"/>
            <a:ext cx="150000" cy="150000"/>
          </a:xfrm>
          <a:prstGeom prst="ellipse">
            <a:avLst/>
          </a:prstGeom>
          <a:solidFill>
            <a:srgbClr val="F3EBDD">
              <a:alpha val="32000"/>
            </a:srgbClr>
          </a:solidFill>
          <a:ln>
            <a:noFill/>
          </a:ln>
        </p:spPr>
        <p:txBody>
          <a:bodyPr/>
          <a:lstStyle/>
          <a:p>
            <a:endParaRPr lang="en-US"/>
          </a:p>
        </p:txBody>
      </p:sp>
      <p:sp>
        <p:nvSpPr>
          <p:cNvPr id="98" name="g98"/>
          <p:cNvSpPr/>
          <p:nvPr/>
        </p:nvSpPr>
        <p:spPr>
          <a:xfrm>
            <a:off x="11176200" y="2694000"/>
            <a:ext cx="150000" cy="150000"/>
          </a:xfrm>
          <a:prstGeom prst="ellipse">
            <a:avLst/>
          </a:prstGeom>
          <a:solidFill>
            <a:srgbClr val="F3EBDD">
              <a:alpha val="32000"/>
            </a:srgbClr>
          </a:solidFill>
          <a:ln>
            <a:noFill/>
          </a:ln>
        </p:spPr>
        <p:txBody>
          <a:bodyPr/>
          <a:lstStyle/>
          <a:p>
            <a:endParaRPr lang="en-US"/>
          </a:p>
        </p:txBody>
      </p:sp>
      <p:sp>
        <p:nvSpPr>
          <p:cNvPr id="99" name="g99"/>
          <p:cNvSpPr/>
          <p:nvPr/>
        </p:nvSpPr>
        <p:spPr>
          <a:xfrm>
            <a:off x="7876200" y="3354000"/>
            <a:ext cx="150000" cy="150000"/>
          </a:xfrm>
          <a:prstGeom prst="ellipse">
            <a:avLst/>
          </a:prstGeom>
          <a:solidFill>
            <a:srgbClr val="F3EBDD">
              <a:alpha val="32000"/>
            </a:srgbClr>
          </a:solidFill>
          <a:ln>
            <a:noFill/>
          </a:ln>
        </p:spPr>
        <p:txBody>
          <a:bodyPr/>
          <a:lstStyle/>
          <a:p>
            <a:endParaRPr lang="en-US"/>
          </a:p>
        </p:txBody>
      </p:sp>
      <p:sp>
        <p:nvSpPr>
          <p:cNvPr id="100" name="g100"/>
          <p:cNvSpPr/>
          <p:nvPr/>
        </p:nvSpPr>
        <p:spPr>
          <a:xfrm>
            <a:off x="8536200" y="3354000"/>
            <a:ext cx="150000" cy="150000"/>
          </a:xfrm>
          <a:prstGeom prst="ellipse">
            <a:avLst/>
          </a:prstGeom>
          <a:solidFill>
            <a:srgbClr val="F3EBDD">
              <a:alpha val="32000"/>
            </a:srgbClr>
          </a:solidFill>
          <a:ln>
            <a:noFill/>
          </a:ln>
        </p:spPr>
        <p:txBody>
          <a:bodyPr/>
          <a:lstStyle/>
          <a:p>
            <a:endParaRPr lang="en-US"/>
          </a:p>
        </p:txBody>
      </p:sp>
      <p:sp>
        <p:nvSpPr>
          <p:cNvPr id="101" name="g101"/>
          <p:cNvSpPr/>
          <p:nvPr/>
        </p:nvSpPr>
        <p:spPr>
          <a:xfrm>
            <a:off x="9196200" y="3354000"/>
            <a:ext cx="150000" cy="150000"/>
          </a:xfrm>
          <a:prstGeom prst="ellipse">
            <a:avLst/>
          </a:prstGeom>
          <a:solidFill>
            <a:srgbClr val="F3EBDD">
              <a:alpha val="32000"/>
            </a:srgbClr>
          </a:solidFill>
          <a:ln>
            <a:noFill/>
          </a:ln>
        </p:spPr>
        <p:txBody>
          <a:bodyPr/>
          <a:lstStyle/>
          <a:p>
            <a:endParaRPr lang="en-US"/>
          </a:p>
        </p:txBody>
      </p:sp>
      <p:sp>
        <p:nvSpPr>
          <p:cNvPr id="102" name="g102"/>
          <p:cNvSpPr/>
          <p:nvPr/>
        </p:nvSpPr>
        <p:spPr>
          <a:xfrm>
            <a:off x="9856200" y="3354000"/>
            <a:ext cx="150000" cy="150000"/>
          </a:xfrm>
          <a:prstGeom prst="ellipse">
            <a:avLst/>
          </a:prstGeom>
          <a:solidFill>
            <a:srgbClr val="F3EBDD">
              <a:alpha val="32000"/>
            </a:srgbClr>
          </a:solidFill>
          <a:ln>
            <a:noFill/>
          </a:ln>
        </p:spPr>
        <p:txBody>
          <a:bodyPr/>
          <a:lstStyle/>
          <a:p>
            <a:endParaRPr lang="en-US"/>
          </a:p>
        </p:txBody>
      </p:sp>
      <p:sp>
        <p:nvSpPr>
          <p:cNvPr id="103" name="g103"/>
          <p:cNvSpPr/>
          <p:nvPr/>
        </p:nvSpPr>
        <p:spPr>
          <a:xfrm>
            <a:off x="10516200" y="3354000"/>
            <a:ext cx="150000" cy="150000"/>
          </a:xfrm>
          <a:prstGeom prst="ellipse">
            <a:avLst/>
          </a:prstGeom>
          <a:solidFill>
            <a:srgbClr val="F3EBDD">
              <a:alpha val="32000"/>
            </a:srgbClr>
          </a:solidFill>
          <a:ln>
            <a:noFill/>
          </a:ln>
        </p:spPr>
        <p:txBody>
          <a:bodyPr/>
          <a:lstStyle/>
          <a:p>
            <a:endParaRPr lang="en-US"/>
          </a:p>
        </p:txBody>
      </p:sp>
      <p:sp>
        <p:nvSpPr>
          <p:cNvPr id="104" name="g104"/>
          <p:cNvSpPr/>
          <p:nvPr/>
        </p:nvSpPr>
        <p:spPr>
          <a:xfrm>
            <a:off x="11176200" y="3354000"/>
            <a:ext cx="150000" cy="150000"/>
          </a:xfrm>
          <a:prstGeom prst="ellipse">
            <a:avLst/>
          </a:prstGeom>
          <a:solidFill>
            <a:srgbClr val="F3EBDD">
              <a:alpha val="32000"/>
            </a:srgbClr>
          </a:solidFill>
          <a:ln>
            <a:noFill/>
          </a:ln>
        </p:spPr>
        <p:txBody>
          <a:bodyPr/>
          <a:lstStyle/>
          <a:p>
            <a:endParaRPr lang="en-US"/>
          </a:p>
        </p:txBody>
      </p:sp>
      <p:sp>
        <p:nvSpPr>
          <p:cNvPr id="105" name="g105"/>
          <p:cNvSpPr/>
          <p:nvPr/>
        </p:nvSpPr>
        <p:spPr>
          <a:xfrm>
            <a:off x="7876200" y="4014000"/>
            <a:ext cx="150000" cy="150000"/>
          </a:xfrm>
          <a:prstGeom prst="ellipse">
            <a:avLst/>
          </a:prstGeom>
          <a:solidFill>
            <a:srgbClr val="F3EBDD">
              <a:alpha val="32000"/>
            </a:srgbClr>
          </a:solidFill>
          <a:ln>
            <a:noFill/>
          </a:ln>
        </p:spPr>
        <p:txBody>
          <a:bodyPr/>
          <a:lstStyle/>
          <a:p>
            <a:endParaRPr lang="en-US"/>
          </a:p>
        </p:txBody>
      </p:sp>
      <p:sp>
        <p:nvSpPr>
          <p:cNvPr id="106" name="g106"/>
          <p:cNvSpPr/>
          <p:nvPr/>
        </p:nvSpPr>
        <p:spPr>
          <a:xfrm>
            <a:off x="8536200" y="4014000"/>
            <a:ext cx="150000" cy="150000"/>
          </a:xfrm>
          <a:prstGeom prst="ellipse">
            <a:avLst/>
          </a:prstGeom>
          <a:solidFill>
            <a:srgbClr val="F3EBDD">
              <a:alpha val="32000"/>
            </a:srgbClr>
          </a:solidFill>
          <a:ln>
            <a:noFill/>
          </a:ln>
        </p:spPr>
        <p:txBody>
          <a:bodyPr/>
          <a:lstStyle/>
          <a:p>
            <a:endParaRPr lang="en-US"/>
          </a:p>
        </p:txBody>
      </p:sp>
      <p:sp>
        <p:nvSpPr>
          <p:cNvPr id="107" name="g107"/>
          <p:cNvSpPr/>
          <p:nvPr/>
        </p:nvSpPr>
        <p:spPr>
          <a:xfrm>
            <a:off x="9196200" y="4014000"/>
            <a:ext cx="150000" cy="150000"/>
          </a:xfrm>
          <a:prstGeom prst="ellipse">
            <a:avLst/>
          </a:prstGeom>
          <a:solidFill>
            <a:srgbClr val="F3EBDD">
              <a:alpha val="32000"/>
            </a:srgbClr>
          </a:solidFill>
          <a:ln>
            <a:noFill/>
          </a:ln>
        </p:spPr>
        <p:txBody>
          <a:bodyPr/>
          <a:lstStyle/>
          <a:p>
            <a:endParaRPr lang="en-US"/>
          </a:p>
        </p:txBody>
      </p:sp>
      <p:sp>
        <p:nvSpPr>
          <p:cNvPr id="108" name="g108"/>
          <p:cNvSpPr/>
          <p:nvPr/>
        </p:nvSpPr>
        <p:spPr>
          <a:xfrm>
            <a:off x="9856200" y="4014000"/>
            <a:ext cx="150000" cy="150000"/>
          </a:xfrm>
          <a:prstGeom prst="ellipse">
            <a:avLst/>
          </a:prstGeom>
          <a:solidFill>
            <a:srgbClr val="F3EBDD">
              <a:alpha val="32000"/>
            </a:srgbClr>
          </a:solidFill>
          <a:ln>
            <a:noFill/>
          </a:ln>
        </p:spPr>
        <p:txBody>
          <a:bodyPr/>
          <a:lstStyle/>
          <a:p>
            <a:endParaRPr lang="en-US"/>
          </a:p>
        </p:txBody>
      </p:sp>
      <p:sp>
        <p:nvSpPr>
          <p:cNvPr id="109" name="g109"/>
          <p:cNvSpPr/>
          <p:nvPr/>
        </p:nvSpPr>
        <p:spPr>
          <a:xfrm>
            <a:off x="10516200" y="4014000"/>
            <a:ext cx="150000" cy="150000"/>
          </a:xfrm>
          <a:prstGeom prst="ellipse">
            <a:avLst/>
          </a:prstGeom>
          <a:solidFill>
            <a:srgbClr val="F3EBDD">
              <a:alpha val="32000"/>
            </a:srgbClr>
          </a:solidFill>
          <a:ln>
            <a:noFill/>
          </a:ln>
        </p:spPr>
        <p:txBody>
          <a:bodyPr/>
          <a:lstStyle/>
          <a:p>
            <a:endParaRPr lang="en-US"/>
          </a:p>
        </p:txBody>
      </p:sp>
      <p:sp>
        <p:nvSpPr>
          <p:cNvPr id="110" name="g110"/>
          <p:cNvSpPr/>
          <p:nvPr/>
        </p:nvSpPr>
        <p:spPr>
          <a:xfrm>
            <a:off x="11176200" y="4014000"/>
            <a:ext cx="150000" cy="150000"/>
          </a:xfrm>
          <a:prstGeom prst="ellipse">
            <a:avLst/>
          </a:prstGeom>
          <a:solidFill>
            <a:srgbClr val="F3EBDD">
              <a:alpha val="32000"/>
            </a:srgbClr>
          </a:solidFill>
          <a:ln>
            <a:noFill/>
          </a:ln>
        </p:spPr>
        <p:txBody>
          <a:bodyPr/>
          <a:lstStyle/>
          <a:p>
            <a:endParaRPr lang="en-US"/>
          </a:p>
        </p:txBody>
      </p:sp>
      <p:sp>
        <p:nvSpPr>
          <p:cNvPr id="111" name="g111"/>
          <p:cNvSpPr/>
          <p:nvPr/>
        </p:nvSpPr>
        <p:spPr>
          <a:xfrm>
            <a:off x="7876200" y="4674000"/>
            <a:ext cx="150000" cy="150000"/>
          </a:xfrm>
          <a:prstGeom prst="ellipse">
            <a:avLst/>
          </a:prstGeom>
          <a:solidFill>
            <a:srgbClr val="F3EBDD">
              <a:alpha val="32000"/>
            </a:srgbClr>
          </a:solidFill>
          <a:ln>
            <a:noFill/>
          </a:ln>
        </p:spPr>
        <p:txBody>
          <a:bodyPr/>
          <a:lstStyle/>
          <a:p>
            <a:endParaRPr lang="en-US"/>
          </a:p>
        </p:txBody>
      </p:sp>
      <p:sp>
        <p:nvSpPr>
          <p:cNvPr id="112" name="g112"/>
          <p:cNvSpPr/>
          <p:nvPr/>
        </p:nvSpPr>
        <p:spPr>
          <a:xfrm>
            <a:off x="8536200" y="4674000"/>
            <a:ext cx="150000" cy="150000"/>
          </a:xfrm>
          <a:prstGeom prst="ellipse">
            <a:avLst/>
          </a:prstGeom>
          <a:solidFill>
            <a:srgbClr val="F3EBDD">
              <a:alpha val="32000"/>
            </a:srgbClr>
          </a:solidFill>
          <a:ln>
            <a:noFill/>
          </a:ln>
        </p:spPr>
        <p:txBody>
          <a:bodyPr/>
          <a:lstStyle/>
          <a:p>
            <a:endParaRPr lang="en-US"/>
          </a:p>
        </p:txBody>
      </p:sp>
      <p:sp>
        <p:nvSpPr>
          <p:cNvPr id="113" name="g113"/>
          <p:cNvSpPr/>
          <p:nvPr/>
        </p:nvSpPr>
        <p:spPr>
          <a:xfrm>
            <a:off x="9196200" y="4674000"/>
            <a:ext cx="150000" cy="150000"/>
          </a:xfrm>
          <a:prstGeom prst="ellipse">
            <a:avLst/>
          </a:prstGeom>
          <a:solidFill>
            <a:srgbClr val="F3EBDD">
              <a:alpha val="32000"/>
            </a:srgbClr>
          </a:solidFill>
          <a:ln>
            <a:noFill/>
          </a:ln>
        </p:spPr>
        <p:txBody>
          <a:bodyPr/>
          <a:lstStyle/>
          <a:p>
            <a:endParaRPr lang="en-US"/>
          </a:p>
        </p:txBody>
      </p:sp>
      <p:sp>
        <p:nvSpPr>
          <p:cNvPr id="114" name="g114"/>
          <p:cNvSpPr/>
          <p:nvPr/>
        </p:nvSpPr>
        <p:spPr>
          <a:xfrm>
            <a:off x="9856200" y="4674000"/>
            <a:ext cx="150000" cy="150000"/>
          </a:xfrm>
          <a:prstGeom prst="ellipse">
            <a:avLst/>
          </a:prstGeom>
          <a:solidFill>
            <a:srgbClr val="F3EBDD">
              <a:alpha val="32000"/>
            </a:srgbClr>
          </a:solidFill>
          <a:ln>
            <a:noFill/>
          </a:ln>
        </p:spPr>
        <p:txBody>
          <a:bodyPr/>
          <a:lstStyle/>
          <a:p>
            <a:endParaRPr lang="en-US"/>
          </a:p>
        </p:txBody>
      </p:sp>
      <p:sp>
        <p:nvSpPr>
          <p:cNvPr id="115" name="g115"/>
          <p:cNvSpPr/>
          <p:nvPr/>
        </p:nvSpPr>
        <p:spPr>
          <a:xfrm>
            <a:off x="10516200" y="4674000"/>
            <a:ext cx="150000" cy="150000"/>
          </a:xfrm>
          <a:prstGeom prst="ellipse">
            <a:avLst/>
          </a:prstGeom>
          <a:solidFill>
            <a:srgbClr val="F3EBDD">
              <a:alpha val="32000"/>
            </a:srgbClr>
          </a:solidFill>
          <a:ln>
            <a:noFill/>
          </a:ln>
        </p:spPr>
        <p:txBody>
          <a:bodyPr/>
          <a:lstStyle/>
          <a:p>
            <a:endParaRPr lang="en-US"/>
          </a:p>
        </p:txBody>
      </p:sp>
      <p:sp>
        <p:nvSpPr>
          <p:cNvPr id="116" name="g116"/>
          <p:cNvSpPr/>
          <p:nvPr/>
        </p:nvSpPr>
        <p:spPr>
          <a:xfrm>
            <a:off x="11176200" y="4674000"/>
            <a:ext cx="150000" cy="150000"/>
          </a:xfrm>
          <a:prstGeom prst="ellipse">
            <a:avLst/>
          </a:prstGeom>
          <a:solidFill>
            <a:srgbClr val="F3EBDD">
              <a:alpha val="32000"/>
            </a:srgbClr>
          </a:solidFill>
          <a:ln>
            <a:noFill/>
          </a:ln>
        </p:spPr>
        <p:txBody>
          <a:bodyPr/>
          <a:lstStyle/>
          <a:p>
            <a:endParaRPr lang="en-US"/>
          </a:p>
        </p:txBody>
      </p:sp>
      <p:sp>
        <p:nvSpPr>
          <p:cNvPr id="117" name="g117"/>
          <p:cNvSpPr/>
          <p:nvPr/>
        </p:nvSpPr>
        <p:spPr>
          <a:xfrm>
            <a:off x="7876200" y="5334000"/>
            <a:ext cx="150000" cy="150000"/>
          </a:xfrm>
          <a:prstGeom prst="ellipse">
            <a:avLst/>
          </a:prstGeom>
          <a:solidFill>
            <a:srgbClr val="F3EBDD">
              <a:alpha val="32000"/>
            </a:srgbClr>
          </a:solidFill>
          <a:ln>
            <a:noFill/>
          </a:ln>
        </p:spPr>
        <p:txBody>
          <a:bodyPr/>
          <a:lstStyle/>
          <a:p>
            <a:endParaRPr lang="en-US"/>
          </a:p>
        </p:txBody>
      </p:sp>
      <p:sp>
        <p:nvSpPr>
          <p:cNvPr id="118" name="g118"/>
          <p:cNvSpPr/>
          <p:nvPr/>
        </p:nvSpPr>
        <p:spPr>
          <a:xfrm>
            <a:off x="8536200" y="5334000"/>
            <a:ext cx="150000" cy="150000"/>
          </a:xfrm>
          <a:prstGeom prst="ellipse">
            <a:avLst/>
          </a:prstGeom>
          <a:solidFill>
            <a:srgbClr val="F3EBDD">
              <a:alpha val="32000"/>
            </a:srgbClr>
          </a:solidFill>
          <a:ln>
            <a:noFill/>
          </a:ln>
        </p:spPr>
        <p:txBody>
          <a:bodyPr/>
          <a:lstStyle/>
          <a:p>
            <a:endParaRPr lang="en-US"/>
          </a:p>
        </p:txBody>
      </p:sp>
      <p:sp>
        <p:nvSpPr>
          <p:cNvPr id="119" name="g119"/>
          <p:cNvSpPr/>
          <p:nvPr/>
        </p:nvSpPr>
        <p:spPr>
          <a:xfrm>
            <a:off x="9196200" y="5334000"/>
            <a:ext cx="150000" cy="150000"/>
          </a:xfrm>
          <a:prstGeom prst="ellipse">
            <a:avLst/>
          </a:prstGeom>
          <a:solidFill>
            <a:srgbClr val="F3EBDD">
              <a:alpha val="32000"/>
            </a:srgbClr>
          </a:solidFill>
          <a:ln>
            <a:noFill/>
          </a:ln>
        </p:spPr>
        <p:txBody>
          <a:bodyPr/>
          <a:lstStyle/>
          <a:p>
            <a:endParaRPr lang="en-US"/>
          </a:p>
        </p:txBody>
      </p:sp>
      <p:sp>
        <p:nvSpPr>
          <p:cNvPr id="120" name="g120"/>
          <p:cNvSpPr/>
          <p:nvPr/>
        </p:nvSpPr>
        <p:spPr>
          <a:xfrm>
            <a:off x="9856200" y="5334000"/>
            <a:ext cx="150000" cy="150000"/>
          </a:xfrm>
          <a:prstGeom prst="ellipse">
            <a:avLst/>
          </a:prstGeom>
          <a:solidFill>
            <a:srgbClr val="F3EBDD">
              <a:alpha val="32000"/>
            </a:srgbClr>
          </a:solidFill>
          <a:ln>
            <a:noFill/>
          </a:ln>
        </p:spPr>
        <p:txBody>
          <a:bodyPr/>
          <a:lstStyle/>
          <a:p>
            <a:endParaRPr lang="en-US"/>
          </a:p>
        </p:txBody>
      </p:sp>
      <p:sp>
        <p:nvSpPr>
          <p:cNvPr id="121" name="g121"/>
          <p:cNvSpPr/>
          <p:nvPr/>
        </p:nvSpPr>
        <p:spPr>
          <a:xfrm>
            <a:off x="10516200" y="5334000"/>
            <a:ext cx="150000" cy="150000"/>
          </a:xfrm>
          <a:prstGeom prst="ellipse">
            <a:avLst/>
          </a:prstGeom>
          <a:solidFill>
            <a:srgbClr val="F3EBDD">
              <a:alpha val="32000"/>
            </a:srgbClr>
          </a:solidFill>
          <a:ln>
            <a:noFill/>
          </a:ln>
        </p:spPr>
        <p:txBody>
          <a:bodyPr/>
          <a:lstStyle/>
          <a:p>
            <a:endParaRPr lang="en-US"/>
          </a:p>
        </p:txBody>
      </p:sp>
      <p:sp>
        <p:nvSpPr>
          <p:cNvPr id="122" name="g122"/>
          <p:cNvSpPr/>
          <p:nvPr/>
        </p:nvSpPr>
        <p:spPr>
          <a:xfrm>
            <a:off x="11176200" y="5334000"/>
            <a:ext cx="150000" cy="150000"/>
          </a:xfrm>
          <a:prstGeom prst="ellipse">
            <a:avLst/>
          </a:prstGeom>
          <a:solidFill>
            <a:srgbClr val="F3EBDD">
              <a:alpha val="32000"/>
            </a:srgbClr>
          </a:solidFill>
          <a:ln>
            <a:noFill/>
          </a:ln>
        </p:spPr>
        <p:txBody>
          <a:bodyPr/>
          <a:lstStyle/>
          <a:p>
            <a:endParaRPr lang="en-US"/>
          </a:p>
        </p:txBody>
      </p:sp>
      <p:sp>
        <p:nvSpPr>
          <p:cNvPr id="123" name="g123"/>
          <p:cNvSpPr/>
          <p:nvPr/>
        </p:nvSpPr>
        <p:spPr>
          <a:xfrm>
            <a:off x="8089184" y="2416984"/>
            <a:ext cx="2424032" cy="2424032"/>
          </a:xfrm>
          <a:prstGeom prst="ellipse">
            <a:avLst/>
          </a:prstGeom>
          <a:solidFill>
            <a:srgbClr val="B4553A">
              <a:alpha val="88000"/>
            </a:srgbClr>
          </a:solidFill>
          <a:ln>
            <a:noFill/>
          </a:ln>
        </p:spPr>
        <p:txBody>
          <a:bodyPr/>
          <a:lstStyle/>
          <a:p>
            <a:endParaRPr lang="en-US"/>
          </a:p>
        </p:txBody>
      </p:sp>
      <p:sp>
        <p:nvSpPr>
          <p:cNvPr id="124" name="g124"/>
          <p:cNvSpPr/>
          <p:nvPr/>
        </p:nvSpPr>
        <p:spPr>
          <a:xfrm>
            <a:off x="9401960" y="2229760"/>
            <a:ext cx="1398480" cy="1398480"/>
          </a:xfrm>
          <a:prstGeom prst="ellipse">
            <a:avLst/>
          </a:prstGeom>
          <a:solidFill>
            <a:srgbClr val="C08A2E">
              <a:alpha val="75000"/>
            </a:srgbClr>
          </a:solidFill>
          <a:ln>
            <a:noFill/>
          </a:ln>
        </p:spPr>
        <p:txBody>
          <a:bodyPr/>
          <a:lstStyle/>
          <a:p>
            <a:endParaRPr lang="en-US"/>
          </a:p>
        </p:txBody>
      </p:sp>
      <p:sp>
        <p:nvSpPr>
          <p:cNvPr id="125" name="t125"/>
          <p:cNvSpPr txBox="1"/>
          <p:nvPr/>
        </p:nvSpPr>
        <p:spPr>
          <a:xfrm>
            <a:off x="838200" y="1900000"/>
            <a:ext cx="5400000" cy="340000"/>
          </a:xfrm>
          <a:prstGeom prst="rect">
            <a:avLst/>
          </a:prstGeom>
          <a:noFill/>
        </p:spPr>
        <p:txBody>
          <a:bodyPr wrap="square" lIns="0" tIns="0" rIns="0" bIns="0" anchor="t">
            <a:normAutofit/>
          </a:bodyPr>
          <a:lstStyle/>
          <a:p>
            <a:pPr algn="l">
              <a:lnSpc>
                <a:spcPct val="100000"/>
              </a:lnSpc>
              <a:spcBef>
                <a:spcPts val="0"/>
              </a:spcBef>
            </a:pPr>
            <a:r>
              <a:rPr lang="en-US" sz="1400" b="1" spc="400" dirty="0">
                <a:solidFill>
                  <a:srgbClr val="B4553A"/>
                </a:solidFill>
                <a:latin typeface="Segoe UI"/>
                <a:cs typeface="Segoe UI"/>
              </a:rPr>
              <a:t>04</a:t>
            </a:r>
          </a:p>
        </p:txBody>
      </p:sp>
      <p:sp>
        <p:nvSpPr>
          <p:cNvPr id="126" name="s126"/>
          <p:cNvSpPr/>
          <p:nvPr/>
        </p:nvSpPr>
        <p:spPr>
          <a:xfrm>
            <a:off x="838200" y="2360000"/>
            <a:ext cx="1400000" cy="26000"/>
          </a:xfrm>
          <a:prstGeom prst="rect">
            <a:avLst/>
          </a:prstGeom>
          <a:solidFill>
            <a:srgbClr val="B4553A"/>
          </a:solidFill>
          <a:ln>
            <a:noFill/>
          </a:ln>
        </p:spPr>
        <p:txBody>
          <a:bodyPr/>
          <a:lstStyle/>
          <a:p>
            <a:endParaRPr lang="en-US"/>
          </a:p>
        </p:txBody>
      </p:sp>
      <p:sp>
        <p:nvSpPr>
          <p:cNvPr id="127" name="t127"/>
          <p:cNvSpPr txBox="1"/>
          <p:nvPr/>
        </p:nvSpPr>
        <p:spPr>
          <a:xfrm>
            <a:off x="838200" y="2640000"/>
            <a:ext cx="5400000" cy="2000000"/>
          </a:xfrm>
          <a:prstGeom prst="rect">
            <a:avLst/>
          </a:prstGeom>
          <a:noFill/>
        </p:spPr>
        <p:txBody>
          <a:bodyPr wrap="square" lIns="0" tIns="0" rIns="0" bIns="0" anchor="t">
            <a:normAutofit/>
          </a:bodyPr>
          <a:lstStyle/>
          <a:p>
            <a:pPr algn="l">
              <a:lnSpc>
                <a:spcPct val="104000"/>
              </a:lnSpc>
              <a:spcBef>
                <a:spcPts val="0"/>
              </a:spcBef>
            </a:pPr>
            <a:r>
              <a:rPr lang="en-US" sz="3400" b="1" spc="0" dirty="0">
                <a:solidFill>
                  <a:srgbClr val="2E2A26"/>
                </a:solidFill>
                <a:latin typeface="Georgia"/>
                <a:cs typeface="Georgia"/>
              </a:rPr>
              <a:t>Your Reusable Prompt Library</a:t>
            </a:r>
          </a:p>
        </p:txBody>
      </p:sp>
      <p:sp>
        <p:nvSpPr>
          <p:cNvPr id="128" name="t128"/>
          <p:cNvSpPr txBox="1"/>
          <p:nvPr/>
        </p:nvSpPr>
        <p:spPr>
          <a:xfrm>
            <a:off x="838200" y="4600000"/>
            <a:ext cx="5400000" cy="1000000"/>
          </a:xfrm>
          <a:prstGeom prst="rect">
            <a:avLst/>
          </a:prstGeom>
          <a:noFill/>
        </p:spPr>
        <p:txBody>
          <a:bodyPr wrap="square" lIns="0" tIns="0" rIns="0" bIns="0" anchor="t">
            <a:normAutofit/>
          </a:bodyPr>
          <a:lstStyle/>
          <a:p>
            <a:pPr algn="l">
              <a:lnSpc>
                <a:spcPct val="125000"/>
              </a:lnSpc>
              <a:spcBef>
                <a:spcPts val="0"/>
              </a:spcBef>
            </a:pPr>
            <a:r>
              <a:rPr lang="en-US" sz="1300" b="0" spc="0" dirty="0">
                <a:solidFill>
                  <a:srgbClr val="4A423A"/>
                </a:solidFill>
                <a:latin typeface="Segoe UI"/>
                <a:cs typeface="Segoe UI"/>
              </a:rPr>
              <a:t>Prompts organised by moment in the employee journey, versioned and owned.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110"/>
          <p:cNvSpPr/>
          <p:nvPr/>
        </p:nvSpPr>
        <p:spPr>
          <a:xfrm>
            <a:off x="0" y="0"/>
            <a:ext cx="12192000" cy="6858000"/>
          </a:xfrm>
          <a:prstGeom prst="rect">
            <a:avLst/>
          </a:prstGeom>
          <a:solidFill>
            <a:srgbClr val="F3EBDD"/>
          </a:solidFill>
          <a:ln>
            <a:noFill/>
          </a:ln>
        </p:spPr>
        <p:txBody>
          <a:bodyPr/>
          <a:lstStyle/>
          <a:p>
            <a:endParaRPr lang="en-US"/>
          </a:p>
        </p:txBody>
      </p:sp>
      <p:sp>
        <p:nvSpPr>
          <p:cNvPr id="111" name="s111"/>
          <p:cNvSpPr/>
          <p:nvPr/>
        </p:nvSpPr>
        <p:spPr>
          <a:xfrm>
            <a:off x="0" y="0"/>
            <a:ext cx="12192000" cy="80000"/>
          </a:xfrm>
          <a:prstGeom prst="rect">
            <a:avLst/>
          </a:prstGeom>
          <a:solidFill>
            <a:srgbClr val="B4553A"/>
          </a:solidFill>
          <a:ln>
            <a:noFill/>
          </a:ln>
        </p:spPr>
        <p:txBody>
          <a:bodyPr/>
          <a:lstStyle/>
          <a:p>
            <a:endParaRPr lang="en-US"/>
          </a:p>
        </p:txBody>
      </p:sp>
      <p:sp>
        <p:nvSpPr>
          <p:cNvPr id="112" name="s112"/>
          <p:cNvSpPr/>
          <p:nvPr/>
        </p:nvSpPr>
        <p:spPr>
          <a:xfrm>
            <a:off x="838200" y="520700"/>
            <a:ext cx="180000" cy="180000"/>
          </a:xfrm>
          <a:prstGeom prst="ellipse">
            <a:avLst/>
          </a:prstGeom>
          <a:solidFill>
            <a:srgbClr val="7A7A4E"/>
          </a:solidFill>
          <a:ln>
            <a:noFill/>
          </a:ln>
        </p:spPr>
        <p:txBody>
          <a:bodyPr/>
          <a:lstStyle/>
          <a:p>
            <a:endParaRPr lang="en-US"/>
          </a:p>
        </p:txBody>
      </p:sp>
      <p:sp>
        <p:nvSpPr>
          <p:cNvPr id="113" name="t113"/>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a:solidFill>
                  <a:srgbClr val="7A7A4E"/>
                </a:solidFill>
                <a:latin typeface="Segoe UI"/>
                <a:cs typeface="Segoe UI"/>
              </a:rPr>
              <a:t>THE PROMPT LIBRARY</a:t>
            </a:r>
          </a:p>
        </p:txBody>
      </p:sp>
      <p:sp>
        <p:nvSpPr>
          <p:cNvPr id="114" name="t114"/>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a:solidFill>
                  <a:srgbClr val="2E2A26"/>
                </a:solidFill>
                <a:latin typeface="Georgia"/>
                <a:cs typeface="Georgia"/>
              </a:rPr>
              <a:t>One Library, Three Shelves</a:t>
            </a:r>
          </a:p>
        </p:txBody>
      </p:sp>
      <p:sp>
        <p:nvSpPr>
          <p:cNvPr id="115" name="s115"/>
          <p:cNvSpPr/>
          <p:nvPr/>
        </p:nvSpPr>
        <p:spPr>
          <a:xfrm>
            <a:off x="838200" y="1540000"/>
            <a:ext cx="3200000" cy="26000"/>
          </a:xfrm>
          <a:prstGeom prst="rect">
            <a:avLst/>
          </a:prstGeom>
          <a:solidFill>
            <a:srgbClr val="B4553A"/>
          </a:solidFill>
          <a:ln>
            <a:noFill/>
          </a:ln>
        </p:spPr>
        <p:txBody>
          <a:bodyPr/>
          <a:lstStyle/>
          <a:p>
            <a:endParaRPr lang="en-US"/>
          </a:p>
        </p:txBody>
      </p:sp>
      <p:sp>
        <p:nvSpPr>
          <p:cNvPr id="116" name="t116"/>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a:solidFill>
                  <a:srgbClr val="4A423A"/>
                </a:solidFill>
                <a:latin typeface="Segoe UI"/>
                <a:cs typeface="Segoe UI"/>
              </a:rPr>
              <a:t>Store prompts by moment in the employee journey, version them, and let the team improve them in place.</a:t>
            </a:r>
          </a:p>
        </p:txBody>
      </p:sp>
      <p:sp>
        <p:nvSpPr>
          <p:cNvPr id="117" name="s117"/>
          <p:cNvSpPr/>
          <p:nvPr/>
        </p:nvSpPr>
        <p:spPr>
          <a:xfrm>
            <a:off x="838200" y="6420000"/>
            <a:ext cx="10515600" cy="12700"/>
          </a:xfrm>
          <a:prstGeom prst="rect">
            <a:avLst/>
          </a:prstGeom>
          <a:solidFill>
            <a:srgbClr val="E0CDB0"/>
          </a:solidFill>
          <a:ln>
            <a:noFill/>
          </a:ln>
        </p:spPr>
        <p:txBody>
          <a:bodyPr/>
          <a:lstStyle/>
          <a:p>
            <a:endParaRPr lang="en-US"/>
          </a:p>
        </p:txBody>
      </p:sp>
      <p:sp>
        <p:nvSpPr>
          <p:cNvPr id="118" name="t118"/>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a:solidFill>
                  <a:srgbClr val="4A423A"/>
                </a:solidFill>
                <a:latin typeface="Segoe UI"/>
                <a:cs typeface="Segoe UI"/>
              </a:rPr>
              <a:t>Reusable HR prompt library</a:t>
            </a:r>
          </a:p>
        </p:txBody>
      </p:sp>
      <p:sp>
        <p:nvSpPr>
          <p:cNvPr id="119" name="s119"/>
          <p:cNvSpPr/>
          <p:nvPr/>
        </p:nvSpPr>
        <p:spPr>
          <a:xfrm>
            <a:off x="838200" y="2320000"/>
            <a:ext cx="3345200" cy="2450000"/>
          </a:xfrm>
          <a:prstGeom prst="roundRect">
            <a:avLst>
              <a:gd name="adj" fmla="val 7000"/>
            </a:avLst>
          </a:prstGeom>
          <a:solidFill>
            <a:srgbClr val="FBF6EC"/>
          </a:solidFill>
          <a:ln w="12700">
            <a:solidFill>
              <a:srgbClr val="E0CDB0"/>
            </a:solidFill>
          </a:ln>
        </p:spPr>
        <p:txBody>
          <a:bodyPr/>
          <a:lstStyle/>
          <a:p>
            <a:endParaRPr lang="en-US"/>
          </a:p>
        </p:txBody>
      </p:sp>
      <p:sp>
        <p:nvSpPr>
          <p:cNvPr id="120" name="s120"/>
          <p:cNvSpPr/>
          <p:nvPr/>
        </p:nvSpPr>
        <p:spPr>
          <a:xfrm>
            <a:off x="838200" y="2320000"/>
            <a:ext cx="3345200" cy="120000"/>
          </a:xfrm>
          <a:prstGeom prst="roundRect">
            <a:avLst>
              <a:gd name="adj" fmla="val 20000"/>
            </a:avLst>
          </a:prstGeom>
          <a:solidFill>
            <a:srgbClr val="B4553A"/>
          </a:solidFill>
          <a:ln>
            <a:noFill/>
          </a:ln>
        </p:spPr>
        <p:txBody>
          <a:bodyPr/>
          <a:lstStyle/>
          <a:p>
            <a:endParaRPr lang="en-US"/>
          </a:p>
        </p:txBody>
      </p:sp>
      <p:sp>
        <p:nvSpPr>
          <p:cNvPr id="121" name="t121"/>
          <p:cNvSpPr txBox="1"/>
          <p:nvPr/>
        </p:nvSpPr>
        <p:spPr>
          <a:xfrm>
            <a:off x="1138200" y="2650000"/>
            <a:ext cx="2745200" cy="1890000"/>
          </a:xfrm>
          <a:prstGeom prst="rect">
            <a:avLst/>
          </a:prstGeom>
          <a:noFill/>
        </p:spPr>
        <p:txBody>
          <a:bodyPr wrap="square" lIns="0" tIns="0" rIns="0" bIns="0" anchor="t">
            <a:normAutofit/>
          </a:bodyPr>
          <a:lstStyle/>
          <a:p>
            <a:pPr algn="l">
              <a:lnSpc>
                <a:spcPct val="100000"/>
              </a:lnSpc>
              <a:spcBef>
                <a:spcPts val="0"/>
              </a:spcBef>
            </a:pPr>
            <a:r>
              <a:rPr lang="en-US" sz="1600" b="1" spc="0">
                <a:solidFill>
                  <a:srgbClr val="2E2A26"/>
                </a:solidFill>
                <a:latin typeface="Segoe UI"/>
                <a:cs typeface="Segoe UI"/>
              </a:rPr>
              <a:t>Recruitment</a:t>
            </a:r>
          </a:p>
          <a:p>
            <a:pPr algn="l">
              <a:lnSpc>
                <a:spcPct val="100000"/>
              </a:lnSpc>
              <a:spcBef>
                <a:spcPts val="250"/>
              </a:spcBef>
            </a:pPr>
            <a:r>
              <a:rPr lang="en-US" sz="1050" b="1" spc="100">
                <a:solidFill>
                  <a:srgbClr val="B4553A"/>
                </a:solidFill>
                <a:latin typeface="Segoe UI"/>
                <a:cs typeface="Segoe UI"/>
              </a:rPr>
              <a:t>Sourcing to offer</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Job description drafting</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Boolean search strings</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Screening question sets</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Interview scorecards</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Candidate feedback notes</a:t>
            </a:r>
          </a:p>
        </p:txBody>
      </p:sp>
      <p:sp>
        <p:nvSpPr>
          <p:cNvPr id="122" name="s122"/>
          <p:cNvSpPr/>
          <p:nvPr/>
        </p:nvSpPr>
        <p:spPr>
          <a:xfrm>
            <a:off x="4423400" y="2320000"/>
            <a:ext cx="3345200" cy="2450000"/>
          </a:xfrm>
          <a:prstGeom prst="roundRect">
            <a:avLst>
              <a:gd name="adj" fmla="val 7000"/>
            </a:avLst>
          </a:prstGeom>
          <a:solidFill>
            <a:srgbClr val="FBF6EC"/>
          </a:solidFill>
          <a:ln w="12700">
            <a:solidFill>
              <a:srgbClr val="E0CDB0"/>
            </a:solidFill>
          </a:ln>
        </p:spPr>
        <p:txBody>
          <a:bodyPr/>
          <a:lstStyle/>
          <a:p>
            <a:endParaRPr lang="en-US"/>
          </a:p>
        </p:txBody>
      </p:sp>
      <p:sp>
        <p:nvSpPr>
          <p:cNvPr id="123" name="s123"/>
          <p:cNvSpPr/>
          <p:nvPr/>
        </p:nvSpPr>
        <p:spPr>
          <a:xfrm>
            <a:off x="4423400" y="2320000"/>
            <a:ext cx="3345200" cy="120000"/>
          </a:xfrm>
          <a:prstGeom prst="roundRect">
            <a:avLst>
              <a:gd name="adj" fmla="val 20000"/>
            </a:avLst>
          </a:prstGeom>
          <a:solidFill>
            <a:srgbClr val="B4553A"/>
          </a:solidFill>
          <a:ln>
            <a:noFill/>
          </a:ln>
        </p:spPr>
        <p:txBody>
          <a:bodyPr/>
          <a:lstStyle/>
          <a:p>
            <a:endParaRPr lang="en-US"/>
          </a:p>
        </p:txBody>
      </p:sp>
      <p:sp>
        <p:nvSpPr>
          <p:cNvPr id="124" name="t124"/>
          <p:cNvSpPr txBox="1"/>
          <p:nvPr/>
        </p:nvSpPr>
        <p:spPr>
          <a:xfrm>
            <a:off x="4723400" y="2650000"/>
            <a:ext cx="2745200" cy="1890000"/>
          </a:xfrm>
          <a:prstGeom prst="rect">
            <a:avLst/>
          </a:prstGeom>
          <a:noFill/>
        </p:spPr>
        <p:txBody>
          <a:bodyPr wrap="square" lIns="0" tIns="0" rIns="0" bIns="0" anchor="t">
            <a:normAutofit/>
          </a:bodyPr>
          <a:lstStyle/>
          <a:p>
            <a:pPr algn="l">
              <a:lnSpc>
                <a:spcPct val="100000"/>
              </a:lnSpc>
              <a:spcBef>
                <a:spcPts val="0"/>
              </a:spcBef>
            </a:pPr>
            <a:r>
              <a:rPr lang="en-US" sz="1600" b="1" spc="0">
                <a:solidFill>
                  <a:srgbClr val="2E2A26"/>
                </a:solidFill>
                <a:latin typeface="Segoe UI"/>
                <a:cs typeface="Segoe UI"/>
              </a:rPr>
              <a:t>Employee Lifecycle</a:t>
            </a:r>
          </a:p>
          <a:p>
            <a:pPr algn="l">
              <a:lnSpc>
                <a:spcPct val="100000"/>
              </a:lnSpc>
              <a:spcBef>
                <a:spcPts val="250"/>
              </a:spcBef>
            </a:pPr>
            <a:r>
              <a:rPr lang="en-US" sz="1050" b="1" spc="100">
                <a:solidFill>
                  <a:srgbClr val="B4553A"/>
                </a:solidFill>
                <a:latin typeface="Segoe UI"/>
                <a:cs typeface="Segoe UI"/>
              </a:rPr>
              <a:t>Onboarding to exit</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30-60-90 day onboarding plans</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Policy Q&amp;A from the handbook</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Employee communications</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Engagement survey analysis</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Exit interview theme coding</a:t>
            </a:r>
          </a:p>
        </p:txBody>
      </p:sp>
      <p:sp>
        <p:nvSpPr>
          <p:cNvPr id="125" name="s125"/>
          <p:cNvSpPr/>
          <p:nvPr/>
        </p:nvSpPr>
        <p:spPr>
          <a:xfrm>
            <a:off x="8008600" y="2320000"/>
            <a:ext cx="3345200" cy="2450000"/>
          </a:xfrm>
          <a:prstGeom prst="roundRect">
            <a:avLst>
              <a:gd name="adj" fmla="val 7000"/>
            </a:avLst>
          </a:prstGeom>
          <a:solidFill>
            <a:srgbClr val="FBF6EC"/>
          </a:solidFill>
          <a:ln w="12700">
            <a:solidFill>
              <a:srgbClr val="E0CDB0"/>
            </a:solidFill>
          </a:ln>
        </p:spPr>
        <p:txBody>
          <a:bodyPr/>
          <a:lstStyle/>
          <a:p>
            <a:endParaRPr lang="en-US"/>
          </a:p>
        </p:txBody>
      </p:sp>
      <p:sp>
        <p:nvSpPr>
          <p:cNvPr id="126" name="s126"/>
          <p:cNvSpPr/>
          <p:nvPr/>
        </p:nvSpPr>
        <p:spPr>
          <a:xfrm>
            <a:off x="8008600" y="2320000"/>
            <a:ext cx="3345200" cy="120000"/>
          </a:xfrm>
          <a:prstGeom prst="roundRect">
            <a:avLst>
              <a:gd name="adj" fmla="val 20000"/>
            </a:avLst>
          </a:prstGeom>
          <a:solidFill>
            <a:srgbClr val="B4553A"/>
          </a:solidFill>
          <a:ln>
            <a:noFill/>
          </a:ln>
        </p:spPr>
        <p:txBody>
          <a:bodyPr/>
          <a:lstStyle/>
          <a:p>
            <a:endParaRPr lang="en-US"/>
          </a:p>
        </p:txBody>
      </p:sp>
      <p:sp>
        <p:nvSpPr>
          <p:cNvPr id="127" name="t127"/>
          <p:cNvSpPr txBox="1"/>
          <p:nvPr/>
        </p:nvSpPr>
        <p:spPr>
          <a:xfrm>
            <a:off x="8308600" y="2650000"/>
            <a:ext cx="2745200" cy="1890000"/>
          </a:xfrm>
          <a:prstGeom prst="rect">
            <a:avLst/>
          </a:prstGeom>
          <a:noFill/>
        </p:spPr>
        <p:txBody>
          <a:bodyPr wrap="square" lIns="0" tIns="0" rIns="0" bIns="0" anchor="t">
            <a:normAutofit/>
          </a:bodyPr>
          <a:lstStyle/>
          <a:p>
            <a:pPr algn="l">
              <a:lnSpc>
                <a:spcPct val="100000"/>
              </a:lnSpc>
              <a:spcBef>
                <a:spcPts val="0"/>
              </a:spcBef>
            </a:pPr>
            <a:r>
              <a:rPr lang="en-US" sz="1600" b="1" spc="0">
                <a:solidFill>
                  <a:srgbClr val="2E2A26"/>
                </a:solidFill>
                <a:latin typeface="Segoe UI"/>
                <a:cs typeface="Segoe UI"/>
              </a:rPr>
              <a:t>Performance Management</a:t>
            </a:r>
          </a:p>
          <a:p>
            <a:pPr algn="l">
              <a:lnSpc>
                <a:spcPct val="100000"/>
              </a:lnSpc>
              <a:spcBef>
                <a:spcPts val="250"/>
              </a:spcBef>
            </a:pPr>
            <a:r>
              <a:rPr lang="en-US" sz="1050" b="1" spc="100">
                <a:solidFill>
                  <a:srgbClr val="B4553A"/>
                </a:solidFill>
                <a:latin typeface="Segoe UI"/>
                <a:cs typeface="Segoe UI"/>
              </a:rPr>
              <a:t>Goals to growth</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SMART goal drafting</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Evidence-based review drafts</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Calibration prep summaries</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Difficult-conversation scripts</a:t>
            </a:r>
          </a:p>
          <a:p>
            <a:pPr algn="l">
              <a:lnSpc>
                <a:spcPct val="112000"/>
              </a:lnSpc>
              <a:spcBef>
                <a:spcPts val="520"/>
              </a:spcBef>
            </a:pPr>
            <a:r>
              <a:rPr lang="en-US" sz="1050" b="1" spc="0">
                <a:solidFill>
                  <a:srgbClr val="B4553A"/>
                </a:solidFill>
                <a:latin typeface="Segoe UI"/>
                <a:cs typeface="Segoe UI"/>
              </a:rPr>
              <a:t>— </a:t>
            </a:r>
            <a:r>
              <a:rPr lang="en-US" sz="1100" b="0" spc="0">
                <a:solidFill>
                  <a:srgbClr val="4A423A"/>
                </a:solidFill>
                <a:latin typeface="Segoe UI"/>
                <a:cs typeface="Segoe UI"/>
              </a:rPr>
              <a:t>Development plans</a:t>
            </a:r>
          </a:p>
        </p:txBody>
      </p:sp>
      <p:sp>
        <p:nvSpPr>
          <p:cNvPr id="128" name="t128"/>
          <p:cNvSpPr txBox="1"/>
          <p:nvPr/>
        </p:nvSpPr>
        <p:spPr>
          <a:xfrm>
            <a:off x="838200" y="4890000"/>
            <a:ext cx="10515600" cy="240000"/>
          </a:xfrm>
          <a:prstGeom prst="rect">
            <a:avLst/>
          </a:prstGeom>
          <a:noFill/>
        </p:spPr>
        <p:txBody>
          <a:bodyPr wrap="square" lIns="0" tIns="0" rIns="0" bIns="0" anchor="t">
            <a:normAutofit/>
          </a:bodyPr>
          <a:lstStyle/>
          <a:p>
            <a:pPr algn="l">
              <a:lnSpc>
                <a:spcPct val="100000"/>
              </a:lnSpc>
              <a:spcBef>
                <a:spcPts val="0"/>
              </a:spcBef>
            </a:pPr>
            <a:r>
              <a:rPr lang="en-US" sz="1000" b="1" spc="200">
                <a:solidFill>
                  <a:srgbClr val="7A7A4E"/>
                </a:solidFill>
                <a:latin typeface="Segoe UI"/>
                <a:cs typeface="Segoe UI"/>
              </a:rPr>
              <a:t>EVERY ENTRY RECORDS</a:t>
            </a:r>
          </a:p>
        </p:txBody>
      </p:sp>
      <p:sp>
        <p:nvSpPr>
          <p:cNvPr id="129" name="s129"/>
          <p:cNvSpPr/>
          <p:nvPr/>
        </p:nvSpPr>
        <p:spPr>
          <a:xfrm>
            <a:off x="838200" y="5190000"/>
            <a:ext cx="2478900" cy="930000"/>
          </a:xfrm>
          <a:prstGeom prst="roundRect">
            <a:avLst>
              <a:gd name="adj" fmla="val 12000"/>
            </a:avLst>
          </a:prstGeom>
          <a:solidFill>
            <a:srgbClr val="F6EEE0"/>
          </a:solidFill>
          <a:ln w="12700">
            <a:solidFill>
              <a:srgbClr val="E0CDB0"/>
            </a:solidFill>
          </a:ln>
        </p:spPr>
        <p:txBody>
          <a:bodyPr/>
          <a:lstStyle/>
          <a:p>
            <a:endParaRPr lang="en-US"/>
          </a:p>
        </p:txBody>
      </p:sp>
      <p:sp>
        <p:nvSpPr>
          <p:cNvPr id="130" name="t130"/>
          <p:cNvSpPr txBox="1"/>
          <p:nvPr/>
        </p:nvSpPr>
        <p:spPr>
          <a:xfrm>
            <a:off x="1078200" y="5190000"/>
            <a:ext cx="1998900" cy="930000"/>
          </a:xfrm>
          <a:prstGeom prst="rect">
            <a:avLst/>
          </a:prstGeom>
          <a:noFill/>
        </p:spPr>
        <p:txBody>
          <a:bodyPr wrap="square" lIns="0" tIns="0" rIns="0" bIns="0" anchor="ctr">
            <a:normAutofit/>
          </a:bodyPr>
          <a:lstStyle/>
          <a:p>
            <a:pPr algn="l">
              <a:lnSpc>
                <a:spcPct val="100000"/>
              </a:lnSpc>
              <a:spcBef>
                <a:spcPts val="0"/>
              </a:spcBef>
            </a:pPr>
            <a:r>
              <a:rPr lang="en-US" sz="1200" b="1" spc="100">
                <a:solidFill>
                  <a:srgbClr val="B4553A"/>
                </a:solidFill>
                <a:latin typeface="Segoe UI"/>
                <a:cs typeface="Segoe UI"/>
              </a:rPr>
              <a:t>Name</a:t>
            </a:r>
          </a:p>
          <a:p>
            <a:pPr algn="l">
              <a:lnSpc>
                <a:spcPct val="100000"/>
              </a:lnSpc>
              <a:spcBef>
                <a:spcPts val="250"/>
              </a:spcBef>
            </a:pPr>
            <a:r>
              <a:rPr lang="en-US" sz="1100" b="0" spc="0">
                <a:solidFill>
                  <a:srgbClr val="4A423A"/>
                </a:solidFill>
                <a:latin typeface="Segoe UI"/>
                <a:cs typeface="Segoe UI"/>
              </a:rPr>
              <a:t>Use case and owner</a:t>
            </a:r>
          </a:p>
        </p:txBody>
      </p:sp>
      <p:sp>
        <p:nvSpPr>
          <p:cNvPr id="131" name="s131"/>
          <p:cNvSpPr/>
          <p:nvPr/>
        </p:nvSpPr>
        <p:spPr>
          <a:xfrm>
            <a:off x="3517100" y="5190000"/>
            <a:ext cx="2478900" cy="930000"/>
          </a:xfrm>
          <a:prstGeom prst="roundRect">
            <a:avLst>
              <a:gd name="adj" fmla="val 12000"/>
            </a:avLst>
          </a:prstGeom>
          <a:solidFill>
            <a:srgbClr val="F6EEE0"/>
          </a:solidFill>
          <a:ln w="12700">
            <a:solidFill>
              <a:srgbClr val="E0CDB0"/>
            </a:solidFill>
          </a:ln>
        </p:spPr>
        <p:txBody>
          <a:bodyPr/>
          <a:lstStyle/>
          <a:p>
            <a:endParaRPr lang="en-US"/>
          </a:p>
        </p:txBody>
      </p:sp>
      <p:sp>
        <p:nvSpPr>
          <p:cNvPr id="132" name="t132"/>
          <p:cNvSpPr txBox="1"/>
          <p:nvPr/>
        </p:nvSpPr>
        <p:spPr>
          <a:xfrm>
            <a:off x="3757100" y="5190000"/>
            <a:ext cx="1998900" cy="930000"/>
          </a:xfrm>
          <a:prstGeom prst="rect">
            <a:avLst/>
          </a:prstGeom>
          <a:noFill/>
        </p:spPr>
        <p:txBody>
          <a:bodyPr wrap="square" lIns="0" tIns="0" rIns="0" bIns="0" anchor="ctr">
            <a:normAutofit/>
          </a:bodyPr>
          <a:lstStyle/>
          <a:p>
            <a:pPr algn="l">
              <a:lnSpc>
                <a:spcPct val="100000"/>
              </a:lnSpc>
              <a:spcBef>
                <a:spcPts val="0"/>
              </a:spcBef>
            </a:pPr>
            <a:r>
              <a:rPr lang="en-US" sz="1200" b="1" spc="100">
                <a:solidFill>
                  <a:srgbClr val="B4553A"/>
                </a:solidFill>
                <a:latin typeface="Segoe UI"/>
                <a:cs typeface="Segoe UI"/>
              </a:rPr>
              <a:t>Version</a:t>
            </a:r>
          </a:p>
          <a:p>
            <a:pPr algn="l">
              <a:lnSpc>
                <a:spcPct val="100000"/>
              </a:lnSpc>
              <a:spcBef>
                <a:spcPts val="250"/>
              </a:spcBef>
            </a:pPr>
            <a:r>
              <a:rPr lang="en-US" sz="1100" b="0" spc="0">
                <a:solidFill>
                  <a:srgbClr val="4A423A"/>
                </a:solidFill>
                <a:latin typeface="Segoe UI"/>
                <a:cs typeface="Segoe UI"/>
              </a:rPr>
              <a:t>Date and what changed</a:t>
            </a:r>
          </a:p>
        </p:txBody>
      </p:sp>
      <p:sp>
        <p:nvSpPr>
          <p:cNvPr id="133" name="s133"/>
          <p:cNvSpPr/>
          <p:nvPr/>
        </p:nvSpPr>
        <p:spPr>
          <a:xfrm>
            <a:off x="6196000" y="5190000"/>
            <a:ext cx="2478900" cy="930000"/>
          </a:xfrm>
          <a:prstGeom prst="roundRect">
            <a:avLst>
              <a:gd name="adj" fmla="val 12000"/>
            </a:avLst>
          </a:prstGeom>
          <a:solidFill>
            <a:srgbClr val="F6EEE0"/>
          </a:solidFill>
          <a:ln w="12700">
            <a:solidFill>
              <a:srgbClr val="E0CDB0"/>
            </a:solidFill>
          </a:ln>
        </p:spPr>
        <p:txBody>
          <a:bodyPr/>
          <a:lstStyle/>
          <a:p>
            <a:endParaRPr lang="en-US"/>
          </a:p>
        </p:txBody>
      </p:sp>
      <p:sp>
        <p:nvSpPr>
          <p:cNvPr id="134" name="t134"/>
          <p:cNvSpPr txBox="1"/>
          <p:nvPr/>
        </p:nvSpPr>
        <p:spPr>
          <a:xfrm>
            <a:off x="6436000" y="5190000"/>
            <a:ext cx="1998900" cy="930000"/>
          </a:xfrm>
          <a:prstGeom prst="rect">
            <a:avLst/>
          </a:prstGeom>
          <a:noFill/>
        </p:spPr>
        <p:txBody>
          <a:bodyPr wrap="square" lIns="0" tIns="0" rIns="0" bIns="0" anchor="ctr">
            <a:normAutofit/>
          </a:bodyPr>
          <a:lstStyle/>
          <a:p>
            <a:pPr algn="l">
              <a:lnSpc>
                <a:spcPct val="100000"/>
              </a:lnSpc>
              <a:spcBef>
                <a:spcPts val="0"/>
              </a:spcBef>
            </a:pPr>
            <a:r>
              <a:rPr lang="en-US" sz="1200" b="1" spc="100">
                <a:solidFill>
                  <a:srgbClr val="B4553A"/>
                </a:solidFill>
                <a:latin typeface="Segoe UI"/>
                <a:cs typeface="Segoe UI"/>
              </a:rPr>
              <a:t>Source</a:t>
            </a:r>
          </a:p>
          <a:p>
            <a:pPr algn="l">
              <a:lnSpc>
                <a:spcPct val="100000"/>
              </a:lnSpc>
              <a:spcBef>
                <a:spcPts val="250"/>
              </a:spcBef>
            </a:pPr>
            <a:r>
              <a:rPr lang="en-US" sz="1100" b="0" spc="0">
                <a:solidFill>
                  <a:srgbClr val="4A423A"/>
                </a:solidFill>
                <a:latin typeface="Segoe UI"/>
                <a:cs typeface="Segoe UI"/>
              </a:rPr>
              <a:t>What must be attached</a:t>
            </a:r>
          </a:p>
        </p:txBody>
      </p:sp>
      <p:sp>
        <p:nvSpPr>
          <p:cNvPr id="135" name="s135"/>
          <p:cNvSpPr/>
          <p:nvPr/>
        </p:nvSpPr>
        <p:spPr>
          <a:xfrm>
            <a:off x="8874900" y="5190000"/>
            <a:ext cx="2478900" cy="930000"/>
          </a:xfrm>
          <a:prstGeom prst="roundRect">
            <a:avLst>
              <a:gd name="adj" fmla="val 12000"/>
            </a:avLst>
          </a:prstGeom>
          <a:solidFill>
            <a:srgbClr val="F6EEE0"/>
          </a:solidFill>
          <a:ln w="12700">
            <a:solidFill>
              <a:srgbClr val="E0CDB0"/>
            </a:solidFill>
          </a:ln>
        </p:spPr>
        <p:txBody>
          <a:bodyPr/>
          <a:lstStyle/>
          <a:p>
            <a:endParaRPr lang="en-US"/>
          </a:p>
        </p:txBody>
      </p:sp>
      <p:sp>
        <p:nvSpPr>
          <p:cNvPr id="136" name="t136"/>
          <p:cNvSpPr txBox="1"/>
          <p:nvPr/>
        </p:nvSpPr>
        <p:spPr>
          <a:xfrm>
            <a:off x="9114900" y="5190000"/>
            <a:ext cx="1998900" cy="930000"/>
          </a:xfrm>
          <a:prstGeom prst="rect">
            <a:avLst/>
          </a:prstGeom>
          <a:noFill/>
        </p:spPr>
        <p:txBody>
          <a:bodyPr wrap="square" lIns="0" tIns="0" rIns="0" bIns="0" anchor="ctr">
            <a:normAutofit/>
          </a:bodyPr>
          <a:lstStyle/>
          <a:p>
            <a:pPr algn="l">
              <a:lnSpc>
                <a:spcPct val="100000"/>
              </a:lnSpc>
              <a:spcBef>
                <a:spcPts val="0"/>
              </a:spcBef>
            </a:pPr>
            <a:r>
              <a:rPr lang="en-US" sz="1200" b="1" spc="100">
                <a:solidFill>
                  <a:srgbClr val="B4553A"/>
                </a:solidFill>
                <a:latin typeface="Segoe UI"/>
                <a:cs typeface="Segoe UI"/>
              </a:rPr>
              <a:t>Check</a:t>
            </a:r>
          </a:p>
          <a:p>
            <a:pPr algn="l">
              <a:lnSpc>
                <a:spcPct val="100000"/>
              </a:lnSpc>
              <a:spcBef>
                <a:spcPts val="250"/>
              </a:spcBef>
            </a:pPr>
            <a:r>
              <a:rPr lang="en-US" sz="1100" b="0" spc="0">
                <a:solidFill>
                  <a:srgbClr val="4A423A"/>
                </a:solidFill>
                <a:latin typeface="Segoe UI"/>
                <a:cs typeface="Segoe UI"/>
              </a:rPr>
              <a:t>What a reviewer verifies</a:t>
            </a:r>
          </a:p>
        </p:txBody>
      </p:sp>
    </p:spTree>
    <p:extLst>
      <p:ext uri="{BB962C8B-B14F-4D97-AF65-F5344CB8AC3E}">
        <p14:creationId xmlns:p14="http://schemas.microsoft.com/office/powerpoint/2010/main" val="3434170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11"/>
          <p:cNvSpPr/>
          <p:nvPr/>
        </p:nvSpPr>
        <p:spPr>
          <a:xfrm>
            <a:off x="0" y="0"/>
            <a:ext cx="12192000" cy="6858000"/>
          </a:xfrm>
          <a:prstGeom prst="rect">
            <a:avLst/>
          </a:prstGeom>
          <a:solidFill>
            <a:srgbClr val="F3EBDD"/>
          </a:solidFill>
          <a:ln>
            <a:noFill/>
          </a:ln>
        </p:spPr>
        <p:txBody>
          <a:bodyPr/>
          <a:lstStyle/>
          <a:p>
            <a:endParaRPr lang="en-US"/>
          </a:p>
        </p:txBody>
      </p:sp>
      <p:sp>
        <p:nvSpPr>
          <p:cNvPr id="12" name="s12"/>
          <p:cNvSpPr/>
          <p:nvPr/>
        </p:nvSpPr>
        <p:spPr>
          <a:xfrm>
            <a:off x="0" y="0"/>
            <a:ext cx="12192000" cy="80000"/>
          </a:xfrm>
          <a:prstGeom prst="rect">
            <a:avLst/>
          </a:prstGeom>
          <a:solidFill>
            <a:srgbClr val="B4553A"/>
          </a:solidFill>
          <a:ln>
            <a:noFill/>
          </a:ln>
        </p:spPr>
        <p:txBody>
          <a:bodyPr/>
          <a:lstStyle/>
          <a:p>
            <a:endParaRPr lang="en-US"/>
          </a:p>
        </p:txBody>
      </p:sp>
      <p:sp>
        <p:nvSpPr>
          <p:cNvPr id="13" name="s13"/>
          <p:cNvSpPr/>
          <p:nvPr/>
        </p:nvSpPr>
        <p:spPr>
          <a:xfrm>
            <a:off x="838200" y="520700"/>
            <a:ext cx="180000" cy="180000"/>
          </a:xfrm>
          <a:prstGeom prst="ellipse">
            <a:avLst/>
          </a:prstGeom>
          <a:solidFill>
            <a:srgbClr val="7A7A4E"/>
          </a:solidFill>
          <a:ln>
            <a:noFill/>
          </a:ln>
        </p:spPr>
        <p:txBody>
          <a:bodyPr/>
          <a:lstStyle/>
          <a:p>
            <a:endParaRPr lang="en-US"/>
          </a:p>
        </p:txBody>
      </p:sp>
      <p:sp>
        <p:nvSpPr>
          <p:cNvPr id="14" name="t14"/>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LIBRARY 01</a:t>
            </a:r>
          </a:p>
        </p:txBody>
      </p:sp>
      <p:sp>
        <p:nvSpPr>
          <p:cNvPr id="15" name="t15"/>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Recruitment Prompts</a:t>
            </a:r>
          </a:p>
        </p:txBody>
      </p:sp>
      <p:sp>
        <p:nvSpPr>
          <p:cNvPr id="16" name="s16"/>
          <p:cNvSpPr/>
          <p:nvPr/>
        </p:nvSpPr>
        <p:spPr>
          <a:xfrm>
            <a:off x="838200" y="1540000"/>
            <a:ext cx="3200000" cy="26000"/>
          </a:xfrm>
          <a:prstGeom prst="rect">
            <a:avLst/>
          </a:prstGeom>
          <a:solidFill>
            <a:srgbClr val="B4553A"/>
          </a:solidFill>
          <a:ln>
            <a:noFill/>
          </a:ln>
        </p:spPr>
        <p:txBody>
          <a:bodyPr/>
          <a:lstStyle/>
          <a:p>
            <a:endParaRPr lang="en-US"/>
          </a:p>
        </p:txBody>
      </p:sp>
      <p:sp>
        <p:nvSpPr>
          <p:cNvPr id="17" name="t17"/>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From requisition to offer — four prompts that carry most of the drafting load.</a:t>
            </a:r>
          </a:p>
        </p:txBody>
      </p:sp>
      <p:sp>
        <p:nvSpPr>
          <p:cNvPr id="18" name="s18"/>
          <p:cNvSpPr/>
          <p:nvPr/>
        </p:nvSpPr>
        <p:spPr>
          <a:xfrm>
            <a:off x="838200" y="6420000"/>
            <a:ext cx="10515600" cy="12700"/>
          </a:xfrm>
          <a:prstGeom prst="rect">
            <a:avLst/>
          </a:prstGeom>
          <a:solidFill>
            <a:srgbClr val="E0CDB0"/>
          </a:solidFill>
          <a:ln>
            <a:noFill/>
          </a:ln>
        </p:spPr>
        <p:txBody>
          <a:bodyPr/>
          <a:lstStyle/>
          <a:p>
            <a:endParaRPr lang="en-US"/>
          </a:p>
        </p:txBody>
      </p:sp>
      <p:sp>
        <p:nvSpPr>
          <p:cNvPr id="19" name="t19"/>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Reusable HR prompt library</a:t>
            </a:r>
          </a:p>
        </p:txBody>
      </p:sp>
      <p:sp>
        <p:nvSpPr>
          <p:cNvPr id="20" name="s20"/>
          <p:cNvSpPr/>
          <p:nvPr/>
        </p:nvSpPr>
        <p:spPr>
          <a:xfrm>
            <a:off x="838200" y="2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21" name="s21"/>
          <p:cNvSpPr/>
          <p:nvPr/>
        </p:nvSpPr>
        <p:spPr>
          <a:xfrm>
            <a:off x="838200" y="2320000"/>
            <a:ext cx="5137800" cy="110000"/>
          </a:xfrm>
          <a:prstGeom prst="roundRect">
            <a:avLst>
              <a:gd name="adj" fmla="val 20000"/>
            </a:avLst>
          </a:prstGeom>
          <a:solidFill>
            <a:srgbClr val="B4553A"/>
          </a:solidFill>
          <a:ln>
            <a:noFill/>
          </a:ln>
        </p:spPr>
        <p:txBody>
          <a:bodyPr/>
          <a:lstStyle/>
          <a:p>
            <a:endParaRPr lang="en-US"/>
          </a:p>
        </p:txBody>
      </p:sp>
      <p:sp>
        <p:nvSpPr>
          <p:cNvPr id="22" name="t22"/>
          <p:cNvSpPr txBox="1"/>
          <p:nvPr/>
        </p:nvSpPr>
        <p:spPr>
          <a:xfrm>
            <a:off x="1138200" y="2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Job description</a:t>
            </a:r>
          </a:p>
          <a:p>
            <a:pPr algn="l">
              <a:lnSpc>
                <a:spcPct val="115000"/>
              </a:lnSpc>
              <a:spcBef>
                <a:spcPts val="300"/>
              </a:spcBef>
            </a:pPr>
            <a:r>
              <a:rPr lang="en-US" sz="1050" b="0" spc="0" dirty="0">
                <a:solidFill>
                  <a:srgbClr val="4A423A"/>
                </a:solidFill>
                <a:latin typeface="Segoe UI"/>
                <a:cs typeface="Segoe UI"/>
              </a:rPr>
              <a:t>Turn a requisition into a clear, inclusive JD.</a:t>
            </a:r>
          </a:p>
        </p:txBody>
      </p:sp>
      <p:sp>
        <p:nvSpPr>
          <p:cNvPr id="23" name="s23"/>
          <p:cNvSpPr/>
          <p:nvPr/>
        </p:nvSpPr>
        <p:spPr>
          <a:xfrm>
            <a:off x="1118200" y="3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24" name="s24"/>
          <p:cNvSpPr/>
          <p:nvPr/>
        </p:nvSpPr>
        <p:spPr>
          <a:xfrm>
            <a:off x="1118200" y="3040000"/>
            <a:ext cx="44000" cy="980000"/>
          </a:xfrm>
          <a:prstGeom prst="rect">
            <a:avLst/>
          </a:prstGeom>
          <a:solidFill>
            <a:srgbClr val="B4553A"/>
          </a:solidFill>
          <a:ln>
            <a:noFill/>
          </a:ln>
        </p:spPr>
        <p:txBody>
          <a:bodyPr/>
          <a:lstStyle/>
          <a:p>
            <a:endParaRPr lang="en-US"/>
          </a:p>
        </p:txBody>
      </p:sp>
      <p:sp>
        <p:nvSpPr>
          <p:cNvPr id="25" name="t25"/>
          <p:cNvSpPr txBox="1"/>
          <p:nvPr/>
        </p:nvSpPr>
        <p:spPr>
          <a:xfrm>
            <a:off x="1358200" y="3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Role: [title], [location], [years].</a:t>
            </a:r>
          </a:p>
          <a:p>
            <a:pPr algn="l">
              <a:lnSpc>
                <a:spcPct val="110000"/>
              </a:lnSpc>
              <a:spcBef>
                <a:spcPts val="260"/>
              </a:spcBef>
            </a:pPr>
            <a:r>
              <a:rPr lang="en-US" sz="950" b="0" spc="0" dirty="0">
                <a:solidFill>
                  <a:srgbClr val="2E2A26"/>
                </a:solidFill>
                <a:latin typeface="Consolas"/>
                <a:cs typeface="Consolas"/>
              </a:rPr>
              <a:t>Use the attached JD as style example.</a:t>
            </a:r>
          </a:p>
          <a:p>
            <a:pPr algn="l">
              <a:lnSpc>
                <a:spcPct val="110000"/>
              </a:lnSpc>
              <a:spcBef>
                <a:spcPts val="260"/>
              </a:spcBef>
            </a:pPr>
            <a:r>
              <a:rPr lang="en-US" sz="950" b="0" spc="0" dirty="0">
                <a:solidFill>
                  <a:srgbClr val="2E2A26"/>
                </a:solidFill>
                <a:latin typeface="Consolas"/>
                <a:cs typeface="Consolas"/>
              </a:rPr>
              <a:t>Sections: Purpose, Responsibilities (6),</a:t>
            </a:r>
          </a:p>
          <a:p>
            <a:pPr algn="l">
              <a:lnSpc>
                <a:spcPct val="110000"/>
              </a:lnSpc>
              <a:spcBef>
                <a:spcPts val="260"/>
              </a:spcBef>
            </a:pPr>
            <a:r>
              <a:rPr lang="en-US" sz="950" b="0" spc="0" dirty="0">
                <a:solidFill>
                  <a:srgbClr val="2E2A26"/>
                </a:solidFill>
                <a:latin typeface="Consolas"/>
                <a:cs typeface="Consolas"/>
              </a:rPr>
              <a:t>Must-have (5). Under 400 words.</a:t>
            </a:r>
          </a:p>
        </p:txBody>
      </p:sp>
      <p:sp>
        <p:nvSpPr>
          <p:cNvPr id="26" name="s26"/>
          <p:cNvSpPr/>
          <p:nvPr/>
        </p:nvSpPr>
        <p:spPr>
          <a:xfrm>
            <a:off x="6216000" y="2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27" name="s27"/>
          <p:cNvSpPr/>
          <p:nvPr/>
        </p:nvSpPr>
        <p:spPr>
          <a:xfrm>
            <a:off x="6216000" y="2320000"/>
            <a:ext cx="5137800" cy="110000"/>
          </a:xfrm>
          <a:prstGeom prst="roundRect">
            <a:avLst>
              <a:gd name="adj" fmla="val 20000"/>
            </a:avLst>
          </a:prstGeom>
          <a:solidFill>
            <a:srgbClr val="B4553A"/>
          </a:solidFill>
          <a:ln>
            <a:noFill/>
          </a:ln>
        </p:spPr>
        <p:txBody>
          <a:bodyPr/>
          <a:lstStyle/>
          <a:p>
            <a:endParaRPr lang="en-US"/>
          </a:p>
        </p:txBody>
      </p:sp>
      <p:sp>
        <p:nvSpPr>
          <p:cNvPr id="28" name="t28"/>
          <p:cNvSpPr txBox="1"/>
          <p:nvPr/>
        </p:nvSpPr>
        <p:spPr>
          <a:xfrm>
            <a:off x="6516000" y="2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Screening questions</a:t>
            </a:r>
          </a:p>
          <a:p>
            <a:pPr algn="l">
              <a:lnSpc>
                <a:spcPct val="115000"/>
              </a:lnSpc>
              <a:spcBef>
                <a:spcPts val="300"/>
              </a:spcBef>
            </a:pPr>
            <a:r>
              <a:rPr lang="en-US" sz="1050" b="0" spc="0" dirty="0">
                <a:solidFill>
                  <a:srgbClr val="4A423A"/>
                </a:solidFill>
                <a:latin typeface="Segoe UI"/>
                <a:cs typeface="Segoe UI"/>
              </a:rPr>
              <a:t>Structured, job-related, comparable.</a:t>
            </a:r>
          </a:p>
        </p:txBody>
      </p:sp>
      <p:sp>
        <p:nvSpPr>
          <p:cNvPr id="29" name="s29"/>
          <p:cNvSpPr/>
          <p:nvPr/>
        </p:nvSpPr>
        <p:spPr>
          <a:xfrm>
            <a:off x="6496000" y="3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30" name="s30"/>
          <p:cNvSpPr/>
          <p:nvPr/>
        </p:nvSpPr>
        <p:spPr>
          <a:xfrm>
            <a:off x="6496000" y="3040000"/>
            <a:ext cx="44000" cy="980000"/>
          </a:xfrm>
          <a:prstGeom prst="rect">
            <a:avLst/>
          </a:prstGeom>
          <a:solidFill>
            <a:srgbClr val="B4553A"/>
          </a:solidFill>
          <a:ln>
            <a:noFill/>
          </a:ln>
        </p:spPr>
        <p:txBody>
          <a:bodyPr/>
          <a:lstStyle/>
          <a:p>
            <a:endParaRPr lang="en-US"/>
          </a:p>
        </p:txBody>
      </p:sp>
      <p:sp>
        <p:nvSpPr>
          <p:cNvPr id="31" name="t31"/>
          <p:cNvSpPr txBox="1"/>
          <p:nvPr/>
        </p:nvSpPr>
        <p:spPr>
          <a:xfrm>
            <a:off x="6736000" y="3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From the attached JD, write 6 screening</a:t>
            </a:r>
          </a:p>
          <a:p>
            <a:pPr algn="l">
              <a:lnSpc>
                <a:spcPct val="110000"/>
              </a:lnSpc>
              <a:spcBef>
                <a:spcPts val="260"/>
              </a:spcBef>
            </a:pPr>
            <a:r>
              <a:rPr lang="en-US" sz="950" b="0" spc="0" dirty="0">
                <a:solidFill>
                  <a:srgbClr val="2E2A26"/>
                </a:solidFill>
                <a:latin typeface="Consolas"/>
                <a:cs typeface="Consolas"/>
              </a:rPr>
              <a:t>questions mapped to the must-have skills.</a:t>
            </a:r>
          </a:p>
          <a:p>
            <a:pPr algn="l">
              <a:lnSpc>
                <a:spcPct val="110000"/>
              </a:lnSpc>
              <a:spcBef>
                <a:spcPts val="260"/>
              </a:spcBef>
            </a:pPr>
            <a:r>
              <a:rPr lang="en-US" sz="950" b="0" spc="0" dirty="0">
                <a:solidFill>
                  <a:srgbClr val="2E2A26"/>
                </a:solidFill>
                <a:latin typeface="Consolas"/>
                <a:cs typeface="Consolas"/>
              </a:rPr>
              <a:t>Add a strong-answer note and 1-5 anchor.</a:t>
            </a:r>
          </a:p>
          <a:p>
            <a:pPr algn="l">
              <a:lnSpc>
                <a:spcPct val="110000"/>
              </a:lnSpc>
              <a:spcBef>
                <a:spcPts val="260"/>
              </a:spcBef>
            </a:pPr>
            <a:r>
              <a:rPr lang="en-US" sz="950" b="0" spc="0" dirty="0">
                <a:solidFill>
                  <a:srgbClr val="2E2A26"/>
                </a:solidFill>
                <a:latin typeface="Consolas"/>
                <a:cs typeface="Consolas"/>
              </a:rPr>
              <a:t>No questions on age, family, health.</a:t>
            </a:r>
          </a:p>
        </p:txBody>
      </p:sp>
      <p:sp>
        <p:nvSpPr>
          <p:cNvPr id="32" name="s32"/>
          <p:cNvSpPr/>
          <p:nvPr/>
        </p:nvSpPr>
        <p:spPr>
          <a:xfrm>
            <a:off x="838200" y="4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33" name="s33"/>
          <p:cNvSpPr/>
          <p:nvPr/>
        </p:nvSpPr>
        <p:spPr>
          <a:xfrm>
            <a:off x="838200" y="4320000"/>
            <a:ext cx="5137800" cy="110000"/>
          </a:xfrm>
          <a:prstGeom prst="roundRect">
            <a:avLst>
              <a:gd name="adj" fmla="val 20000"/>
            </a:avLst>
          </a:prstGeom>
          <a:solidFill>
            <a:srgbClr val="B4553A"/>
          </a:solidFill>
          <a:ln>
            <a:noFill/>
          </a:ln>
        </p:spPr>
        <p:txBody>
          <a:bodyPr/>
          <a:lstStyle/>
          <a:p>
            <a:endParaRPr lang="en-US"/>
          </a:p>
        </p:txBody>
      </p:sp>
      <p:sp>
        <p:nvSpPr>
          <p:cNvPr id="34" name="t34"/>
          <p:cNvSpPr txBox="1"/>
          <p:nvPr/>
        </p:nvSpPr>
        <p:spPr>
          <a:xfrm>
            <a:off x="1138200" y="4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Interview scorecard</a:t>
            </a:r>
          </a:p>
          <a:p>
            <a:pPr algn="l">
              <a:lnSpc>
                <a:spcPct val="115000"/>
              </a:lnSpc>
              <a:spcBef>
                <a:spcPts val="300"/>
              </a:spcBef>
            </a:pPr>
            <a:r>
              <a:rPr lang="en-US" sz="1050" b="0" spc="0" dirty="0">
                <a:solidFill>
                  <a:srgbClr val="4A423A"/>
                </a:solidFill>
                <a:latin typeface="Segoe UI"/>
                <a:cs typeface="Segoe UI"/>
              </a:rPr>
              <a:t>Consistent evidence, not impressions.</a:t>
            </a:r>
          </a:p>
        </p:txBody>
      </p:sp>
      <p:sp>
        <p:nvSpPr>
          <p:cNvPr id="35" name="s35"/>
          <p:cNvSpPr/>
          <p:nvPr/>
        </p:nvSpPr>
        <p:spPr>
          <a:xfrm>
            <a:off x="1118200" y="5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36" name="s36"/>
          <p:cNvSpPr/>
          <p:nvPr/>
        </p:nvSpPr>
        <p:spPr>
          <a:xfrm>
            <a:off x="1118200" y="5040000"/>
            <a:ext cx="44000" cy="980000"/>
          </a:xfrm>
          <a:prstGeom prst="rect">
            <a:avLst/>
          </a:prstGeom>
          <a:solidFill>
            <a:srgbClr val="B4553A"/>
          </a:solidFill>
          <a:ln>
            <a:noFill/>
          </a:ln>
        </p:spPr>
        <p:txBody>
          <a:bodyPr/>
          <a:lstStyle/>
          <a:p>
            <a:endParaRPr lang="en-US"/>
          </a:p>
        </p:txBody>
      </p:sp>
      <p:sp>
        <p:nvSpPr>
          <p:cNvPr id="37" name="t37"/>
          <p:cNvSpPr txBox="1"/>
          <p:nvPr/>
        </p:nvSpPr>
        <p:spPr>
          <a:xfrm>
            <a:off x="1358200" y="5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Build a scorecard for [role] with 5</a:t>
            </a:r>
          </a:p>
          <a:p>
            <a:pPr algn="l">
              <a:lnSpc>
                <a:spcPct val="110000"/>
              </a:lnSpc>
              <a:spcBef>
                <a:spcPts val="260"/>
              </a:spcBef>
            </a:pPr>
            <a:r>
              <a:rPr lang="en-US" sz="950" b="0" spc="0" dirty="0">
                <a:solidFill>
                  <a:srgbClr val="2E2A26"/>
                </a:solidFill>
                <a:latin typeface="Consolas"/>
                <a:cs typeface="Consolas"/>
              </a:rPr>
              <a:t>competencies from the attached JD.</a:t>
            </a:r>
          </a:p>
          <a:p>
            <a:pPr algn="l">
              <a:lnSpc>
                <a:spcPct val="110000"/>
              </a:lnSpc>
              <a:spcBef>
                <a:spcPts val="260"/>
              </a:spcBef>
            </a:pPr>
            <a:r>
              <a:rPr lang="en-US" sz="950" b="0" spc="0" dirty="0">
                <a:solidFill>
                  <a:srgbClr val="2E2A26"/>
                </a:solidFill>
                <a:latin typeface="Consolas"/>
                <a:cs typeface="Consolas"/>
              </a:rPr>
              <a:t>Each: definition, two probing questions,</a:t>
            </a:r>
          </a:p>
          <a:p>
            <a:pPr algn="l">
              <a:lnSpc>
                <a:spcPct val="110000"/>
              </a:lnSpc>
              <a:spcBef>
                <a:spcPts val="260"/>
              </a:spcBef>
            </a:pPr>
            <a:r>
              <a:rPr lang="en-US" sz="950" b="0" spc="0" dirty="0">
                <a:solidFill>
                  <a:srgbClr val="2E2A26"/>
                </a:solidFill>
                <a:latin typeface="Consolas"/>
                <a:cs typeface="Consolas"/>
              </a:rPr>
              <a:t>1-5 behavioural anchors. Table format.</a:t>
            </a:r>
          </a:p>
        </p:txBody>
      </p:sp>
      <p:sp>
        <p:nvSpPr>
          <p:cNvPr id="38" name="s38"/>
          <p:cNvSpPr/>
          <p:nvPr/>
        </p:nvSpPr>
        <p:spPr>
          <a:xfrm>
            <a:off x="6216000" y="4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39" name="s39"/>
          <p:cNvSpPr/>
          <p:nvPr/>
        </p:nvSpPr>
        <p:spPr>
          <a:xfrm>
            <a:off x="6216000" y="4320000"/>
            <a:ext cx="5137800" cy="110000"/>
          </a:xfrm>
          <a:prstGeom prst="roundRect">
            <a:avLst>
              <a:gd name="adj" fmla="val 20000"/>
            </a:avLst>
          </a:prstGeom>
          <a:solidFill>
            <a:srgbClr val="B4553A"/>
          </a:solidFill>
          <a:ln>
            <a:noFill/>
          </a:ln>
        </p:spPr>
        <p:txBody>
          <a:bodyPr/>
          <a:lstStyle/>
          <a:p>
            <a:endParaRPr lang="en-US"/>
          </a:p>
        </p:txBody>
      </p:sp>
      <p:sp>
        <p:nvSpPr>
          <p:cNvPr id="40" name="t40"/>
          <p:cNvSpPr txBox="1"/>
          <p:nvPr/>
        </p:nvSpPr>
        <p:spPr>
          <a:xfrm>
            <a:off x="6516000" y="4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Candidate feedback</a:t>
            </a:r>
          </a:p>
          <a:p>
            <a:pPr algn="l">
              <a:lnSpc>
                <a:spcPct val="115000"/>
              </a:lnSpc>
              <a:spcBef>
                <a:spcPts val="300"/>
              </a:spcBef>
            </a:pPr>
            <a:r>
              <a:rPr lang="en-US" sz="1050" b="0" spc="0" dirty="0">
                <a:solidFill>
                  <a:srgbClr val="4A423A"/>
                </a:solidFill>
                <a:latin typeface="Segoe UI"/>
                <a:cs typeface="Segoe UI"/>
              </a:rPr>
              <a:t>Kind, specific, defensible.</a:t>
            </a:r>
          </a:p>
        </p:txBody>
      </p:sp>
      <p:sp>
        <p:nvSpPr>
          <p:cNvPr id="41" name="s41"/>
          <p:cNvSpPr/>
          <p:nvPr/>
        </p:nvSpPr>
        <p:spPr>
          <a:xfrm>
            <a:off x="6496000" y="5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42" name="s42"/>
          <p:cNvSpPr/>
          <p:nvPr/>
        </p:nvSpPr>
        <p:spPr>
          <a:xfrm>
            <a:off x="6496000" y="5040000"/>
            <a:ext cx="44000" cy="980000"/>
          </a:xfrm>
          <a:prstGeom prst="rect">
            <a:avLst/>
          </a:prstGeom>
          <a:solidFill>
            <a:srgbClr val="B4553A"/>
          </a:solidFill>
          <a:ln>
            <a:noFill/>
          </a:ln>
        </p:spPr>
        <p:txBody>
          <a:bodyPr/>
          <a:lstStyle/>
          <a:p>
            <a:endParaRPr lang="en-US"/>
          </a:p>
        </p:txBody>
      </p:sp>
      <p:sp>
        <p:nvSpPr>
          <p:cNvPr id="43" name="t43"/>
          <p:cNvSpPr txBox="1"/>
          <p:nvPr/>
        </p:nvSpPr>
        <p:spPr>
          <a:xfrm>
            <a:off x="6736000" y="5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Using only the attached interview notes,</a:t>
            </a:r>
          </a:p>
          <a:p>
            <a:pPr algn="l">
              <a:lnSpc>
                <a:spcPct val="110000"/>
              </a:lnSpc>
              <a:spcBef>
                <a:spcPts val="260"/>
              </a:spcBef>
            </a:pPr>
            <a:r>
              <a:rPr lang="en-US" sz="950" b="0" spc="0" dirty="0">
                <a:solidFill>
                  <a:srgbClr val="2E2A26"/>
                </a:solidFill>
                <a:latin typeface="Consolas"/>
                <a:cs typeface="Consolas"/>
              </a:rPr>
              <a:t>draft feedback for a rejected candidate.</a:t>
            </a:r>
          </a:p>
          <a:p>
            <a:pPr algn="l">
              <a:lnSpc>
                <a:spcPct val="110000"/>
              </a:lnSpc>
              <a:spcBef>
                <a:spcPts val="260"/>
              </a:spcBef>
            </a:pPr>
            <a:r>
              <a:rPr lang="en-US" sz="950" b="0" spc="0" dirty="0">
                <a:solidFill>
                  <a:srgbClr val="2E2A26"/>
                </a:solidFill>
                <a:latin typeface="Consolas"/>
                <a:cs typeface="Consolas"/>
              </a:rPr>
              <a:t>120 words, warm, tied to job criteria.</a:t>
            </a:r>
          </a:p>
          <a:p>
            <a:pPr algn="l">
              <a:lnSpc>
                <a:spcPct val="110000"/>
              </a:lnSpc>
              <a:spcBef>
                <a:spcPts val="260"/>
              </a:spcBef>
            </a:pPr>
            <a:r>
              <a:rPr lang="en-US" sz="950" b="0" spc="0" dirty="0">
                <a:solidFill>
                  <a:srgbClr val="2E2A26"/>
                </a:solidFill>
                <a:latin typeface="Consolas"/>
                <a:cs typeface="Consolas"/>
              </a:rPr>
              <a:t>No comparisons. Flag anything unsupported.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44"/>
          <p:cNvSpPr/>
          <p:nvPr/>
        </p:nvSpPr>
        <p:spPr>
          <a:xfrm>
            <a:off x="0" y="0"/>
            <a:ext cx="12192000" cy="6858000"/>
          </a:xfrm>
          <a:prstGeom prst="rect">
            <a:avLst/>
          </a:prstGeom>
          <a:solidFill>
            <a:srgbClr val="F3EBDD"/>
          </a:solidFill>
          <a:ln>
            <a:noFill/>
          </a:ln>
        </p:spPr>
        <p:txBody>
          <a:bodyPr/>
          <a:lstStyle/>
          <a:p>
            <a:endParaRPr lang="en-US"/>
          </a:p>
        </p:txBody>
      </p:sp>
      <p:sp>
        <p:nvSpPr>
          <p:cNvPr id="45" name="s45"/>
          <p:cNvSpPr/>
          <p:nvPr/>
        </p:nvSpPr>
        <p:spPr>
          <a:xfrm>
            <a:off x="0" y="0"/>
            <a:ext cx="12192000" cy="80000"/>
          </a:xfrm>
          <a:prstGeom prst="rect">
            <a:avLst/>
          </a:prstGeom>
          <a:solidFill>
            <a:srgbClr val="B4553A"/>
          </a:solidFill>
          <a:ln>
            <a:noFill/>
          </a:ln>
        </p:spPr>
        <p:txBody>
          <a:bodyPr/>
          <a:lstStyle/>
          <a:p>
            <a:endParaRPr lang="en-US"/>
          </a:p>
        </p:txBody>
      </p:sp>
      <p:sp>
        <p:nvSpPr>
          <p:cNvPr id="46" name="s46"/>
          <p:cNvSpPr/>
          <p:nvPr/>
        </p:nvSpPr>
        <p:spPr>
          <a:xfrm>
            <a:off x="838200" y="520700"/>
            <a:ext cx="180000" cy="180000"/>
          </a:xfrm>
          <a:prstGeom prst="ellipse">
            <a:avLst/>
          </a:prstGeom>
          <a:solidFill>
            <a:srgbClr val="7A7A4E"/>
          </a:solidFill>
          <a:ln>
            <a:noFill/>
          </a:ln>
        </p:spPr>
        <p:txBody>
          <a:bodyPr/>
          <a:lstStyle/>
          <a:p>
            <a:endParaRPr lang="en-US"/>
          </a:p>
        </p:txBody>
      </p:sp>
      <p:sp>
        <p:nvSpPr>
          <p:cNvPr id="47" name="t47"/>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LIBRARY 02</a:t>
            </a:r>
          </a:p>
        </p:txBody>
      </p:sp>
      <p:sp>
        <p:nvSpPr>
          <p:cNvPr id="48" name="t48"/>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Employee Lifecycle Prompts</a:t>
            </a:r>
          </a:p>
        </p:txBody>
      </p:sp>
      <p:sp>
        <p:nvSpPr>
          <p:cNvPr id="49" name="s49"/>
          <p:cNvSpPr/>
          <p:nvPr/>
        </p:nvSpPr>
        <p:spPr>
          <a:xfrm>
            <a:off x="838200" y="1540000"/>
            <a:ext cx="3200000" cy="26000"/>
          </a:xfrm>
          <a:prstGeom prst="rect">
            <a:avLst/>
          </a:prstGeom>
          <a:solidFill>
            <a:srgbClr val="B4553A"/>
          </a:solidFill>
          <a:ln>
            <a:noFill/>
          </a:ln>
        </p:spPr>
        <p:txBody>
          <a:bodyPr/>
          <a:lstStyle/>
          <a:p>
            <a:endParaRPr lang="en-US"/>
          </a:p>
        </p:txBody>
      </p:sp>
      <p:sp>
        <p:nvSpPr>
          <p:cNvPr id="50" name="t50"/>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Onboarding, everyday policy questions, communications, and exits — the highest-volume HR work.</a:t>
            </a:r>
          </a:p>
        </p:txBody>
      </p:sp>
      <p:sp>
        <p:nvSpPr>
          <p:cNvPr id="51" name="s51"/>
          <p:cNvSpPr/>
          <p:nvPr/>
        </p:nvSpPr>
        <p:spPr>
          <a:xfrm>
            <a:off x="838200" y="6420000"/>
            <a:ext cx="10515600" cy="12700"/>
          </a:xfrm>
          <a:prstGeom prst="rect">
            <a:avLst/>
          </a:prstGeom>
          <a:solidFill>
            <a:srgbClr val="E0CDB0"/>
          </a:solidFill>
          <a:ln>
            <a:noFill/>
          </a:ln>
        </p:spPr>
        <p:txBody>
          <a:bodyPr/>
          <a:lstStyle/>
          <a:p>
            <a:endParaRPr lang="en-US"/>
          </a:p>
        </p:txBody>
      </p:sp>
      <p:sp>
        <p:nvSpPr>
          <p:cNvPr id="52" name="t52"/>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Reusable HR prompt library</a:t>
            </a:r>
          </a:p>
        </p:txBody>
      </p:sp>
      <p:sp>
        <p:nvSpPr>
          <p:cNvPr id="53" name="s53"/>
          <p:cNvSpPr/>
          <p:nvPr/>
        </p:nvSpPr>
        <p:spPr>
          <a:xfrm>
            <a:off x="838200" y="2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54" name="s54"/>
          <p:cNvSpPr/>
          <p:nvPr/>
        </p:nvSpPr>
        <p:spPr>
          <a:xfrm>
            <a:off x="838200" y="2320000"/>
            <a:ext cx="5137800" cy="110000"/>
          </a:xfrm>
          <a:prstGeom prst="roundRect">
            <a:avLst>
              <a:gd name="adj" fmla="val 20000"/>
            </a:avLst>
          </a:prstGeom>
          <a:solidFill>
            <a:srgbClr val="B4553A"/>
          </a:solidFill>
          <a:ln>
            <a:noFill/>
          </a:ln>
        </p:spPr>
        <p:txBody>
          <a:bodyPr/>
          <a:lstStyle/>
          <a:p>
            <a:endParaRPr lang="en-US"/>
          </a:p>
        </p:txBody>
      </p:sp>
      <p:sp>
        <p:nvSpPr>
          <p:cNvPr id="55" name="t55"/>
          <p:cNvSpPr txBox="1"/>
          <p:nvPr/>
        </p:nvSpPr>
        <p:spPr>
          <a:xfrm>
            <a:off x="1138200" y="2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Onboarding plan</a:t>
            </a:r>
          </a:p>
          <a:p>
            <a:pPr algn="l">
              <a:lnSpc>
                <a:spcPct val="115000"/>
              </a:lnSpc>
              <a:spcBef>
                <a:spcPts val="300"/>
              </a:spcBef>
            </a:pPr>
            <a:r>
              <a:rPr lang="en-US" sz="1050" b="0" spc="0" dirty="0">
                <a:solidFill>
                  <a:srgbClr val="4A423A"/>
                </a:solidFill>
                <a:latin typeface="Segoe UI"/>
                <a:cs typeface="Segoe UI"/>
              </a:rPr>
              <a:t>A 30-60-90 that a manager can actually run.</a:t>
            </a:r>
          </a:p>
        </p:txBody>
      </p:sp>
      <p:sp>
        <p:nvSpPr>
          <p:cNvPr id="56" name="s56"/>
          <p:cNvSpPr/>
          <p:nvPr/>
        </p:nvSpPr>
        <p:spPr>
          <a:xfrm>
            <a:off x="1118200" y="3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57" name="s57"/>
          <p:cNvSpPr/>
          <p:nvPr/>
        </p:nvSpPr>
        <p:spPr>
          <a:xfrm>
            <a:off x="1118200" y="3040000"/>
            <a:ext cx="44000" cy="980000"/>
          </a:xfrm>
          <a:prstGeom prst="rect">
            <a:avLst/>
          </a:prstGeom>
          <a:solidFill>
            <a:srgbClr val="B4553A"/>
          </a:solidFill>
          <a:ln>
            <a:noFill/>
          </a:ln>
        </p:spPr>
        <p:txBody>
          <a:bodyPr/>
          <a:lstStyle/>
          <a:p>
            <a:endParaRPr lang="en-US"/>
          </a:p>
        </p:txBody>
      </p:sp>
      <p:sp>
        <p:nvSpPr>
          <p:cNvPr id="58" name="t58"/>
          <p:cNvSpPr txBox="1"/>
          <p:nvPr/>
        </p:nvSpPr>
        <p:spPr>
          <a:xfrm>
            <a:off x="1358200" y="3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Build a 30-60-90 day plan for a new</a:t>
            </a:r>
          </a:p>
          <a:p>
            <a:pPr algn="l">
              <a:lnSpc>
                <a:spcPct val="110000"/>
              </a:lnSpc>
              <a:spcBef>
                <a:spcPts val="260"/>
              </a:spcBef>
            </a:pPr>
            <a:r>
              <a:rPr lang="en-US" sz="950" b="0" spc="0" dirty="0">
                <a:solidFill>
                  <a:srgbClr val="2E2A26"/>
                </a:solidFill>
                <a:latin typeface="Consolas"/>
                <a:cs typeface="Consolas"/>
              </a:rPr>
              <a:t>[role], using the attached team charter.</a:t>
            </a:r>
          </a:p>
          <a:p>
            <a:pPr algn="l">
              <a:lnSpc>
                <a:spcPct val="110000"/>
              </a:lnSpc>
              <a:spcBef>
                <a:spcPts val="260"/>
              </a:spcBef>
            </a:pPr>
            <a:r>
              <a:rPr lang="en-US" sz="950" b="0" spc="0" dirty="0">
                <a:solidFill>
                  <a:srgbClr val="2E2A26"/>
                </a:solidFill>
                <a:latin typeface="Consolas"/>
                <a:cs typeface="Consolas"/>
              </a:rPr>
              <a:t>Per phase: outcomes, meetings, learning,</a:t>
            </a:r>
          </a:p>
          <a:p>
            <a:pPr algn="l">
              <a:lnSpc>
                <a:spcPct val="110000"/>
              </a:lnSpc>
              <a:spcBef>
                <a:spcPts val="260"/>
              </a:spcBef>
            </a:pPr>
            <a:r>
              <a:rPr lang="en-US" sz="950" b="0" spc="0" dirty="0">
                <a:solidFill>
                  <a:srgbClr val="2E2A26"/>
                </a:solidFill>
                <a:latin typeface="Consolas"/>
                <a:cs typeface="Consolas"/>
              </a:rPr>
              <a:t>one success measure. Table, 350 words.</a:t>
            </a:r>
          </a:p>
        </p:txBody>
      </p:sp>
      <p:sp>
        <p:nvSpPr>
          <p:cNvPr id="59" name="s59"/>
          <p:cNvSpPr/>
          <p:nvPr/>
        </p:nvSpPr>
        <p:spPr>
          <a:xfrm>
            <a:off x="6216000" y="2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60" name="s60"/>
          <p:cNvSpPr/>
          <p:nvPr/>
        </p:nvSpPr>
        <p:spPr>
          <a:xfrm>
            <a:off x="6216000" y="2320000"/>
            <a:ext cx="5137800" cy="110000"/>
          </a:xfrm>
          <a:prstGeom prst="roundRect">
            <a:avLst>
              <a:gd name="adj" fmla="val 20000"/>
            </a:avLst>
          </a:prstGeom>
          <a:solidFill>
            <a:srgbClr val="B4553A"/>
          </a:solidFill>
          <a:ln>
            <a:noFill/>
          </a:ln>
        </p:spPr>
        <p:txBody>
          <a:bodyPr/>
          <a:lstStyle/>
          <a:p>
            <a:endParaRPr lang="en-US"/>
          </a:p>
        </p:txBody>
      </p:sp>
      <p:sp>
        <p:nvSpPr>
          <p:cNvPr id="61" name="t61"/>
          <p:cNvSpPr txBox="1"/>
          <p:nvPr/>
        </p:nvSpPr>
        <p:spPr>
          <a:xfrm>
            <a:off x="6516000" y="2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Policy Q&amp;A</a:t>
            </a:r>
          </a:p>
          <a:p>
            <a:pPr algn="l">
              <a:lnSpc>
                <a:spcPct val="115000"/>
              </a:lnSpc>
              <a:spcBef>
                <a:spcPts val="300"/>
              </a:spcBef>
            </a:pPr>
            <a:r>
              <a:rPr lang="en-US" sz="1050" b="0" spc="0" dirty="0">
                <a:solidFill>
                  <a:srgbClr val="4A423A"/>
                </a:solidFill>
                <a:latin typeface="Segoe UI"/>
                <a:cs typeface="Segoe UI"/>
              </a:rPr>
              <a:t>Handbook answers with citations.</a:t>
            </a:r>
          </a:p>
        </p:txBody>
      </p:sp>
      <p:sp>
        <p:nvSpPr>
          <p:cNvPr id="62" name="s62"/>
          <p:cNvSpPr/>
          <p:nvPr/>
        </p:nvSpPr>
        <p:spPr>
          <a:xfrm>
            <a:off x="6496000" y="3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63" name="s63"/>
          <p:cNvSpPr/>
          <p:nvPr/>
        </p:nvSpPr>
        <p:spPr>
          <a:xfrm>
            <a:off x="6496000" y="3040000"/>
            <a:ext cx="44000" cy="980000"/>
          </a:xfrm>
          <a:prstGeom prst="rect">
            <a:avLst/>
          </a:prstGeom>
          <a:solidFill>
            <a:srgbClr val="B4553A"/>
          </a:solidFill>
          <a:ln>
            <a:noFill/>
          </a:ln>
        </p:spPr>
        <p:txBody>
          <a:bodyPr/>
          <a:lstStyle/>
          <a:p>
            <a:endParaRPr lang="en-US"/>
          </a:p>
        </p:txBody>
      </p:sp>
      <p:sp>
        <p:nvSpPr>
          <p:cNvPr id="64" name="t64"/>
          <p:cNvSpPr txBox="1"/>
          <p:nvPr/>
        </p:nvSpPr>
        <p:spPr>
          <a:xfrm>
            <a:off x="6736000" y="3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Answer only from the attached handbook.</a:t>
            </a:r>
          </a:p>
          <a:p>
            <a:pPr algn="l">
              <a:lnSpc>
                <a:spcPct val="110000"/>
              </a:lnSpc>
              <a:spcBef>
                <a:spcPts val="260"/>
              </a:spcBef>
            </a:pPr>
            <a:r>
              <a:rPr lang="en-US" sz="950" b="0" spc="0" dirty="0">
                <a:solidFill>
                  <a:srgbClr val="2E2A26"/>
                </a:solidFill>
                <a:latin typeface="Consolas"/>
                <a:cs typeface="Consolas"/>
              </a:rPr>
              <a:t>Question: [employee question].</a:t>
            </a:r>
          </a:p>
          <a:p>
            <a:pPr algn="l">
              <a:lnSpc>
                <a:spcPct val="110000"/>
              </a:lnSpc>
              <a:spcBef>
                <a:spcPts val="260"/>
              </a:spcBef>
            </a:pPr>
            <a:r>
              <a:rPr lang="en-US" sz="950" b="0" spc="0" dirty="0">
                <a:solidFill>
                  <a:srgbClr val="2E2A26"/>
                </a:solidFill>
                <a:latin typeface="Consolas"/>
                <a:cs typeface="Consolas"/>
              </a:rPr>
              <a:t>Quote the clause and section number used.</a:t>
            </a:r>
          </a:p>
          <a:p>
            <a:pPr algn="l">
              <a:lnSpc>
                <a:spcPct val="110000"/>
              </a:lnSpc>
              <a:spcBef>
                <a:spcPts val="260"/>
              </a:spcBef>
            </a:pPr>
            <a:r>
              <a:rPr lang="en-US" sz="950" b="0" spc="0" dirty="0">
                <a:solidFill>
                  <a:srgbClr val="2E2A26"/>
                </a:solidFill>
                <a:latin typeface="Consolas"/>
                <a:cs typeface="Consolas"/>
              </a:rPr>
              <a:t>If not covered, say so and route to HR.</a:t>
            </a:r>
          </a:p>
        </p:txBody>
      </p:sp>
      <p:sp>
        <p:nvSpPr>
          <p:cNvPr id="65" name="s65"/>
          <p:cNvSpPr/>
          <p:nvPr/>
        </p:nvSpPr>
        <p:spPr>
          <a:xfrm>
            <a:off x="838200" y="4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66" name="s66"/>
          <p:cNvSpPr/>
          <p:nvPr/>
        </p:nvSpPr>
        <p:spPr>
          <a:xfrm>
            <a:off x="838200" y="4320000"/>
            <a:ext cx="5137800" cy="110000"/>
          </a:xfrm>
          <a:prstGeom prst="roundRect">
            <a:avLst>
              <a:gd name="adj" fmla="val 20000"/>
            </a:avLst>
          </a:prstGeom>
          <a:solidFill>
            <a:srgbClr val="B4553A"/>
          </a:solidFill>
          <a:ln>
            <a:noFill/>
          </a:ln>
        </p:spPr>
        <p:txBody>
          <a:bodyPr/>
          <a:lstStyle/>
          <a:p>
            <a:endParaRPr lang="en-US"/>
          </a:p>
        </p:txBody>
      </p:sp>
      <p:sp>
        <p:nvSpPr>
          <p:cNvPr id="67" name="t67"/>
          <p:cNvSpPr txBox="1"/>
          <p:nvPr/>
        </p:nvSpPr>
        <p:spPr>
          <a:xfrm>
            <a:off x="1138200" y="4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Employee communications</a:t>
            </a:r>
          </a:p>
          <a:p>
            <a:pPr algn="l">
              <a:lnSpc>
                <a:spcPct val="115000"/>
              </a:lnSpc>
              <a:spcBef>
                <a:spcPts val="300"/>
              </a:spcBef>
            </a:pPr>
            <a:r>
              <a:rPr lang="en-US" sz="1050" b="0" spc="0" dirty="0">
                <a:solidFill>
                  <a:srgbClr val="4A423A"/>
                </a:solidFill>
                <a:latin typeface="Segoe UI"/>
                <a:cs typeface="Segoe UI"/>
              </a:rPr>
              <a:t>One message, three audiences.</a:t>
            </a:r>
          </a:p>
        </p:txBody>
      </p:sp>
      <p:sp>
        <p:nvSpPr>
          <p:cNvPr id="68" name="s68"/>
          <p:cNvSpPr/>
          <p:nvPr/>
        </p:nvSpPr>
        <p:spPr>
          <a:xfrm>
            <a:off x="1118200" y="5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69" name="s69"/>
          <p:cNvSpPr/>
          <p:nvPr/>
        </p:nvSpPr>
        <p:spPr>
          <a:xfrm>
            <a:off x="1118200" y="5040000"/>
            <a:ext cx="44000" cy="980000"/>
          </a:xfrm>
          <a:prstGeom prst="rect">
            <a:avLst/>
          </a:prstGeom>
          <a:solidFill>
            <a:srgbClr val="B4553A"/>
          </a:solidFill>
          <a:ln>
            <a:noFill/>
          </a:ln>
        </p:spPr>
        <p:txBody>
          <a:bodyPr/>
          <a:lstStyle/>
          <a:p>
            <a:endParaRPr lang="en-US"/>
          </a:p>
        </p:txBody>
      </p:sp>
      <p:sp>
        <p:nvSpPr>
          <p:cNvPr id="70" name="t70"/>
          <p:cNvSpPr txBox="1"/>
          <p:nvPr/>
        </p:nvSpPr>
        <p:spPr>
          <a:xfrm>
            <a:off x="1358200" y="5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Draft an announcement about [change] in</a:t>
            </a:r>
          </a:p>
          <a:p>
            <a:pPr algn="l">
              <a:lnSpc>
                <a:spcPct val="110000"/>
              </a:lnSpc>
              <a:spcBef>
                <a:spcPts val="260"/>
              </a:spcBef>
            </a:pPr>
            <a:r>
              <a:rPr lang="en-US" sz="950" b="0" spc="0" dirty="0">
                <a:solidFill>
                  <a:srgbClr val="2E2A26"/>
                </a:solidFill>
                <a:latin typeface="Consolas"/>
                <a:cs typeface="Consolas"/>
              </a:rPr>
              <a:t>three versions: email (200 words), manager</a:t>
            </a:r>
          </a:p>
          <a:p>
            <a:pPr algn="l">
              <a:lnSpc>
                <a:spcPct val="110000"/>
              </a:lnSpc>
              <a:spcBef>
                <a:spcPts val="260"/>
              </a:spcBef>
            </a:pPr>
            <a:r>
              <a:rPr lang="en-US" sz="950" b="0" spc="0" dirty="0">
                <a:solidFill>
                  <a:srgbClr val="2E2A26"/>
                </a:solidFill>
                <a:latin typeface="Consolas"/>
                <a:cs typeface="Consolas"/>
              </a:rPr>
              <a:t>talking points (6), FAQ (5 questions).</a:t>
            </a:r>
          </a:p>
          <a:p>
            <a:pPr algn="l">
              <a:lnSpc>
                <a:spcPct val="110000"/>
              </a:lnSpc>
              <a:spcBef>
                <a:spcPts val="260"/>
              </a:spcBef>
            </a:pPr>
            <a:r>
              <a:rPr lang="en-US" sz="950" b="0" spc="0" dirty="0">
                <a:solidFill>
                  <a:srgbClr val="2E2A26"/>
                </a:solidFill>
                <a:latin typeface="Consolas"/>
                <a:cs typeface="Consolas"/>
              </a:rPr>
              <a:t>Calm and factual. List expected questions.</a:t>
            </a:r>
          </a:p>
        </p:txBody>
      </p:sp>
      <p:sp>
        <p:nvSpPr>
          <p:cNvPr id="71" name="s71"/>
          <p:cNvSpPr/>
          <p:nvPr/>
        </p:nvSpPr>
        <p:spPr>
          <a:xfrm>
            <a:off x="6216000" y="4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72" name="s72"/>
          <p:cNvSpPr/>
          <p:nvPr/>
        </p:nvSpPr>
        <p:spPr>
          <a:xfrm>
            <a:off x="6216000" y="4320000"/>
            <a:ext cx="5137800" cy="110000"/>
          </a:xfrm>
          <a:prstGeom prst="roundRect">
            <a:avLst>
              <a:gd name="adj" fmla="val 20000"/>
            </a:avLst>
          </a:prstGeom>
          <a:solidFill>
            <a:srgbClr val="B4553A"/>
          </a:solidFill>
          <a:ln>
            <a:noFill/>
          </a:ln>
        </p:spPr>
        <p:txBody>
          <a:bodyPr/>
          <a:lstStyle/>
          <a:p>
            <a:endParaRPr lang="en-US"/>
          </a:p>
        </p:txBody>
      </p:sp>
      <p:sp>
        <p:nvSpPr>
          <p:cNvPr id="73" name="t73"/>
          <p:cNvSpPr txBox="1"/>
          <p:nvPr/>
        </p:nvSpPr>
        <p:spPr>
          <a:xfrm>
            <a:off x="6516000" y="4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Exit insight</a:t>
            </a:r>
          </a:p>
          <a:p>
            <a:pPr algn="l">
              <a:lnSpc>
                <a:spcPct val="115000"/>
              </a:lnSpc>
              <a:spcBef>
                <a:spcPts val="300"/>
              </a:spcBef>
            </a:pPr>
            <a:r>
              <a:rPr lang="en-US" sz="1050" b="0" spc="0" dirty="0">
                <a:solidFill>
                  <a:srgbClr val="4A423A"/>
                </a:solidFill>
                <a:latin typeface="Segoe UI"/>
                <a:cs typeface="Segoe UI"/>
              </a:rPr>
              <a:t>Themes, not anecdotes.</a:t>
            </a:r>
          </a:p>
        </p:txBody>
      </p:sp>
      <p:sp>
        <p:nvSpPr>
          <p:cNvPr id="74" name="s74"/>
          <p:cNvSpPr/>
          <p:nvPr/>
        </p:nvSpPr>
        <p:spPr>
          <a:xfrm>
            <a:off x="6496000" y="5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75" name="s75"/>
          <p:cNvSpPr/>
          <p:nvPr/>
        </p:nvSpPr>
        <p:spPr>
          <a:xfrm>
            <a:off x="6496000" y="5040000"/>
            <a:ext cx="44000" cy="980000"/>
          </a:xfrm>
          <a:prstGeom prst="rect">
            <a:avLst/>
          </a:prstGeom>
          <a:solidFill>
            <a:srgbClr val="B4553A"/>
          </a:solidFill>
          <a:ln>
            <a:noFill/>
          </a:ln>
        </p:spPr>
        <p:txBody>
          <a:bodyPr/>
          <a:lstStyle/>
          <a:p>
            <a:endParaRPr lang="en-US"/>
          </a:p>
        </p:txBody>
      </p:sp>
      <p:sp>
        <p:nvSpPr>
          <p:cNvPr id="76" name="t76"/>
          <p:cNvSpPr txBox="1"/>
          <p:nvPr/>
        </p:nvSpPr>
        <p:spPr>
          <a:xfrm>
            <a:off x="6736000" y="5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Classify the attached exit comments as</a:t>
            </a:r>
          </a:p>
          <a:p>
            <a:pPr algn="l">
              <a:lnSpc>
                <a:spcPct val="110000"/>
              </a:lnSpc>
              <a:spcBef>
                <a:spcPts val="260"/>
              </a:spcBef>
            </a:pPr>
            <a:r>
              <a:rPr lang="en-US" sz="950" b="0" spc="0" dirty="0">
                <a:solidFill>
                  <a:srgbClr val="2E2A26"/>
                </a:solidFill>
                <a:latin typeface="Consolas"/>
                <a:cs typeface="Consolas"/>
              </a:rPr>
              <a:t>manager, pay, growth, workload, culture.</a:t>
            </a:r>
          </a:p>
          <a:p>
            <a:pPr algn="l">
              <a:lnSpc>
                <a:spcPct val="110000"/>
              </a:lnSpc>
              <a:spcBef>
                <a:spcPts val="260"/>
              </a:spcBef>
            </a:pPr>
            <a:r>
              <a:rPr lang="en-US" sz="950" b="0" spc="0" dirty="0">
                <a:solidFill>
                  <a:srgbClr val="2E2A26"/>
                </a:solidFill>
                <a:latin typeface="Consolas"/>
                <a:cs typeface="Consolas"/>
              </a:rPr>
              <a:t>Give counts, three verbatim examples each,</a:t>
            </a:r>
          </a:p>
          <a:p>
            <a:pPr algn="l">
              <a:lnSpc>
                <a:spcPct val="110000"/>
              </a:lnSpc>
              <a:spcBef>
                <a:spcPts val="260"/>
              </a:spcBef>
            </a:pPr>
            <a:r>
              <a:rPr lang="en-US" sz="950" b="0" spc="0" dirty="0">
                <a:solidFill>
                  <a:srgbClr val="2E2A26"/>
                </a:solidFill>
                <a:latin typeface="Consolas"/>
                <a:cs typeface="Consolas"/>
              </a:rPr>
              <a:t>and the two fastest-rising themes.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s77"/>
          <p:cNvSpPr/>
          <p:nvPr/>
        </p:nvSpPr>
        <p:spPr>
          <a:xfrm>
            <a:off x="0" y="0"/>
            <a:ext cx="12192000" cy="6858000"/>
          </a:xfrm>
          <a:prstGeom prst="rect">
            <a:avLst/>
          </a:prstGeom>
          <a:solidFill>
            <a:srgbClr val="F3EBDD"/>
          </a:solidFill>
          <a:ln>
            <a:noFill/>
          </a:ln>
        </p:spPr>
        <p:txBody>
          <a:bodyPr/>
          <a:lstStyle/>
          <a:p>
            <a:endParaRPr lang="en-US"/>
          </a:p>
        </p:txBody>
      </p:sp>
      <p:sp>
        <p:nvSpPr>
          <p:cNvPr id="78" name="s78"/>
          <p:cNvSpPr/>
          <p:nvPr/>
        </p:nvSpPr>
        <p:spPr>
          <a:xfrm>
            <a:off x="0" y="0"/>
            <a:ext cx="12192000" cy="80000"/>
          </a:xfrm>
          <a:prstGeom prst="rect">
            <a:avLst/>
          </a:prstGeom>
          <a:solidFill>
            <a:srgbClr val="B4553A"/>
          </a:solidFill>
          <a:ln>
            <a:noFill/>
          </a:ln>
        </p:spPr>
        <p:txBody>
          <a:bodyPr/>
          <a:lstStyle/>
          <a:p>
            <a:endParaRPr lang="en-US"/>
          </a:p>
        </p:txBody>
      </p:sp>
      <p:sp>
        <p:nvSpPr>
          <p:cNvPr id="79" name="s79"/>
          <p:cNvSpPr/>
          <p:nvPr/>
        </p:nvSpPr>
        <p:spPr>
          <a:xfrm>
            <a:off x="838200" y="520700"/>
            <a:ext cx="180000" cy="180000"/>
          </a:xfrm>
          <a:prstGeom prst="ellipse">
            <a:avLst/>
          </a:prstGeom>
          <a:solidFill>
            <a:srgbClr val="7A7A4E"/>
          </a:solidFill>
          <a:ln>
            <a:noFill/>
          </a:ln>
        </p:spPr>
        <p:txBody>
          <a:bodyPr/>
          <a:lstStyle/>
          <a:p>
            <a:endParaRPr lang="en-US"/>
          </a:p>
        </p:txBody>
      </p:sp>
      <p:sp>
        <p:nvSpPr>
          <p:cNvPr id="80" name="t80"/>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LIBRARY 03</a:t>
            </a:r>
          </a:p>
        </p:txBody>
      </p:sp>
      <p:sp>
        <p:nvSpPr>
          <p:cNvPr id="81" name="t81"/>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Performance Management Prompts</a:t>
            </a:r>
          </a:p>
        </p:txBody>
      </p:sp>
      <p:sp>
        <p:nvSpPr>
          <p:cNvPr id="82" name="s82"/>
          <p:cNvSpPr/>
          <p:nvPr/>
        </p:nvSpPr>
        <p:spPr>
          <a:xfrm>
            <a:off x="838200" y="1540000"/>
            <a:ext cx="3200000" cy="26000"/>
          </a:xfrm>
          <a:prstGeom prst="rect">
            <a:avLst/>
          </a:prstGeom>
          <a:solidFill>
            <a:srgbClr val="B4553A"/>
          </a:solidFill>
          <a:ln>
            <a:noFill/>
          </a:ln>
        </p:spPr>
        <p:txBody>
          <a:bodyPr/>
          <a:lstStyle/>
          <a:p>
            <a:endParaRPr lang="en-US"/>
          </a:p>
        </p:txBody>
      </p:sp>
      <p:sp>
        <p:nvSpPr>
          <p:cNvPr id="83" name="t83"/>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Goal setting, review drafting, calibration, and the conversations managers dread.</a:t>
            </a:r>
          </a:p>
        </p:txBody>
      </p:sp>
      <p:sp>
        <p:nvSpPr>
          <p:cNvPr id="84" name="s84"/>
          <p:cNvSpPr/>
          <p:nvPr/>
        </p:nvSpPr>
        <p:spPr>
          <a:xfrm>
            <a:off x="838200" y="6420000"/>
            <a:ext cx="10515600" cy="12700"/>
          </a:xfrm>
          <a:prstGeom prst="rect">
            <a:avLst/>
          </a:prstGeom>
          <a:solidFill>
            <a:srgbClr val="E0CDB0"/>
          </a:solidFill>
          <a:ln>
            <a:noFill/>
          </a:ln>
        </p:spPr>
        <p:txBody>
          <a:bodyPr/>
          <a:lstStyle/>
          <a:p>
            <a:endParaRPr lang="en-US"/>
          </a:p>
        </p:txBody>
      </p:sp>
      <p:sp>
        <p:nvSpPr>
          <p:cNvPr id="85" name="t85"/>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Reusable HR prompt library</a:t>
            </a:r>
          </a:p>
        </p:txBody>
      </p:sp>
      <p:sp>
        <p:nvSpPr>
          <p:cNvPr id="86" name="s86"/>
          <p:cNvSpPr/>
          <p:nvPr/>
        </p:nvSpPr>
        <p:spPr>
          <a:xfrm>
            <a:off x="838200" y="2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87" name="s87"/>
          <p:cNvSpPr/>
          <p:nvPr/>
        </p:nvSpPr>
        <p:spPr>
          <a:xfrm>
            <a:off x="838200" y="2320000"/>
            <a:ext cx="5137800" cy="110000"/>
          </a:xfrm>
          <a:prstGeom prst="roundRect">
            <a:avLst>
              <a:gd name="adj" fmla="val 20000"/>
            </a:avLst>
          </a:prstGeom>
          <a:solidFill>
            <a:srgbClr val="B4553A"/>
          </a:solidFill>
          <a:ln>
            <a:noFill/>
          </a:ln>
        </p:spPr>
        <p:txBody>
          <a:bodyPr/>
          <a:lstStyle/>
          <a:p>
            <a:endParaRPr lang="en-US"/>
          </a:p>
        </p:txBody>
      </p:sp>
      <p:sp>
        <p:nvSpPr>
          <p:cNvPr id="88" name="t88"/>
          <p:cNvSpPr txBox="1"/>
          <p:nvPr/>
        </p:nvSpPr>
        <p:spPr>
          <a:xfrm>
            <a:off x="1138200" y="2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Goal setting</a:t>
            </a:r>
          </a:p>
          <a:p>
            <a:pPr algn="l">
              <a:lnSpc>
                <a:spcPct val="115000"/>
              </a:lnSpc>
              <a:spcBef>
                <a:spcPts val="300"/>
              </a:spcBef>
            </a:pPr>
            <a:r>
              <a:rPr lang="en-US" sz="1050" b="0" spc="0" dirty="0">
                <a:solidFill>
                  <a:srgbClr val="4A423A"/>
                </a:solidFill>
                <a:latin typeface="Segoe UI"/>
                <a:cs typeface="Segoe UI"/>
              </a:rPr>
              <a:t>Vague intentions into measurable goals.</a:t>
            </a:r>
          </a:p>
        </p:txBody>
      </p:sp>
      <p:sp>
        <p:nvSpPr>
          <p:cNvPr id="89" name="s89"/>
          <p:cNvSpPr/>
          <p:nvPr/>
        </p:nvSpPr>
        <p:spPr>
          <a:xfrm>
            <a:off x="1118200" y="3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90" name="s90"/>
          <p:cNvSpPr/>
          <p:nvPr/>
        </p:nvSpPr>
        <p:spPr>
          <a:xfrm>
            <a:off x="1118200" y="3040000"/>
            <a:ext cx="44000" cy="980000"/>
          </a:xfrm>
          <a:prstGeom prst="rect">
            <a:avLst/>
          </a:prstGeom>
          <a:solidFill>
            <a:srgbClr val="B4553A"/>
          </a:solidFill>
          <a:ln>
            <a:noFill/>
          </a:ln>
        </p:spPr>
        <p:txBody>
          <a:bodyPr/>
          <a:lstStyle/>
          <a:p>
            <a:endParaRPr lang="en-US"/>
          </a:p>
        </p:txBody>
      </p:sp>
      <p:sp>
        <p:nvSpPr>
          <p:cNvPr id="91" name="t91"/>
          <p:cNvSpPr txBox="1"/>
          <p:nvPr/>
        </p:nvSpPr>
        <p:spPr>
          <a:xfrm>
            <a:off x="1358200" y="3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Rewrite [paste objectives] as SMART goals</a:t>
            </a:r>
          </a:p>
          <a:p>
            <a:pPr algn="l">
              <a:lnSpc>
                <a:spcPct val="110000"/>
              </a:lnSpc>
              <a:spcBef>
                <a:spcPts val="260"/>
              </a:spcBef>
            </a:pPr>
            <a:r>
              <a:rPr lang="en-US" sz="950" b="0" spc="0" dirty="0">
                <a:solidFill>
                  <a:srgbClr val="2E2A26"/>
                </a:solidFill>
                <a:latin typeface="Consolas"/>
                <a:cs typeface="Consolas"/>
              </a:rPr>
              <a:t>for a [role] in [function].</a:t>
            </a:r>
          </a:p>
          <a:p>
            <a:pPr algn="l">
              <a:lnSpc>
                <a:spcPct val="110000"/>
              </a:lnSpc>
              <a:spcBef>
                <a:spcPts val="260"/>
              </a:spcBef>
            </a:pPr>
            <a:r>
              <a:rPr lang="en-US" sz="950" b="0" spc="0" dirty="0">
                <a:solidFill>
                  <a:srgbClr val="2E2A26"/>
                </a:solidFill>
                <a:latin typeface="Consolas"/>
                <a:cs typeface="Consolas"/>
              </a:rPr>
              <a:t>Each: measure, target, deadline, dependency.</a:t>
            </a:r>
          </a:p>
          <a:p>
            <a:pPr algn="l">
              <a:lnSpc>
                <a:spcPct val="110000"/>
              </a:lnSpc>
              <a:spcBef>
                <a:spcPts val="260"/>
              </a:spcBef>
            </a:pPr>
            <a:r>
              <a:rPr lang="en-US" sz="950" b="0" spc="0" dirty="0">
                <a:solidFill>
                  <a:srgbClr val="2E2A26"/>
                </a:solidFill>
                <a:latin typeface="Consolas"/>
                <a:cs typeface="Consolas"/>
              </a:rPr>
              <a:t>Flag goals outside this person's control.</a:t>
            </a:r>
          </a:p>
        </p:txBody>
      </p:sp>
      <p:sp>
        <p:nvSpPr>
          <p:cNvPr id="92" name="s92"/>
          <p:cNvSpPr/>
          <p:nvPr/>
        </p:nvSpPr>
        <p:spPr>
          <a:xfrm>
            <a:off x="6216000" y="2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93" name="s93"/>
          <p:cNvSpPr/>
          <p:nvPr/>
        </p:nvSpPr>
        <p:spPr>
          <a:xfrm>
            <a:off x="6216000" y="2320000"/>
            <a:ext cx="5137800" cy="110000"/>
          </a:xfrm>
          <a:prstGeom prst="roundRect">
            <a:avLst>
              <a:gd name="adj" fmla="val 20000"/>
            </a:avLst>
          </a:prstGeom>
          <a:solidFill>
            <a:srgbClr val="B4553A"/>
          </a:solidFill>
          <a:ln>
            <a:noFill/>
          </a:ln>
        </p:spPr>
        <p:txBody>
          <a:bodyPr/>
          <a:lstStyle/>
          <a:p>
            <a:endParaRPr lang="en-US"/>
          </a:p>
        </p:txBody>
      </p:sp>
      <p:sp>
        <p:nvSpPr>
          <p:cNvPr id="94" name="t94"/>
          <p:cNvSpPr txBox="1"/>
          <p:nvPr/>
        </p:nvSpPr>
        <p:spPr>
          <a:xfrm>
            <a:off x="6516000" y="2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Review drafting</a:t>
            </a:r>
          </a:p>
          <a:p>
            <a:pPr algn="l">
              <a:lnSpc>
                <a:spcPct val="115000"/>
              </a:lnSpc>
              <a:spcBef>
                <a:spcPts val="300"/>
              </a:spcBef>
            </a:pPr>
            <a:r>
              <a:rPr lang="en-US" sz="1050" b="0" spc="0" dirty="0">
                <a:solidFill>
                  <a:srgbClr val="4A423A"/>
                </a:solidFill>
                <a:latin typeface="Segoe UI"/>
                <a:cs typeface="Segoe UI"/>
              </a:rPr>
              <a:t>Evidence first, adjectives later.</a:t>
            </a:r>
          </a:p>
        </p:txBody>
      </p:sp>
      <p:sp>
        <p:nvSpPr>
          <p:cNvPr id="95" name="s95"/>
          <p:cNvSpPr/>
          <p:nvPr/>
        </p:nvSpPr>
        <p:spPr>
          <a:xfrm>
            <a:off x="6496000" y="3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96" name="s96"/>
          <p:cNvSpPr/>
          <p:nvPr/>
        </p:nvSpPr>
        <p:spPr>
          <a:xfrm>
            <a:off x="6496000" y="3040000"/>
            <a:ext cx="44000" cy="980000"/>
          </a:xfrm>
          <a:prstGeom prst="rect">
            <a:avLst/>
          </a:prstGeom>
          <a:solidFill>
            <a:srgbClr val="B4553A"/>
          </a:solidFill>
          <a:ln>
            <a:noFill/>
          </a:ln>
        </p:spPr>
        <p:txBody>
          <a:bodyPr/>
          <a:lstStyle/>
          <a:p>
            <a:endParaRPr lang="en-US"/>
          </a:p>
        </p:txBody>
      </p:sp>
      <p:sp>
        <p:nvSpPr>
          <p:cNvPr id="97" name="t97"/>
          <p:cNvSpPr txBox="1"/>
          <p:nvPr/>
        </p:nvSpPr>
        <p:spPr>
          <a:xfrm>
            <a:off x="6736000" y="3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Using only the attached evidence log,</a:t>
            </a:r>
          </a:p>
          <a:p>
            <a:pPr algn="l">
              <a:lnSpc>
                <a:spcPct val="110000"/>
              </a:lnSpc>
              <a:spcBef>
                <a:spcPts val="260"/>
              </a:spcBef>
            </a:pPr>
            <a:r>
              <a:rPr lang="en-US" sz="950" b="0" spc="0" dirty="0">
                <a:solidFill>
                  <a:srgbClr val="2E2A26"/>
                </a:solidFill>
                <a:latin typeface="Consolas"/>
                <a:cs typeface="Consolas"/>
              </a:rPr>
              <a:t>draft a review: went well, to improve,</a:t>
            </a:r>
          </a:p>
          <a:p>
            <a:pPr algn="l">
              <a:lnSpc>
                <a:spcPct val="110000"/>
              </a:lnSpc>
              <a:spcBef>
                <a:spcPts val="260"/>
              </a:spcBef>
            </a:pPr>
            <a:r>
              <a:rPr lang="en-US" sz="950" b="0" spc="0" dirty="0">
                <a:solidFill>
                  <a:srgbClr val="2E2A26"/>
                </a:solidFill>
                <a:latin typeface="Consolas"/>
                <a:cs typeface="Consolas"/>
              </a:rPr>
              <a:t>evidence per point, next-cycle focus.</a:t>
            </a:r>
          </a:p>
          <a:p>
            <a:pPr algn="l">
              <a:lnSpc>
                <a:spcPct val="110000"/>
              </a:lnSpc>
              <a:spcBef>
                <a:spcPts val="260"/>
              </a:spcBef>
            </a:pPr>
            <a:r>
              <a:rPr lang="en-US" sz="950" b="0" spc="0" dirty="0">
                <a:solidFill>
                  <a:srgbClr val="2E2A26"/>
                </a:solidFill>
                <a:latin typeface="Consolas"/>
                <a:cs typeface="Consolas"/>
              </a:rPr>
              <a:t>No personality judgements. Mark gaps.</a:t>
            </a:r>
          </a:p>
        </p:txBody>
      </p:sp>
      <p:sp>
        <p:nvSpPr>
          <p:cNvPr id="98" name="s98"/>
          <p:cNvSpPr/>
          <p:nvPr/>
        </p:nvSpPr>
        <p:spPr>
          <a:xfrm>
            <a:off x="838200" y="4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99" name="s99"/>
          <p:cNvSpPr/>
          <p:nvPr/>
        </p:nvSpPr>
        <p:spPr>
          <a:xfrm>
            <a:off x="838200" y="4320000"/>
            <a:ext cx="5137800" cy="110000"/>
          </a:xfrm>
          <a:prstGeom prst="roundRect">
            <a:avLst>
              <a:gd name="adj" fmla="val 20000"/>
            </a:avLst>
          </a:prstGeom>
          <a:solidFill>
            <a:srgbClr val="B4553A"/>
          </a:solidFill>
          <a:ln>
            <a:noFill/>
          </a:ln>
        </p:spPr>
        <p:txBody>
          <a:bodyPr/>
          <a:lstStyle/>
          <a:p>
            <a:endParaRPr lang="en-US"/>
          </a:p>
        </p:txBody>
      </p:sp>
      <p:sp>
        <p:nvSpPr>
          <p:cNvPr id="100" name="t100"/>
          <p:cNvSpPr txBox="1"/>
          <p:nvPr/>
        </p:nvSpPr>
        <p:spPr>
          <a:xfrm>
            <a:off x="1138200" y="4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Calibration prep</a:t>
            </a:r>
          </a:p>
          <a:p>
            <a:pPr algn="l">
              <a:lnSpc>
                <a:spcPct val="115000"/>
              </a:lnSpc>
              <a:spcBef>
                <a:spcPts val="300"/>
              </a:spcBef>
            </a:pPr>
            <a:r>
              <a:rPr lang="en-US" sz="1050" b="0" spc="0" dirty="0">
                <a:solidFill>
                  <a:srgbClr val="4A423A"/>
                </a:solidFill>
                <a:latin typeface="Segoe UI"/>
                <a:cs typeface="Segoe UI"/>
              </a:rPr>
              <a:t>Comparable summaries across a team.</a:t>
            </a:r>
          </a:p>
        </p:txBody>
      </p:sp>
      <p:sp>
        <p:nvSpPr>
          <p:cNvPr id="101" name="s101"/>
          <p:cNvSpPr/>
          <p:nvPr/>
        </p:nvSpPr>
        <p:spPr>
          <a:xfrm>
            <a:off x="1118200" y="5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102" name="s102"/>
          <p:cNvSpPr/>
          <p:nvPr/>
        </p:nvSpPr>
        <p:spPr>
          <a:xfrm>
            <a:off x="1118200" y="5040000"/>
            <a:ext cx="44000" cy="980000"/>
          </a:xfrm>
          <a:prstGeom prst="rect">
            <a:avLst/>
          </a:prstGeom>
          <a:solidFill>
            <a:srgbClr val="B4553A"/>
          </a:solidFill>
          <a:ln>
            <a:noFill/>
          </a:ln>
        </p:spPr>
        <p:txBody>
          <a:bodyPr/>
          <a:lstStyle/>
          <a:p>
            <a:endParaRPr lang="en-US"/>
          </a:p>
        </p:txBody>
      </p:sp>
      <p:sp>
        <p:nvSpPr>
          <p:cNvPr id="103" name="t103"/>
          <p:cNvSpPr txBox="1"/>
          <p:nvPr/>
        </p:nvSpPr>
        <p:spPr>
          <a:xfrm>
            <a:off x="1358200" y="5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Summarise each attached review into one</a:t>
            </a:r>
          </a:p>
          <a:p>
            <a:pPr algn="l">
              <a:lnSpc>
                <a:spcPct val="110000"/>
              </a:lnSpc>
              <a:spcBef>
                <a:spcPts val="260"/>
              </a:spcBef>
            </a:pPr>
            <a:r>
              <a:rPr lang="en-US" sz="950" b="0" spc="0" dirty="0">
                <a:solidFill>
                  <a:srgbClr val="2E2A26"/>
                </a:solidFill>
                <a:latin typeface="Consolas"/>
                <a:cs typeface="Consolas"/>
              </a:rPr>
              <a:t>calibration card: proposed rating, three</a:t>
            </a:r>
          </a:p>
          <a:p>
            <a:pPr algn="l">
              <a:lnSpc>
                <a:spcPct val="110000"/>
              </a:lnSpc>
              <a:spcBef>
                <a:spcPts val="260"/>
              </a:spcBef>
            </a:pPr>
            <a:r>
              <a:rPr lang="en-US" sz="950" b="0" spc="0" dirty="0">
                <a:solidFill>
                  <a:srgbClr val="2E2A26"/>
                </a:solidFill>
                <a:latin typeface="Consolas"/>
                <a:cs typeface="Consolas"/>
              </a:rPr>
              <a:t>evidence points, one question for the panel.</a:t>
            </a:r>
          </a:p>
          <a:p>
            <a:pPr algn="l">
              <a:lnSpc>
                <a:spcPct val="110000"/>
              </a:lnSpc>
              <a:spcBef>
                <a:spcPts val="260"/>
              </a:spcBef>
            </a:pPr>
            <a:r>
              <a:rPr lang="en-US" sz="950" b="0" spc="0" dirty="0">
                <a:solidFill>
                  <a:srgbClr val="2E2A26"/>
                </a:solidFill>
                <a:latin typeface="Consolas"/>
                <a:cs typeface="Consolas"/>
              </a:rPr>
              <a:t>Identical format for every person.</a:t>
            </a:r>
          </a:p>
        </p:txBody>
      </p:sp>
      <p:sp>
        <p:nvSpPr>
          <p:cNvPr id="104" name="s104"/>
          <p:cNvSpPr/>
          <p:nvPr/>
        </p:nvSpPr>
        <p:spPr>
          <a:xfrm>
            <a:off x="6216000" y="4320000"/>
            <a:ext cx="5137800" cy="1800000"/>
          </a:xfrm>
          <a:prstGeom prst="roundRect">
            <a:avLst>
              <a:gd name="adj" fmla="val 8000"/>
            </a:avLst>
          </a:prstGeom>
          <a:solidFill>
            <a:srgbClr val="FBF6EC"/>
          </a:solidFill>
          <a:ln w="12700">
            <a:solidFill>
              <a:srgbClr val="E0CDB0"/>
            </a:solidFill>
          </a:ln>
        </p:spPr>
        <p:txBody>
          <a:bodyPr/>
          <a:lstStyle/>
          <a:p>
            <a:endParaRPr lang="en-US"/>
          </a:p>
        </p:txBody>
      </p:sp>
      <p:sp>
        <p:nvSpPr>
          <p:cNvPr id="105" name="s105"/>
          <p:cNvSpPr/>
          <p:nvPr/>
        </p:nvSpPr>
        <p:spPr>
          <a:xfrm>
            <a:off x="6216000" y="4320000"/>
            <a:ext cx="5137800" cy="110000"/>
          </a:xfrm>
          <a:prstGeom prst="roundRect">
            <a:avLst>
              <a:gd name="adj" fmla="val 20000"/>
            </a:avLst>
          </a:prstGeom>
          <a:solidFill>
            <a:srgbClr val="B4553A"/>
          </a:solidFill>
          <a:ln>
            <a:noFill/>
          </a:ln>
        </p:spPr>
        <p:txBody>
          <a:bodyPr/>
          <a:lstStyle/>
          <a:p>
            <a:endParaRPr lang="en-US"/>
          </a:p>
        </p:txBody>
      </p:sp>
      <p:sp>
        <p:nvSpPr>
          <p:cNvPr id="106" name="t106"/>
          <p:cNvSpPr txBox="1"/>
          <p:nvPr/>
        </p:nvSpPr>
        <p:spPr>
          <a:xfrm>
            <a:off x="6516000" y="4560000"/>
            <a:ext cx="4537800" cy="460000"/>
          </a:xfrm>
          <a:prstGeom prst="rect">
            <a:avLst/>
          </a:prstGeom>
          <a:noFill/>
        </p:spPr>
        <p:txBody>
          <a:bodyPr wrap="square" lIns="0" tIns="0" rIns="0" bIns="0" anchor="t">
            <a:normAutofit/>
          </a:bodyPr>
          <a:lstStyle/>
          <a:p>
            <a:pPr algn="l">
              <a:lnSpc>
                <a:spcPct val="100000"/>
              </a:lnSpc>
              <a:spcBef>
                <a:spcPts val="0"/>
              </a:spcBef>
            </a:pPr>
            <a:r>
              <a:rPr lang="en-US" sz="1400" b="1" spc="0" dirty="0">
                <a:solidFill>
                  <a:srgbClr val="2E2A26"/>
                </a:solidFill>
                <a:latin typeface="Segoe UI"/>
                <a:cs typeface="Segoe UI"/>
              </a:rPr>
              <a:t>Difficult conversations</a:t>
            </a:r>
          </a:p>
          <a:p>
            <a:pPr algn="l">
              <a:lnSpc>
                <a:spcPct val="115000"/>
              </a:lnSpc>
              <a:spcBef>
                <a:spcPts val="300"/>
              </a:spcBef>
            </a:pPr>
            <a:r>
              <a:rPr lang="en-US" sz="1050" b="0" spc="0" dirty="0">
                <a:solidFill>
                  <a:srgbClr val="4A423A"/>
                </a:solidFill>
                <a:latin typeface="Segoe UI"/>
                <a:cs typeface="Segoe UI"/>
              </a:rPr>
              <a:t>Rehearse before the room.</a:t>
            </a:r>
          </a:p>
        </p:txBody>
      </p:sp>
      <p:sp>
        <p:nvSpPr>
          <p:cNvPr id="107" name="s107"/>
          <p:cNvSpPr/>
          <p:nvPr/>
        </p:nvSpPr>
        <p:spPr>
          <a:xfrm>
            <a:off x="6496000" y="5040000"/>
            <a:ext cx="4577800" cy="980000"/>
          </a:xfrm>
          <a:prstGeom prst="roundRect">
            <a:avLst>
              <a:gd name="adj" fmla="val 8000"/>
            </a:avLst>
          </a:prstGeom>
          <a:solidFill>
            <a:srgbClr val="F6EEE0"/>
          </a:solidFill>
          <a:ln w="12700">
            <a:solidFill>
              <a:srgbClr val="E0CDB0"/>
            </a:solidFill>
          </a:ln>
        </p:spPr>
        <p:txBody>
          <a:bodyPr/>
          <a:lstStyle/>
          <a:p>
            <a:endParaRPr lang="en-US"/>
          </a:p>
        </p:txBody>
      </p:sp>
      <p:sp>
        <p:nvSpPr>
          <p:cNvPr id="108" name="s108"/>
          <p:cNvSpPr/>
          <p:nvPr/>
        </p:nvSpPr>
        <p:spPr>
          <a:xfrm>
            <a:off x="6496000" y="5040000"/>
            <a:ext cx="44000" cy="980000"/>
          </a:xfrm>
          <a:prstGeom prst="rect">
            <a:avLst/>
          </a:prstGeom>
          <a:solidFill>
            <a:srgbClr val="B4553A"/>
          </a:solidFill>
          <a:ln>
            <a:noFill/>
          </a:ln>
        </p:spPr>
        <p:txBody>
          <a:bodyPr/>
          <a:lstStyle/>
          <a:p>
            <a:endParaRPr lang="en-US"/>
          </a:p>
        </p:txBody>
      </p:sp>
      <p:sp>
        <p:nvSpPr>
          <p:cNvPr id="109" name="t109"/>
          <p:cNvSpPr txBox="1"/>
          <p:nvPr/>
        </p:nvSpPr>
        <p:spPr>
          <a:xfrm>
            <a:off x="6736000" y="5190000"/>
            <a:ext cx="4117800" cy="720000"/>
          </a:xfrm>
          <a:prstGeom prst="rect">
            <a:avLst/>
          </a:prstGeom>
          <a:noFill/>
        </p:spPr>
        <p:txBody>
          <a:bodyPr wrap="square" lIns="0" tIns="0" rIns="0" bIns="0" anchor="t">
            <a:normAutofit lnSpcReduction="10000"/>
          </a:bodyPr>
          <a:lstStyle/>
          <a:p>
            <a:pPr algn="l">
              <a:lnSpc>
                <a:spcPct val="110000"/>
              </a:lnSpc>
              <a:spcBef>
                <a:spcPts val="0"/>
              </a:spcBef>
            </a:pPr>
            <a:r>
              <a:rPr lang="en-US" sz="950" b="0" spc="0" dirty="0">
                <a:solidFill>
                  <a:srgbClr val="2E2A26"/>
                </a:solidFill>
                <a:latin typeface="Consolas"/>
                <a:cs typeface="Consolas"/>
              </a:rPr>
              <a:t>Prepare a manager to discuss [issue]:</a:t>
            </a:r>
          </a:p>
          <a:p>
            <a:pPr algn="l">
              <a:lnSpc>
                <a:spcPct val="110000"/>
              </a:lnSpc>
              <a:spcBef>
                <a:spcPts val="260"/>
              </a:spcBef>
            </a:pPr>
            <a:r>
              <a:rPr lang="en-US" sz="950" b="0" spc="0" dirty="0">
                <a:solidFill>
                  <a:srgbClr val="2E2A26"/>
                </a:solidFill>
                <a:latin typeface="Consolas"/>
                <a:cs typeface="Consolas"/>
              </a:rPr>
              <a:t>opening line, three evidence statements,</a:t>
            </a:r>
          </a:p>
          <a:p>
            <a:pPr algn="l">
              <a:lnSpc>
                <a:spcPct val="110000"/>
              </a:lnSpc>
              <a:spcBef>
                <a:spcPts val="260"/>
              </a:spcBef>
            </a:pPr>
            <a:r>
              <a:rPr lang="en-US" sz="950" b="0" spc="0" dirty="0">
                <a:solidFill>
                  <a:srgbClr val="2E2A26"/>
                </a:solidFill>
                <a:latin typeface="Consolas"/>
                <a:cs typeface="Consolas"/>
              </a:rPr>
              <a:t>likely responses and how to handle them,</a:t>
            </a:r>
          </a:p>
          <a:p>
            <a:pPr algn="l">
              <a:lnSpc>
                <a:spcPct val="110000"/>
              </a:lnSpc>
              <a:spcBef>
                <a:spcPts val="260"/>
              </a:spcBef>
            </a:pPr>
            <a:r>
              <a:rPr lang="en-US" sz="950" b="0" spc="0" dirty="0">
                <a:solidFill>
                  <a:srgbClr val="2E2A26"/>
                </a:solidFill>
                <a:latin typeface="Consolas"/>
                <a:cs typeface="Consolas"/>
              </a:rPr>
              <a:t>a clear next step. No legal conclusions.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129"/>
          <p:cNvSpPr/>
          <p:nvPr/>
        </p:nvSpPr>
        <p:spPr>
          <a:xfrm>
            <a:off x="0" y="0"/>
            <a:ext cx="12192000" cy="6858000"/>
          </a:xfrm>
          <a:prstGeom prst="rect">
            <a:avLst/>
          </a:prstGeom>
          <a:solidFill>
            <a:srgbClr val="F3EBDD"/>
          </a:solidFill>
          <a:ln>
            <a:noFill/>
          </a:ln>
        </p:spPr>
        <p:txBody>
          <a:bodyPr/>
          <a:lstStyle/>
          <a:p>
            <a:endParaRPr lang="en-US"/>
          </a:p>
        </p:txBody>
      </p:sp>
      <p:sp>
        <p:nvSpPr>
          <p:cNvPr id="130" name="s130"/>
          <p:cNvSpPr/>
          <p:nvPr/>
        </p:nvSpPr>
        <p:spPr>
          <a:xfrm>
            <a:off x="0" y="0"/>
            <a:ext cx="12192000" cy="80000"/>
          </a:xfrm>
          <a:prstGeom prst="rect">
            <a:avLst/>
          </a:prstGeom>
          <a:solidFill>
            <a:srgbClr val="B4553A"/>
          </a:solidFill>
          <a:ln>
            <a:noFill/>
          </a:ln>
        </p:spPr>
        <p:txBody>
          <a:bodyPr/>
          <a:lstStyle/>
          <a:p>
            <a:endParaRPr lang="en-US"/>
          </a:p>
        </p:txBody>
      </p:sp>
      <p:sp>
        <p:nvSpPr>
          <p:cNvPr id="131" name="g131"/>
          <p:cNvSpPr/>
          <p:nvPr/>
        </p:nvSpPr>
        <p:spPr>
          <a:xfrm>
            <a:off x="7010400" y="0"/>
            <a:ext cx="5181600" cy="6858000"/>
          </a:xfrm>
          <a:prstGeom prst="rect">
            <a:avLst/>
          </a:prstGeom>
          <a:solidFill>
            <a:srgbClr val="332E29"/>
          </a:solidFill>
          <a:ln>
            <a:noFill/>
          </a:ln>
        </p:spPr>
        <p:txBody>
          <a:bodyPr/>
          <a:lstStyle/>
          <a:p>
            <a:endParaRPr lang="en-US"/>
          </a:p>
        </p:txBody>
      </p:sp>
      <p:sp>
        <p:nvSpPr>
          <p:cNvPr id="132" name="g132"/>
          <p:cNvSpPr/>
          <p:nvPr/>
        </p:nvSpPr>
        <p:spPr>
          <a:xfrm>
            <a:off x="7270400" y="1098200"/>
            <a:ext cx="4661600" cy="4661600"/>
          </a:xfrm>
          <a:prstGeom prst="ellipse">
            <a:avLst/>
          </a:prstGeom>
          <a:noFill/>
          <a:ln w="15000">
            <a:solidFill>
              <a:srgbClr val="F3EBDD"/>
            </a:solidFill>
          </a:ln>
        </p:spPr>
        <p:txBody>
          <a:bodyPr/>
          <a:lstStyle/>
          <a:p>
            <a:endParaRPr lang="en-US"/>
          </a:p>
        </p:txBody>
      </p:sp>
      <p:sp>
        <p:nvSpPr>
          <p:cNvPr id="133" name="g133"/>
          <p:cNvSpPr/>
          <p:nvPr/>
        </p:nvSpPr>
        <p:spPr>
          <a:xfrm>
            <a:off x="7829792" y="1890672"/>
            <a:ext cx="2144336" cy="2144336"/>
          </a:xfrm>
          <a:prstGeom prst="ellipse">
            <a:avLst/>
          </a:prstGeom>
          <a:solidFill>
            <a:srgbClr val="B4553A">
              <a:alpha val="72000"/>
            </a:srgbClr>
          </a:solidFill>
          <a:ln>
            <a:noFill/>
          </a:ln>
        </p:spPr>
        <p:txBody>
          <a:bodyPr/>
          <a:lstStyle/>
          <a:p>
            <a:endParaRPr lang="en-US"/>
          </a:p>
        </p:txBody>
      </p:sp>
      <p:sp>
        <p:nvSpPr>
          <p:cNvPr id="134" name="g134"/>
          <p:cNvSpPr/>
          <p:nvPr/>
        </p:nvSpPr>
        <p:spPr>
          <a:xfrm>
            <a:off x="9181656" y="2077136"/>
            <a:ext cx="2144336" cy="2144336"/>
          </a:xfrm>
          <a:prstGeom prst="ellipse">
            <a:avLst/>
          </a:prstGeom>
          <a:solidFill>
            <a:srgbClr val="7A7A4E">
              <a:alpha val="72000"/>
            </a:srgbClr>
          </a:solidFill>
          <a:ln>
            <a:noFill/>
          </a:ln>
        </p:spPr>
        <p:txBody>
          <a:bodyPr/>
          <a:lstStyle/>
          <a:p>
            <a:endParaRPr lang="en-US"/>
          </a:p>
        </p:txBody>
      </p:sp>
      <p:sp>
        <p:nvSpPr>
          <p:cNvPr id="135" name="g135"/>
          <p:cNvSpPr/>
          <p:nvPr/>
        </p:nvSpPr>
        <p:spPr>
          <a:xfrm>
            <a:off x="8435800" y="3056072"/>
            <a:ext cx="2144336" cy="2144336"/>
          </a:xfrm>
          <a:prstGeom prst="ellipse">
            <a:avLst/>
          </a:prstGeom>
          <a:solidFill>
            <a:srgbClr val="C08A2E">
              <a:alpha val="72000"/>
            </a:srgbClr>
          </a:solidFill>
          <a:ln>
            <a:noFill/>
          </a:ln>
        </p:spPr>
        <p:txBody>
          <a:bodyPr/>
          <a:lstStyle/>
          <a:p>
            <a:endParaRPr lang="en-US"/>
          </a:p>
        </p:txBody>
      </p:sp>
      <p:sp>
        <p:nvSpPr>
          <p:cNvPr id="136" name="t136"/>
          <p:cNvSpPr txBox="1"/>
          <p:nvPr/>
        </p:nvSpPr>
        <p:spPr>
          <a:xfrm>
            <a:off x="838200" y="1900000"/>
            <a:ext cx="5400000" cy="340000"/>
          </a:xfrm>
          <a:prstGeom prst="rect">
            <a:avLst/>
          </a:prstGeom>
          <a:noFill/>
        </p:spPr>
        <p:txBody>
          <a:bodyPr wrap="square" lIns="0" tIns="0" rIns="0" bIns="0" anchor="t">
            <a:normAutofit/>
          </a:bodyPr>
          <a:lstStyle/>
          <a:p>
            <a:pPr algn="l">
              <a:lnSpc>
                <a:spcPct val="100000"/>
              </a:lnSpc>
              <a:spcBef>
                <a:spcPts val="0"/>
              </a:spcBef>
            </a:pPr>
            <a:r>
              <a:rPr lang="en-US" sz="1400" b="1" spc="400" dirty="0">
                <a:solidFill>
                  <a:srgbClr val="B4553A"/>
                </a:solidFill>
                <a:latin typeface="Segoe UI"/>
                <a:cs typeface="Segoe UI"/>
              </a:rPr>
              <a:t>05</a:t>
            </a:r>
          </a:p>
        </p:txBody>
      </p:sp>
      <p:sp>
        <p:nvSpPr>
          <p:cNvPr id="137" name="s137"/>
          <p:cNvSpPr/>
          <p:nvPr/>
        </p:nvSpPr>
        <p:spPr>
          <a:xfrm>
            <a:off x="838200" y="2360000"/>
            <a:ext cx="1400000" cy="26000"/>
          </a:xfrm>
          <a:prstGeom prst="rect">
            <a:avLst/>
          </a:prstGeom>
          <a:solidFill>
            <a:srgbClr val="B4553A"/>
          </a:solidFill>
          <a:ln>
            <a:noFill/>
          </a:ln>
        </p:spPr>
        <p:txBody>
          <a:bodyPr/>
          <a:lstStyle/>
          <a:p>
            <a:endParaRPr lang="en-US"/>
          </a:p>
        </p:txBody>
      </p:sp>
      <p:sp>
        <p:nvSpPr>
          <p:cNvPr id="138" name="t138"/>
          <p:cNvSpPr txBox="1"/>
          <p:nvPr/>
        </p:nvSpPr>
        <p:spPr>
          <a:xfrm>
            <a:off x="838200" y="2640000"/>
            <a:ext cx="5400000" cy="2000000"/>
          </a:xfrm>
          <a:prstGeom prst="rect">
            <a:avLst/>
          </a:prstGeom>
          <a:noFill/>
        </p:spPr>
        <p:txBody>
          <a:bodyPr wrap="square" lIns="0" tIns="0" rIns="0" bIns="0" anchor="t">
            <a:normAutofit/>
          </a:bodyPr>
          <a:lstStyle/>
          <a:p>
            <a:pPr algn="l">
              <a:lnSpc>
                <a:spcPct val="104000"/>
              </a:lnSpc>
              <a:spcBef>
                <a:spcPts val="0"/>
              </a:spcBef>
            </a:pPr>
            <a:r>
              <a:rPr lang="en-US" sz="3400" b="1" spc="0" dirty="0">
                <a:solidFill>
                  <a:srgbClr val="2E2A26"/>
                </a:solidFill>
                <a:latin typeface="Georgia"/>
                <a:cs typeface="Georgia"/>
              </a:rPr>
              <a:t>Confidentiality and Governance</a:t>
            </a:r>
          </a:p>
        </p:txBody>
      </p:sp>
      <p:sp>
        <p:nvSpPr>
          <p:cNvPr id="139" name="t139"/>
          <p:cNvSpPr txBox="1"/>
          <p:nvPr/>
        </p:nvSpPr>
        <p:spPr>
          <a:xfrm>
            <a:off x="838200" y="4600000"/>
            <a:ext cx="5400000" cy="1000000"/>
          </a:xfrm>
          <a:prstGeom prst="rect">
            <a:avLst/>
          </a:prstGeom>
          <a:noFill/>
        </p:spPr>
        <p:txBody>
          <a:bodyPr wrap="square" lIns="0" tIns="0" rIns="0" bIns="0" anchor="t">
            <a:normAutofit/>
          </a:bodyPr>
          <a:lstStyle/>
          <a:p>
            <a:pPr algn="l">
              <a:lnSpc>
                <a:spcPct val="125000"/>
              </a:lnSpc>
              <a:spcBef>
                <a:spcPts val="0"/>
              </a:spcBef>
            </a:pPr>
            <a:r>
              <a:rPr lang="en-US" sz="1300" b="0" spc="0" dirty="0">
                <a:solidFill>
                  <a:srgbClr val="4A423A"/>
                </a:solidFill>
                <a:latin typeface="Segoe UI"/>
                <a:cs typeface="Segoe UI"/>
              </a:rPr>
              <a:t>What can go into a prompt, how to de-identify, and the controls that hold under audit.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11"/>
          <p:cNvSpPr/>
          <p:nvPr/>
        </p:nvSpPr>
        <p:spPr>
          <a:xfrm>
            <a:off x="0" y="0"/>
            <a:ext cx="12192000" cy="6858000"/>
          </a:xfrm>
          <a:prstGeom prst="rect">
            <a:avLst/>
          </a:prstGeom>
          <a:solidFill>
            <a:srgbClr val="F3EBDD"/>
          </a:solidFill>
          <a:ln>
            <a:noFill/>
          </a:ln>
        </p:spPr>
        <p:txBody>
          <a:bodyPr/>
          <a:lstStyle/>
          <a:p>
            <a:endParaRPr lang="en-US"/>
          </a:p>
        </p:txBody>
      </p:sp>
      <p:sp>
        <p:nvSpPr>
          <p:cNvPr id="12" name="s12"/>
          <p:cNvSpPr/>
          <p:nvPr/>
        </p:nvSpPr>
        <p:spPr>
          <a:xfrm>
            <a:off x="0" y="0"/>
            <a:ext cx="12192000" cy="80000"/>
          </a:xfrm>
          <a:prstGeom prst="rect">
            <a:avLst/>
          </a:prstGeom>
          <a:solidFill>
            <a:srgbClr val="B4553A"/>
          </a:solidFill>
          <a:ln>
            <a:noFill/>
          </a:ln>
        </p:spPr>
        <p:txBody>
          <a:bodyPr/>
          <a:lstStyle/>
          <a:p>
            <a:endParaRPr lang="en-US"/>
          </a:p>
        </p:txBody>
      </p:sp>
      <p:sp>
        <p:nvSpPr>
          <p:cNvPr id="13" name="s13"/>
          <p:cNvSpPr/>
          <p:nvPr/>
        </p:nvSpPr>
        <p:spPr>
          <a:xfrm>
            <a:off x="838200" y="520700"/>
            <a:ext cx="180000" cy="180000"/>
          </a:xfrm>
          <a:prstGeom prst="ellipse">
            <a:avLst/>
          </a:prstGeom>
          <a:solidFill>
            <a:srgbClr val="7A7A4E"/>
          </a:solidFill>
          <a:ln>
            <a:noFill/>
          </a:ln>
        </p:spPr>
        <p:txBody>
          <a:bodyPr/>
          <a:lstStyle/>
          <a:p>
            <a:endParaRPr lang="en-US"/>
          </a:p>
        </p:txBody>
      </p:sp>
      <p:sp>
        <p:nvSpPr>
          <p:cNvPr id="14" name="t14"/>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DATA CLASSIFICATION</a:t>
            </a:r>
          </a:p>
        </p:txBody>
      </p:sp>
      <p:sp>
        <p:nvSpPr>
          <p:cNvPr id="15" name="t15"/>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What Can Go Into a Prompt</a:t>
            </a:r>
          </a:p>
        </p:txBody>
      </p:sp>
      <p:sp>
        <p:nvSpPr>
          <p:cNvPr id="16" name="s16"/>
          <p:cNvSpPr/>
          <p:nvPr/>
        </p:nvSpPr>
        <p:spPr>
          <a:xfrm>
            <a:off x="838200" y="1540000"/>
            <a:ext cx="3200000" cy="26000"/>
          </a:xfrm>
          <a:prstGeom prst="rect">
            <a:avLst/>
          </a:prstGeom>
          <a:solidFill>
            <a:srgbClr val="B4553A"/>
          </a:solidFill>
          <a:ln>
            <a:noFill/>
          </a:ln>
        </p:spPr>
        <p:txBody>
          <a:bodyPr/>
          <a:lstStyle/>
          <a:p>
            <a:endParaRPr lang="en-US"/>
          </a:p>
        </p:txBody>
      </p:sp>
      <p:sp>
        <p:nvSpPr>
          <p:cNvPr id="17" name="t17"/>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Decide once, as a team, what is safe to paste — then make the rule visible wherever people work.</a:t>
            </a:r>
          </a:p>
        </p:txBody>
      </p:sp>
      <p:sp>
        <p:nvSpPr>
          <p:cNvPr id="18" name="s18"/>
          <p:cNvSpPr/>
          <p:nvPr/>
        </p:nvSpPr>
        <p:spPr>
          <a:xfrm>
            <a:off x="838200" y="6420000"/>
            <a:ext cx="10515600" cy="12700"/>
          </a:xfrm>
          <a:prstGeom prst="rect">
            <a:avLst/>
          </a:prstGeom>
          <a:solidFill>
            <a:srgbClr val="E0CDB0"/>
          </a:solidFill>
          <a:ln>
            <a:noFill/>
          </a:ln>
        </p:spPr>
        <p:txBody>
          <a:bodyPr/>
          <a:lstStyle/>
          <a:p>
            <a:endParaRPr lang="en-US"/>
          </a:p>
        </p:txBody>
      </p:sp>
      <p:sp>
        <p:nvSpPr>
          <p:cNvPr id="19" name="t19"/>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Protecting confidential employee information</a:t>
            </a:r>
          </a:p>
        </p:txBody>
      </p:sp>
      <p:sp>
        <p:nvSpPr>
          <p:cNvPr id="20" name="s20"/>
          <p:cNvSpPr/>
          <p:nvPr/>
        </p:nvSpPr>
        <p:spPr>
          <a:xfrm>
            <a:off x="838200" y="2320000"/>
            <a:ext cx="3345200" cy="3480000"/>
          </a:xfrm>
          <a:prstGeom prst="roundRect">
            <a:avLst>
              <a:gd name="adj" fmla="val 7000"/>
            </a:avLst>
          </a:prstGeom>
          <a:solidFill>
            <a:srgbClr val="FBF6EC"/>
          </a:solidFill>
          <a:ln w="12700">
            <a:solidFill>
              <a:srgbClr val="E0CDB0"/>
            </a:solidFill>
          </a:ln>
        </p:spPr>
        <p:txBody>
          <a:bodyPr/>
          <a:lstStyle/>
          <a:p>
            <a:endParaRPr lang="en-US"/>
          </a:p>
        </p:txBody>
      </p:sp>
      <p:sp>
        <p:nvSpPr>
          <p:cNvPr id="21" name="s21"/>
          <p:cNvSpPr/>
          <p:nvPr/>
        </p:nvSpPr>
        <p:spPr>
          <a:xfrm>
            <a:off x="838200" y="2320000"/>
            <a:ext cx="3345200" cy="150000"/>
          </a:xfrm>
          <a:prstGeom prst="roundRect">
            <a:avLst>
              <a:gd name="adj" fmla="val 20000"/>
            </a:avLst>
          </a:prstGeom>
          <a:solidFill>
            <a:srgbClr val="A33B2A"/>
          </a:solidFill>
          <a:ln>
            <a:noFill/>
          </a:ln>
        </p:spPr>
        <p:txBody>
          <a:bodyPr/>
          <a:lstStyle/>
          <a:p>
            <a:endParaRPr lang="en-US"/>
          </a:p>
        </p:txBody>
      </p:sp>
      <p:sp>
        <p:nvSpPr>
          <p:cNvPr id="22" name="s22"/>
          <p:cNvSpPr/>
          <p:nvPr/>
        </p:nvSpPr>
        <p:spPr>
          <a:xfrm>
            <a:off x="1138200" y="2660000"/>
            <a:ext cx="420000" cy="420000"/>
          </a:xfrm>
          <a:prstGeom prst="ellipse">
            <a:avLst/>
          </a:prstGeom>
          <a:solidFill>
            <a:srgbClr val="A33B2A"/>
          </a:solidFill>
          <a:ln>
            <a:noFill/>
          </a:ln>
        </p:spPr>
        <p:txBody>
          <a:bodyPr/>
          <a:lstStyle/>
          <a:p>
            <a:endParaRPr lang="en-US"/>
          </a:p>
        </p:txBody>
      </p:sp>
      <p:sp>
        <p:nvSpPr>
          <p:cNvPr id="23" name="t23"/>
          <p:cNvSpPr txBox="1"/>
          <p:nvPr/>
        </p:nvSpPr>
        <p:spPr>
          <a:xfrm>
            <a:off x="1138200" y="2660000"/>
            <a:ext cx="420000" cy="420000"/>
          </a:xfrm>
          <a:prstGeom prst="rect">
            <a:avLst/>
          </a:prstGeom>
          <a:noFill/>
        </p:spPr>
        <p:txBody>
          <a:bodyPr wrap="square" lIns="0" tIns="0" rIns="0" bIns="0" anchor="ctr">
            <a:normAutofit/>
          </a:bodyPr>
          <a:lstStyle/>
          <a:p>
            <a:pPr algn="ctr">
              <a:lnSpc>
                <a:spcPct val="100000"/>
              </a:lnSpc>
              <a:spcBef>
                <a:spcPts val="0"/>
              </a:spcBef>
            </a:pPr>
            <a:r>
              <a:rPr lang="en-US" sz="1000" b="1" spc="0" dirty="0">
                <a:solidFill>
                  <a:srgbClr val="FBF6EC"/>
                </a:solidFill>
                <a:latin typeface="Segoe UI"/>
                <a:cs typeface="Segoe UI"/>
              </a:rPr>
              <a:t>Stop</a:t>
            </a:r>
          </a:p>
        </p:txBody>
      </p:sp>
      <p:sp>
        <p:nvSpPr>
          <p:cNvPr id="24" name="t24"/>
          <p:cNvSpPr txBox="1"/>
          <p:nvPr/>
        </p:nvSpPr>
        <p:spPr>
          <a:xfrm>
            <a:off x="1138200" y="3220000"/>
            <a:ext cx="2745200" cy="300000"/>
          </a:xfrm>
          <a:prstGeom prst="rect">
            <a:avLst/>
          </a:prstGeom>
          <a:noFill/>
        </p:spPr>
        <p:txBody>
          <a:bodyPr wrap="square" lIns="0" tIns="0" rIns="0" bIns="0" anchor="t">
            <a:normAutofit/>
          </a:bodyPr>
          <a:lstStyle/>
          <a:p>
            <a:pPr algn="l">
              <a:lnSpc>
                <a:spcPct val="100000"/>
              </a:lnSpc>
              <a:spcBef>
                <a:spcPts val="0"/>
              </a:spcBef>
            </a:pPr>
            <a:r>
              <a:rPr lang="en-US" sz="1400" b="1" spc="100" dirty="0">
                <a:solidFill>
                  <a:srgbClr val="A33B2A"/>
                </a:solidFill>
                <a:latin typeface="Segoe UI"/>
                <a:cs typeface="Segoe UI"/>
              </a:rPr>
              <a:t>NEVER PASTE</a:t>
            </a:r>
          </a:p>
        </p:txBody>
      </p:sp>
      <p:sp>
        <p:nvSpPr>
          <p:cNvPr id="25" name="t25"/>
          <p:cNvSpPr txBox="1"/>
          <p:nvPr/>
        </p:nvSpPr>
        <p:spPr>
          <a:xfrm>
            <a:off x="1138200" y="3620000"/>
            <a:ext cx="2745200" cy="2080000"/>
          </a:xfrm>
          <a:prstGeom prst="rect">
            <a:avLst/>
          </a:prstGeom>
          <a:noFill/>
        </p:spPr>
        <p:txBody>
          <a:bodyPr wrap="square" lIns="0" tIns="0" rIns="0" bIns="0" anchor="t">
            <a:normAutofit/>
          </a:bodyPr>
          <a:lstStyle/>
          <a:p>
            <a:pPr algn="l">
              <a:lnSpc>
                <a:spcPct val="112000"/>
              </a:lnSpc>
              <a:spcBef>
                <a:spcPts val="700"/>
              </a:spcBef>
            </a:pPr>
            <a:r>
              <a:rPr lang="en-US" sz="1100" b="1" spc="0" dirty="0">
                <a:solidFill>
                  <a:srgbClr val="A33B2A"/>
                </a:solidFill>
                <a:latin typeface="Segoe UI"/>
                <a:cs typeface="Segoe UI"/>
              </a:rPr>
              <a:t>— </a:t>
            </a:r>
            <a:r>
              <a:rPr lang="en-US" sz="1150" b="0" spc="0" dirty="0">
                <a:solidFill>
                  <a:srgbClr val="4A423A"/>
                </a:solidFill>
                <a:latin typeface="Segoe UI"/>
                <a:cs typeface="Segoe UI"/>
              </a:rPr>
              <a:t>Names, employee IDs, email addresses</a:t>
            </a:r>
          </a:p>
          <a:p>
            <a:pPr algn="l">
              <a:lnSpc>
                <a:spcPct val="112000"/>
              </a:lnSpc>
              <a:spcBef>
                <a:spcPts val="700"/>
              </a:spcBef>
            </a:pPr>
            <a:r>
              <a:rPr lang="en-US" sz="1100" b="1" spc="0" dirty="0">
                <a:solidFill>
                  <a:srgbClr val="A33B2A"/>
                </a:solidFill>
                <a:latin typeface="Segoe UI"/>
                <a:cs typeface="Segoe UI"/>
              </a:rPr>
              <a:t>— </a:t>
            </a:r>
            <a:r>
              <a:rPr lang="en-US" sz="1150" b="0" spc="0" dirty="0">
                <a:solidFill>
                  <a:srgbClr val="4A423A"/>
                </a:solidFill>
                <a:latin typeface="Segoe UI"/>
                <a:cs typeface="Segoe UI"/>
              </a:rPr>
              <a:t>Salary, bank, PAN or Aadhaar-type IDs</a:t>
            </a:r>
          </a:p>
          <a:p>
            <a:pPr algn="l">
              <a:lnSpc>
                <a:spcPct val="112000"/>
              </a:lnSpc>
              <a:spcBef>
                <a:spcPts val="700"/>
              </a:spcBef>
            </a:pPr>
            <a:r>
              <a:rPr lang="en-US" sz="1100" b="1" spc="0" dirty="0">
                <a:solidFill>
                  <a:srgbClr val="A33B2A"/>
                </a:solidFill>
                <a:latin typeface="Segoe UI"/>
                <a:cs typeface="Segoe UI"/>
              </a:rPr>
              <a:t>— </a:t>
            </a:r>
            <a:r>
              <a:rPr lang="en-US" sz="1150" b="0" spc="0" dirty="0">
                <a:solidFill>
                  <a:srgbClr val="4A423A"/>
                </a:solidFill>
                <a:latin typeface="Segoe UI"/>
                <a:cs typeface="Segoe UI"/>
              </a:rPr>
              <a:t>Health, disability and medical notes</a:t>
            </a:r>
          </a:p>
          <a:p>
            <a:pPr algn="l">
              <a:lnSpc>
                <a:spcPct val="112000"/>
              </a:lnSpc>
              <a:spcBef>
                <a:spcPts val="700"/>
              </a:spcBef>
            </a:pPr>
            <a:r>
              <a:rPr lang="en-US" sz="1100" b="1" spc="0" dirty="0">
                <a:solidFill>
                  <a:srgbClr val="A33B2A"/>
                </a:solidFill>
                <a:latin typeface="Segoe UI"/>
                <a:cs typeface="Segoe UI"/>
              </a:rPr>
              <a:t>— </a:t>
            </a:r>
            <a:r>
              <a:rPr lang="en-US" sz="1150" b="0" spc="0" dirty="0">
                <a:solidFill>
                  <a:srgbClr val="4A423A"/>
                </a:solidFill>
                <a:latin typeface="Segoe UI"/>
                <a:cs typeface="Segoe UI"/>
              </a:rPr>
              <a:t>Disciplinary and grievance case files</a:t>
            </a:r>
          </a:p>
          <a:p>
            <a:pPr algn="l">
              <a:lnSpc>
                <a:spcPct val="112000"/>
              </a:lnSpc>
              <a:spcBef>
                <a:spcPts val="700"/>
              </a:spcBef>
            </a:pPr>
            <a:r>
              <a:rPr lang="en-US" sz="1100" b="1" spc="0" dirty="0">
                <a:solidFill>
                  <a:srgbClr val="A33B2A"/>
                </a:solidFill>
                <a:latin typeface="Segoe UI"/>
                <a:cs typeface="Segoe UI"/>
              </a:rPr>
              <a:t>— </a:t>
            </a:r>
            <a:r>
              <a:rPr lang="en-US" sz="1150" b="0" spc="0" dirty="0">
                <a:solidFill>
                  <a:srgbClr val="4A423A"/>
                </a:solidFill>
                <a:latin typeface="Segoe UI"/>
                <a:cs typeface="Segoe UI"/>
              </a:rPr>
              <a:t>Anything about an identifiable individual</a:t>
            </a:r>
          </a:p>
        </p:txBody>
      </p:sp>
      <p:sp>
        <p:nvSpPr>
          <p:cNvPr id="26" name="s26"/>
          <p:cNvSpPr/>
          <p:nvPr/>
        </p:nvSpPr>
        <p:spPr>
          <a:xfrm>
            <a:off x="4423400" y="2320000"/>
            <a:ext cx="3345200" cy="3480000"/>
          </a:xfrm>
          <a:prstGeom prst="roundRect">
            <a:avLst>
              <a:gd name="adj" fmla="val 7000"/>
            </a:avLst>
          </a:prstGeom>
          <a:solidFill>
            <a:srgbClr val="FBF6EC"/>
          </a:solidFill>
          <a:ln w="12700">
            <a:solidFill>
              <a:srgbClr val="E0CDB0"/>
            </a:solidFill>
          </a:ln>
        </p:spPr>
        <p:txBody>
          <a:bodyPr/>
          <a:lstStyle/>
          <a:p>
            <a:endParaRPr lang="en-US"/>
          </a:p>
        </p:txBody>
      </p:sp>
      <p:sp>
        <p:nvSpPr>
          <p:cNvPr id="27" name="s27"/>
          <p:cNvSpPr/>
          <p:nvPr/>
        </p:nvSpPr>
        <p:spPr>
          <a:xfrm>
            <a:off x="4423400" y="2320000"/>
            <a:ext cx="3345200" cy="150000"/>
          </a:xfrm>
          <a:prstGeom prst="roundRect">
            <a:avLst>
              <a:gd name="adj" fmla="val 20000"/>
            </a:avLst>
          </a:prstGeom>
          <a:solidFill>
            <a:srgbClr val="C08A2E"/>
          </a:solidFill>
          <a:ln>
            <a:noFill/>
          </a:ln>
        </p:spPr>
        <p:txBody>
          <a:bodyPr/>
          <a:lstStyle/>
          <a:p>
            <a:endParaRPr lang="en-US"/>
          </a:p>
        </p:txBody>
      </p:sp>
      <p:sp>
        <p:nvSpPr>
          <p:cNvPr id="28" name="s28"/>
          <p:cNvSpPr/>
          <p:nvPr/>
        </p:nvSpPr>
        <p:spPr>
          <a:xfrm>
            <a:off x="4723400" y="2660000"/>
            <a:ext cx="420000" cy="420000"/>
          </a:xfrm>
          <a:prstGeom prst="ellipse">
            <a:avLst/>
          </a:prstGeom>
          <a:solidFill>
            <a:srgbClr val="C08A2E"/>
          </a:solidFill>
          <a:ln>
            <a:noFill/>
          </a:ln>
        </p:spPr>
        <p:txBody>
          <a:bodyPr/>
          <a:lstStyle/>
          <a:p>
            <a:endParaRPr lang="en-US"/>
          </a:p>
        </p:txBody>
      </p:sp>
      <p:sp>
        <p:nvSpPr>
          <p:cNvPr id="29" name="t29"/>
          <p:cNvSpPr txBox="1"/>
          <p:nvPr/>
        </p:nvSpPr>
        <p:spPr>
          <a:xfrm>
            <a:off x="4723400" y="2660000"/>
            <a:ext cx="420000" cy="420000"/>
          </a:xfrm>
          <a:prstGeom prst="rect">
            <a:avLst/>
          </a:prstGeom>
          <a:noFill/>
        </p:spPr>
        <p:txBody>
          <a:bodyPr wrap="square" lIns="0" tIns="0" rIns="0" bIns="0" anchor="ctr">
            <a:normAutofit/>
          </a:bodyPr>
          <a:lstStyle/>
          <a:p>
            <a:pPr algn="ctr">
              <a:lnSpc>
                <a:spcPct val="100000"/>
              </a:lnSpc>
              <a:spcBef>
                <a:spcPts val="0"/>
              </a:spcBef>
            </a:pPr>
            <a:r>
              <a:rPr lang="en-US" sz="1000" b="1" spc="0" dirty="0">
                <a:solidFill>
                  <a:srgbClr val="FBF6EC"/>
                </a:solidFill>
                <a:latin typeface="Segoe UI"/>
                <a:cs typeface="Segoe UI"/>
              </a:rPr>
              <a:t>Care</a:t>
            </a:r>
          </a:p>
        </p:txBody>
      </p:sp>
      <p:sp>
        <p:nvSpPr>
          <p:cNvPr id="30" name="t30"/>
          <p:cNvSpPr txBox="1"/>
          <p:nvPr/>
        </p:nvSpPr>
        <p:spPr>
          <a:xfrm>
            <a:off x="4723400" y="3220000"/>
            <a:ext cx="2745200" cy="300000"/>
          </a:xfrm>
          <a:prstGeom prst="rect">
            <a:avLst/>
          </a:prstGeom>
          <a:noFill/>
        </p:spPr>
        <p:txBody>
          <a:bodyPr wrap="square" lIns="0" tIns="0" rIns="0" bIns="0" anchor="t">
            <a:normAutofit/>
          </a:bodyPr>
          <a:lstStyle/>
          <a:p>
            <a:pPr algn="l">
              <a:lnSpc>
                <a:spcPct val="100000"/>
              </a:lnSpc>
              <a:spcBef>
                <a:spcPts val="0"/>
              </a:spcBef>
            </a:pPr>
            <a:r>
              <a:rPr lang="en-US" sz="1400" b="1" spc="100" dirty="0">
                <a:solidFill>
                  <a:srgbClr val="C08A2E"/>
                </a:solidFill>
                <a:latin typeface="Segoe UI"/>
                <a:cs typeface="Segoe UI"/>
              </a:rPr>
              <a:t>ONLY IN APPROVED TOOLS</a:t>
            </a:r>
          </a:p>
        </p:txBody>
      </p:sp>
      <p:sp>
        <p:nvSpPr>
          <p:cNvPr id="31" name="t31"/>
          <p:cNvSpPr txBox="1"/>
          <p:nvPr/>
        </p:nvSpPr>
        <p:spPr>
          <a:xfrm>
            <a:off x="4723400" y="3620000"/>
            <a:ext cx="2745200" cy="2080000"/>
          </a:xfrm>
          <a:prstGeom prst="rect">
            <a:avLst/>
          </a:prstGeom>
          <a:noFill/>
        </p:spPr>
        <p:txBody>
          <a:bodyPr wrap="square" lIns="0" tIns="0" rIns="0" bIns="0" anchor="t">
            <a:normAutofit/>
          </a:bodyPr>
          <a:lstStyle/>
          <a:p>
            <a:pPr algn="l">
              <a:lnSpc>
                <a:spcPct val="112000"/>
              </a:lnSpc>
              <a:spcBef>
                <a:spcPts val="700"/>
              </a:spcBef>
            </a:pPr>
            <a:r>
              <a:rPr lang="en-US" sz="1100" b="1" spc="0" dirty="0">
                <a:solidFill>
                  <a:srgbClr val="C08A2E"/>
                </a:solidFill>
                <a:latin typeface="Segoe UI"/>
                <a:cs typeface="Segoe UI"/>
              </a:rPr>
              <a:t>— </a:t>
            </a:r>
            <a:r>
              <a:rPr lang="en-US" sz="1150" b="0" spc="0" dirty="0">
                <a:solidFill>
                  <a:srgbClr val="4A423A"/>
                </a:solidFill>
                <a:latin typeface="Segoe UI"/>
                <a:cs typeface="Segoe UI"/>
              </a:rPr>
              <a:t>Anonymised case facts for advice</a:t>
            </a:r>
          </a:p>
          <a:p>
            <a:pPr algn="l">
              <a:lnSpc>
                <a:spcPct val="112000"/>
              </a:lnSpc>
              <a:spcBef>
                <a:spcPts val="700"/>
              </a:spcBef>
            </a:pPr>
            <a:r>
              <a:rPr lang="en-US" sz="1100" b="1" spc="0" dirty="0">
                <a:solidFill>
                  <a:srgbClr val="C08A2E"/>
                </a:solidFill>
                <a:latin typeface="Segoe UI"/>
                <a:cs typeface="Segoe UI"/>
              </a:rPr>
              <a:t>— </a:t>
            </a:r>
            <a:r>
              <a:rPr lang="en-US" sz="1150" b="0" spc="0" dirty="0">
                <a:solidFill>
                  <a:srgbClr val="4A423A"/>
                </a:solidFill>
                <a:latin typeface="Segoe UI"/>
                <a:cs typeface="Segoe UI"/>
              </a:rPr>
              <a:t>Aggregated survey or attrition data</a:t>
            </a:r>
          </a:p>
          <a:p>
            <a:pPr algn="l">
              <a:lnSpc>
                <a:spcPct val="112000"/>
              </a:lnSpc>
              <a:spcBef>
                <a:spcPts val="700"/>
              </a:spcBef>
            </a:pPr>
            <a:r>
              <a:rPr lang="en-US" sz="1100" b="1" spc="0" dirty="0">
                <a:solidFill>
                  <a:srgbClr val="C08A2E"/>
                </a:solidFill>
                <a:latin typeface="Segoe UI"/>
                <a:cs typeface="Segoe UI"/>
              </a:rPr>
              <a:t>— </a:t>
            </a:r>
            <a:r>
              <a:rPr lang="en-US" sz="1150" b="0" spc="0" dirty="0">
                <a:solidFill>
                  <a:srgbClr val="4A423A"/>
                </a:solidFill>
                <a:latin typeface="Segoe UI"/>
                <a:cs typeface="Segoe UI"/>
              </a:rPr>
              <a:t>Draft policies not yet published</a:t>
            </a:r>
          </a:p>
          <a:p>
            <a:pPr algn="l">
              <a:lnSpc>
                <a:spcPct val="112000"/>
              </a:lnSpc>
              <a:spcBef>
                <a:spcPts val="700"/>
              </a:spcBef>
            </a:pPr>
            <a:r>
              <a:rPr lang="en-US" sz="1100" b="1" spc="0" dirty="0">
                <a:solidFill>
                  <a:srgbClr val="C08A2E"/>
                </a:solidFill>
                <a:latin typeface="Segoe UI"/>
                <a:cs typeface="Segoe UI"/>
              </a:rPr>
              <a:t>— </a:t>
            </a:r>
            <a:r>
              <a:rPr lang="en-US" sz="1150" b="0" spc="0" dirty="0">
                <a:solidFill>
                  <a:srgbClr val="4A423A"/>
                </a:solidFill>
                <a:latin typeface="Segoe UI"/>
                <a:cs typeface="Segoe UI"/>
              </a:rPr>
              <a:t>Interview notes with names removed</a:t>
            </a:r>
          </a:p>
          <a:p>
            <a:pPr algn="l">
              <a:lnSpc>
                <a:spcPct val="112000"/>
              </a:lnSpc>
              <a:spcBef>
                <a:spcPts val="700"/>
              </a:spcBef>
            </a:pPr>
            <a:r>
              <a:rPr lang="en-US" sz="1100" b="1" spc="0" dirty="0">
                <a:solidFill>
                  <a:srgbClr val="C08A2E"/>
                </a:solidFill>
                <a:latin typeface="Segoe UI"/>
                <a:cs typeface="Segoe UI"/>
              </a:rPr>
              <a:t>— </a:t>
            </a:r>
            <a:r>
              <a:rPr lang="en-US" sz="1150" b="0" spc="0" dirty="0">
                <a:solidFill>
                  <a:srgbClr val="4A423A"/>
                </a:solidFill>
                <a:latin typeface="Segoe UI"/>
                <a:cs typeface="Segoe UI"/>
              </a:rPr>
              <a:t>Org data covered by a signed DPA</a:t>
            </a:r>
          </a:p>
        </p:txBody>
      </p:sp>
      <p:sp>
        <p:nvSpPr>
          <p:cNvPr id="32" name="s32"/>
          <p:cNvSpPr/>
          <p:nvPr/>
        </p:nvSpPr>
        <p:spPr>
          <a:xfrm>
            <a:off x="8008600" y="2320000"/>
            <a:ext cx="3345200" cy="3480000"/>
          </a:xfrm>
          <a:prstGeom prst="roundRect">
            <a:avLst>
              <a:gd name="adj" fmla="val 7000"/>
            </a:avLst>
          </a:prstGeom>
          <a:solidFill>
            <a:srgbClr val="FBF6EC"/>
          </a:solidFill>
          <a:ln w="12700">
            <a:solidFill>
              <a:srgbClr val="E0CDB0"/>
            </a:solidFill>
          </a:ln>
        </p:spPr>
        <p:txBody>
          <a:bodyPr/>
          <a:lstStyle/>
          <a:p>
            <a:endParaRPr lang="en-US"/>
          </a:p>
        </p:txBody>
      </p:sp>
      <p:sp>
        <p:nvSpPr>
          <p:cNvPr id="33" name="s33"/>
          <p:cNvSpPr/>
          <p:nvPr/>
        </p:nvSpPr>
        <p:spPr>
          <a:xfrm>
            <a:off x="8008600" y="2320000"/>
            <a:ext cx="3345200" cy="150000"/>
          </a:xfrm>
          <a:prstGeom prst="roundRect">
            <a:avLst>
              <a:gd name="adj" fmla="val 20000"/>
            </a:avLst>
          </a:prstGeom>
          <a:solidFill>
            <a:srgbClr val="5F7A4A"/>
          </a:solidFill>
          <a:ln>
            <a:noFill/>
          </a:ln>
        </p:spPr>
        <p:txBody>
          <a:bodyPr/>
          <a:lstStyle/>
          <a:p>
            <a:endParaRPr lang="en-US"/>
          </a:p>
        </p:txBody>
      </p:sp>
      <p:sp>
        <p:nvSpPr>
          <p:cNvPr id="34" name="s34"/>
          <p:cNvSpPr/>
          <p:nvPr/>
        </p:nvSpPr>
        <p:spPr>
          <a:xfrm>
            <a:off x="8308600" y="2660000"/>
            <a:ext cx="420000" cy="420000"/>
          </a:xfrm>
          <a:prstGeom prst="ellipse">
            <a:avLst/>
          </a:prstGeom>
          <a:solidFill>
            <a:srgbClr val="5F7A4A"/>
          </a:solidFill>
          <a:ln>
            <a:noFill/>
          </a:ln>
        </p:spPr>
        <p:txBody>
          <a:bodyPr/>
          <a:lstStyle/>
          <a:p>
            <a:endParaRPr lang="en-US"/>
          </a:p>
        </p:txBody>
      </p:sp>
      <p:sp>
        <p:nvSpPr>
          <p:cNvPr id="35" name="t35"/>
          <p:cNvSpPr txBox="1"/>
          <p:nvPr/>
        </p:nvSpPr>
        <p:spPr>
          <a:xfrm>
            <a:off x="8308600" y="2660000"/>
            <a:ext cx="420000" cy="420000"/>
          </a:xfrm>
          <a:prstGeom prst="rect">
            <a:avLst/>
          </a:prstGeom>
          <a:noFill/>
        </p:spPr>
        <p:txBody>
          <a:bodyPr wrap="square" lIns="0" tIns="0" rIns="0" bIns="0" anchor="ctr">
            <a:normAutofit/>
          </a:bodyPr>
          <a:lstStyle/>
          <a:p>
            <a:pPr algn="ctr">
              <a:lnSpc>
                <a:spcPct val="100000"/>
              </a:lnSpc>
              <a:spcBef>
                <a:spcPts val="0"/>
              </a:spcBef>
            </a:pPr>
            <a:r>
              <a:rPr lang="en-US" sz="1000" b="1" spc="0" dirty="0">
                <a:solidFill>
                  <a:srgbClr val="FBF6EC"/>
                </a:solidFill>
                <a:latin typeface="Segoe UI"/>
                <a:cs typeface="Segoe UI"/>
              </a:rPr>
              <a:t>Go</a:t>
            </a:r>
          </a:p>
        </p:txBody>
      </p:sp>
      <p:sp>
        <p:nvSpPr>
          <p:cNvPr id="36" name="t36"/>
          <p:cNvSpPr txBox="1"/>
          <p:nvPr/>
        </p:nvSpPr>
        <p:spPr>
          <a:xfrm>
            <a:off x="8308600" y="3220000"/>
            <a:ext cx="2745200" cy="300000"/>
          </a:xfrm>
          <a:prstGeom prst="rect">
            <a:avLst/>
          </a:prstGeom>
          <a:noFill/>
        </p:spPr>
        <p:txBody>
          <a:bodyPr wrap="square" lIns="0" tIns="0" rIns="0" bIns="0" anchor="t">
            <a:normAutofit/>
          </a:bodyPr>
          <a:lstStyle/>
          <a:p>
            <a:pPr algn="l">
              <a:lnSpc>
                <a:spcPct val="100000"/>
              </a:lnSpc>
              <a:spcBef>
                <a:spcPts val="0"/>
              </a:spcBef>
            </a:pPr>
            <a:r>
              <a:rPr lang="en-US" sz="1400" b="1" spc="100" dirty="0">
                <a:solidFill>
                  <a:srgbClr val="5F7A4A"/>
                </a:solidFill>
                <a:latin typeface="Segoe UI"/>
                <a:cs typeface="Segoe UI"/>
              </a:rPr>
              <a:t>GENERALLY SAFE</a:t>
            </a:r>
          </a:p>
        </p:txBody>
      </p:sp>
      <p:sp>
        <p:nvSpPr>
          <p:cNvPr id="37" name="t37"/>
          <p:cNvSpPr txBox="1"/>
          <p:nvPr/>
        </p:nvSpPr>
        <p:spPr>
          <a:xfrm>
            <a:off x="8308600" y="3620000"/>
            <a:ext cx="2745200" cy="2080000"/>
          </a:xfrm>
          <a:prstGeom prst="rect">
            <a:avLst/>
          </a:prstGeom>
          <a:noFill/>
        </p:spPr>
        <p:txBody>
          <a:bodyPr wrap="square" lIns="0" tIns="0" rIns="0" bIns="0" anchor="t">
            <a:normAutofit/>
          </a:bodyPr>
          <a:lstStyle/>
          <a:p>
            <a:pPr algn="l">
              <a:lnSpc>
                <a:spcPct val="112000"/>
              </a:lnSpc>
              <a:spcBef>
                <a:spcPts val="700"/>
              </a:spcBef>
            </a:pPr>
            <a:r>
              <a:rPr lang="en-US" sz="1100" b="1" spc="0" dirty="0">
                <a:solidFill>
                  <a:srgbClr val="5F7A4A"/>
                </a:solidFill>
                <a:latin typeface="Segoe UI"/>
                <a:cs typeface="Segoe UI"/>
              </a:rPr>
              <a:t>— </a:t>
            </a:r>
            <a:r>
              <a:rPr lang="en-US" sz="1150" b="0" spc="0" dirty="0">
                <a:solidFill>
                  <a:srgbClr val="4A423A"/>
                </a:solidFill>
                <a:latin typeface="Segoe UI"/>
                <a:cs typeface="Segoe UI"/>
              </a:rPr>
              <a:t>Published policies and handbooks</a:t>
            </a:r>
          </a:p>
          <a:p>
            <a:pPr algn="l">
              <a:lnSpc>
                <a:spcPct val="112000"/>
              </a:lnSpc>
              <a:spcBef>
                <a:spcPts val="700"/>
              </a:spcBef>
            </a:pPr>
            <a:r>
              <a:rPr lang="en-US" sz="1100" b="1" spc="0" dirty="0">
                <a:solidFill>
                  <a:srgbClr val="5F7A4A"/>
                </a:solidFill>
                <a:latin typeface="Segoe UI"/>
                <a:cs typeface="Segoe UI"/>
              </a:rPr>
              <a:t>— </a:t>
            </a:r>
            <a:r>
              <a:rPr lang="en-US" sz="1150" b="0" spc="0" dirty="0">
                <a:solidFill>
                  <a:srgbClr val="4A423A"/>
                </a:solidFill>
                <a:latin typeface="Segoe UI"/>
                <a:cs typeface="Segoe UI"/>
              </a:rPr>
              <a:t>Job descriptions and role scorecards</a:t>
            </a:r>
          </a:p>
          <a:p>
            <a:pPr algn="l">
              <a:lnSpc>
                <a:spcPct val="112000"/>
              </a:lnSpc>
              <a:spcBef>
                <a:spcPts val="700"/>
              </a:spcBef>
            </a:pPr>
            <a:r>
              <a:rPr lang="en-US" sz="1100" b="1" spc="0" dirty="0">
                <a:solidFill>
                  <a:srgbClr val="5F7A4A"/>
                </a:solidFill>
                <a:latin typeface="Segoe UI"/>
                <a:cs typeface="Segoe UI"/>
              </a:rPr>
              <a:t>— </a:t>
            </a:r>
            <a:r>
              <a:rPr lang="en-US" sz="1150" b="0" spc="0" dirty="0">
                <a:solidFill>
                  <a:srgbClr val="4A423A"/>
                </a:solidFill>
                <a:latin typeface="Segoe UI"/>
                <a:cs typeface="Segoe UI"/>
              </a:rPr>
              <a:t>Public benchmarks and market data</a:t>
            </a:r>
          </a:p>
          <a:p>
            <a:pPr algn="l">
              <a:lnSpc>
                <a:spcPct val="112000"/>
              </a:lnSpc>
              <a:spcBef>
                <a:spcPts val="700"/>
              </a:spcBef>
            </a:pPr>
            <a:r>
              <a:rPr lang="en-US" sz="1100" b="1" spc="0" dirty="0">
                <a:solidFill>
                  <a:srgbClr val="5F7A4A"/>
                </a:solidFill>
                <a:latin typeface="Segoe UI"/>
                <a:cs typeface="Segoe UI"/>
              </a:rPr>
              <a:t>— </a:t>
            </a:r>
            <a:r>
              <a:rPr lang="en-US" sz="1150" b="0" spc="0" dirty="0">
                <a:solidFill>
                  <a:srgbClr val="4A423A"/>
                </a:solidFill>
                <a:latin typeface="Segoe UI"/>
                <a:cs typeface="Segoe UI"/>
              </a:rPr>
              <a:t>Template letters with placeholders</a:t>
            </a:r>
          </a:p>
          <a:p>
            <a:pPr algn="l">
              <a:lnSpc>
                <a:spcPct val="112000"/>
              </a:lnSpc>
              <a:spcBef>
                <a:spcPts val="700"/>
              </a:spcBef>
            </a:pPr>
            <a:r>
              <a:rPr lang="en-US" sz="1100" b="1" spc="0" dirty="0">
                <a:solidFill>
                  <a:srgbClr val="5F7A4A"/>
                </a:solidFill>
                <a:latin typeface="Segoe UI"/>
                <a:cs typeface="Segoe UI"/>
              </a:rPr>
              <a:t>— </a:t>
            </a:r>
            <a:r>
              <a:rPr lang="en-US" sz="1150" b="0" spc="0" dirty="0">
                <a:solidFill>
                  <a:srgbClr val="4A423A"/>
                </a:solidFill>
                <a:latin typeface="Segoe UI"/>
                <a:cs typeface="Segoe UI"/>
              </a:rPr>
              <a:t>Your own drafting and structuring work</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38"/>
          <p:cNvSpPr/>
          <p:nvPr/>
        </p:nvSpPr>
        <p:spPr>
          <a:xfrm>
            <a:off x="0" y="0"/>
            <a:ext cx="12192000" cy="6858000"/>
          </a:xfrm>
          <a:prstGeom prst="rect">
            <a:avLst/>
          </a:prstGeom>
          <a:solidFill>
            <a:srgbClr val="F3EBDD"/>
          </a:solidFill>
          <a:ln>
            <a:noFill/>
          </a:ln>
        </p:spPr>
        <p:txBody>
          <a:bodyPr/>
          <a:lstStyle/>
          <a:p>
            <a:endParaRPr lang="en-US"/>
          </a:p>
        </p:txBody>
      </p:sp>
      <p:sp>
        <p:nvSpPr>
          <p:cNvPr id="39" name="s39"/>
          <p:cNvSpPr/>
          <p:nvPr/>
        </p:nvSpPr>
        <p:spPr>
          <a:xfrm>
            <a:off x="0" y="0"/>
            <a:ext cx="12192000" cy="80000"/>
          </a:xfrm>
          <a:prstGeom prst="rect">
            <a:avLst/>
          </a:prstGeom>
          <a:solidFill>
            <a:srgbClr val="B4553A"/>
          </a:solidFill>
          <a:ln>
            <a:noFill/>
          </a:ln>
        </p:spPr>
        <p:txBody>
          <a:bodyPr/>
          <a:lstStyle/>
          <a:p>
            <a:endParaRPr lang="en-US"/>
          </a:p>
        </p:txBody>
      </p:sp>
      <p:sp>
        <p:nvSpPr>
          <p:cNvPr id="40" name="s40"/>
          <p:cNvSpPr/>
          <p:nvPr/>
        </p:nvSpPr>
        <p:spPr>
          <a:xfrm>
            <a:off x="838200" y="520700"/>
            <a:ext cx="180000" cy="180000"/>
          </a:xfrm>
          <a:prstGeom prst="ellipse">
            <a:avLst/>
          </a:prstGeom>
          <a:solidFill>
            <a:srgbClr val="7A7A4E"/>
          </a:solidFill>
          <a:ln>
            <a:noFill/>
          </a:ln>
        </p:spPr>
        <p:txBody>
          <a:bodyPr/>
          <a:lstStyle/>
          <a:p>
            <a:endParaRPr lang="en-US"/>
          </a:p>
        </p:txBody>
      </p:sp>
      <p:sp>
        <p:nvSpPr>
          <p:cNvPr id="41" name="t41"/>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PRACTICAL TECHNIQUES</a:t>
            </a:r>
          </a:p>
        </p:txBody>
      </p:sp>
      <p:sp>
        <p:nvSpPr>
          <p:cNvPr id="42" name="t42"/>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De-Identify Before You Prompt</a:t>
            </a:r>
          </a:p>
        </p:txBody>
      </p:sp>
      <p:sp>
        <p:nvSpPr>
          <p:cNvPr id="43" name="s43"/>
          <p:cNvSpPr/>
          <p:nvPr/>
        </p:nvSpPr>
        <p:spPr>
          <a:xfrm>
            <a:off x="838200" y="1540000"/>
            <a:ext cx="3200000" cy="26000"/>
          </a:xfrm>
          <a:prstGeom prst="rect">
            <a:avLst/>
          </a:prstGeom>
          <a:solidFill>
            <a:srgbClr val="B4553A"/>
          </a:solidFill>
          <a:ln>
            <a:noFill/>
          </a:ln>
        </p:spPr>
        <p:txBody>
          <a:bodyPr/>
          <a:lstStyle/>
          <a:p>
            <a:endParaRPr lang="en-US"/>
          </a:p>
        </p:txBody>
      </p:sp>
      <p:sp>
        <p:nvSpPr>
          <p:cNvPr id="44" name="t44"/>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Most HR questions can be answered without a single real identifier. Strip first, ask second.</a:t>
            </a:r>
          </a:p>
        </p:txBody>
      </p:sp>
      <p:sp>
        <p:nvSpPr>
          <p:cNvPr id="45" name="s45"/>
          <p:cNvSpPr/>
          <p:nvPr/>
        </p:nvSpPr>
        <p:spPr>
          <a:xfrm>
            <a:off x="838200" y="6420000"/>
            <a:ext cx="10515600" cy="12700"/>
          </a:xfrm>
          <a:prstGeom prst="rect">
            <a:avLst/>
          </a:prstGeom>
          <a:solidFill>
            <a:srgbClr val="E0CDB0"/>
          </a:solidFill>
          <a:ln>
            <a:noFill/>
          </a:ln>
        </p:spPr>
        <p:txBody>
          <a:bodyPr/>
          <a:lstStyle/>
          <a:p>
            <a:endParaRPr lang="en-US"/>
          </a:p>
        </p:txBody>
      </p:sp>
      <p:sp>
        <p:nvSpPr>
          <p:cNvPr id="46" name="t46"/>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Protecting confidential employee information</a:t>
            </a:r>
          </a:p>
        </p:txBody>
      </p:sp>
      <p:sp>
        <p:nvSpPr>
          <p:cNvPr id="47" name="s47"/>
          <p:cNvSpPr/>
          <p:nvPr/>
        </p:nvSpPr>
        <p:spPr>
          <a:xfrm>
            <a:off x="838200" y="2320000"/>
            <a:ext cx="5127800" cy="3800000"/>
          </a:xfrm>
          <a:prstGeom prst="roundRect">
            <a:avLst>
              <a:gd name="adj" fmla="val 6000"/>
            </a:avLst>
          </a:prstGeom>
          <a:solidFill>
            <a:srgbClr val="FBF6EC"/>
          </a:solidFill>
          <a:ln w="12700">
            <a:solidFill>
              <a:srgbClr val="E0CDB0"/>
            </a:solidFill>
          </a:ln>
        </p:spPr>
        <p:txBody>
          <a:bodyPr/>
          <a:lstStyle/>
          <a:p>
            <a:endParaRPr lang="en-US"/>
          </a:p>
        </p:txBody>
      </p:sp>
      <p:sp>
        <p:nvSpPr>
          <p:cNvPr id="48" name="t48"/>
          <p:cNvSpPr txBox="1"/>
          <p:nvPr/>
        </p:nvSpPr>
        <p:spPr>
          <a:xfrm>
            <a:off x="1178200" y="2660000"/>
            <a:ext cx="4447800" cy="3180000"/>
          </a:xfrm>
          <a:prstGeom prst="rect">
            <a:avLst/>
          </a:prstGeom>
          <a:noFill/>
        </p:spPr>
        <p:txBody>
          <a:bodyPr wrap="square" lIns="0" tIns="0" rIns="0" bIns="0" anchor="t">
            <a:normAutofit lnSpcReduction="10000"/>
          </a:bodyPr>
          <a:lstStyle/>
          <a:p>
            <a:pPr algn="l">
              <a:lnSpc>
                <a:spcPct val="100000"/>
              </a:lnSpc>
              <a:spcBef>
                <a:spcPts val="0"/>
              </a:spcBef>
            </a:pPr>
            <a:r>
              <a:rPr lang="en-US" sz="1300" b="1" spc="0" dirty="0">
                <a:solidFill>
                  <a:srgbClr val="2E2A26"/>
                </a:solidFill>
                <a:latin typeface="Segoe UI"/>
                <a:cs typeface="Segoe UI"/>
              </a:rPr>
              <a:t>Replace, don't delete</a:t>
            </a:r>
          </a:p>
          <a:p>
            <a:pPr algn="l">
              <a:lnSpc>
                <a:spcPct val="115000"/>
              </a:lnSpc>
              <a:spcBef>
                <a:spcPts val="220"/>
              </a:spcBef>
            </a:pPr>
            <a:r>
              <a:rPr lang="en-US" sz="1100" b="0" spc="0" dirty="0">
                <a:solidFill>
                  <a:srgbClr val="4A423A"/>
                </a:solidFill>
                <a:latin typeface="Segoe UI"/>
                <a:cs typeface="Segoe UI"/>
              </a:rPr>
              <a:t>Swap names for [Employee A], [Manager B] so the model keeps track of who is who.</a:t>
            </a:r>
          </a:p>
          <a:p>
            <a:pPr algn="l">
              <a:lnSpc>
                <a:spcPct val="100000"/>
              </a:lnSpc>
              <a:spcBef>
                <a:spcPts val="700"/>
              </a:spcBef>
            </a:pPr>
            <a:r>
              <a:rPr lang="en-US" sz="1300" b="1" spc="0" dirty="0">
                <a:solidFill>
                  <a:srgbClr val="2E2A26"/>
                </a:solidFill>
                <a:latin typeface="Segoe UI"/>
                <a:cs typeface="Segoe UI"/>
              </a:rPr>
              <a:t>Generalise the specifics</a:t>
            </a:r>
          </a:p>
          <a:p>
            <a:pPr algn="l">
              <a:lnSpc>
                <a:spcPct val="115000"/>
              </a:lnSpc>
              <a:spcBef>
                <a:spcPts val="220"/>
              </a:spcBef>
            </a:pPr>
            <a:r>
              <a:rPr lang="en-US" sz="1100" b="0" spc="0" dirty="0">
                <a:solidFill>
                  <a:srgbClr val="4A423A"/>
                </a:solidFill>
                <a:latin typeface="Segoe UI"/>
                <a:cs typeface="Segoe UI"/>
              </a:rPr>
              <a:t>'Mid-career engineer, Bangalore' instead of a team of three where one person is obvious.</a:t>
            </a:r>
          </a:p>
          <a:p>
            <a:pPr algn="l">
              <a:lnSpc>
                <a:spcPct val="100000"/>
              </a:lnSpc>
              <a:spcBef>
                <a:spcPts val="700"/>
              </a:spcBef>
            </a:pPr>
            <a:r>
              <a:rPr lang="en-US" sz="1300" b="1" spc="0" dirty="0">
                <a:solidFill>
                  <a:srgbClr val="2E2A26"/>
                </a:solidFill>
                <a:latin typeface="Segoe UI"/>
                <a:cs typeface="Segoe UI"/>
              </a:rPr>
              <a:t>Band the numbers</a:t>
            </a:r>
          </a:p>
          <a:p>
            <a:pPr algn="l">
              <a:lnSpc>
                <a:spcPct val="115000"/>
              </a:lnSpc>
              <a:spcBef>
                <a:spcPts val="220"/>
              </a:spcBef>
            </a:pPr>
            <a:r>
              <a:rPr lang="en-US" sz="1100" b="0" spc="0" dirty="0">
                <a:solidFill>
                  <a:srgbClr val="4A423A"/>
                </a:solidFill>
                <a:latin typeface="Segoe UI"/>
                <a:cs typeface="Segoe UI"/>
              </a:rPr>
              <a:t>Salary bands and ranges rather than exact figures; quarters rather than exact dates.</a:t>
            </a:r>
          </a:p>
          <a:p>
            <a:pPr algn="l">
              <a:lnSpc>
                <a:spcPct val="100000"/>
              </a:lnSpc>
              <a:spcBef>
                <a:spcPts val="700"/>
              </a:spcBef>
            </a:pPr>
            <a:r>
              <a:rPr lang="en-US" sz="1300" b="1" spc="0" dirty="0">
                <a:solidFill>
                  <a:srgbClr val="2E2A26"/>
                </a:solidFill>
                <a:latin typeface="Segoe UI"/>
                <a:cs typeface="Segoe UI"/>
              </a:rPr>
              <a:t>Strip the metadata</a:t>
            </a:r>
          </a:p>
          <a:p>
            <a:pPr algn="l">
              <a:lnSpc>
                <a:spcPct val="115000"/>
              </a:lnSpc>
              <a:spcBef>
                <a:spcPts val="220"/>
              </a:spcBef>
            </a:pPr>
            <a:r>
              <a:rPr lang="en-US" sz="1100" b="0" spc="0" dirty="0">
                <a:solidFill>
                  <a:srgbClr val="4A423A"/>
                </a:solidFill>
                <a:latin typeface="Segoe UI"/>
                <a:cs typeface="Segoe UI"/>
              </a:rPr>
              <a:t>File names, headers, signatures and email trails carry identity too.</a:t>
            </a:r>
          </a:p>
          <a:p>
            <a:pPr algn="l">
              <a:lnSpc>
                <a:spcPct val="100000"/>
              </a:lnSpc>
              <a:spcBef>
                <a:spcPts val="700"/>
              </a:spcBef>
            </a:pPr>
            <a:r>
              <a:rPr lang="en-US" sz="1300" b="1" spc="0" dirty="0">
                <a:solidFill>
                  <a:srgbClr val="2E2A26"/>
                </a:solidFill>
                <a:latin typeface="Segoe UI"/>
                <a:cs typeface="Segoe UI"/>
              </a:rPr>
              <a:t>Watch small groups</a:t>
            </a:r>
          </a:p>
          <a:p>
            <a:pPr algn="l">
              <a:lnSpc>
                <a:spcPct val="115000"/>
              </a:lnSpc>
              <a:spcBef>
                <a:spcPts val="220"/>
              </a:spcBef>
            </a:pPr>
            <a:r>
              <a:rPr lang="en-US" sz="1100" b="0" spc="0" dirty="0">
                <a:solidFill>
                  <a:srgbClr val="4A423A"/>
                </a:solidFill>
                <a:latin typeface="Segoe UI"/>
                <a:cs typeface="Segoe UI"/>
              </a:rPr>
              <a:t>Two attributes can re-identify someone in a team of five. Aggregate or don't ask.</a:t>
            </a:r>
          </a:p>
        </p:txBody>
      </p:sp>
      <p:sp>
        <p:nvSpPr>
          <p:cNvPr id="49" name="s49"/>
          <p:cNvSpPr/>
          <p:nvPr/>
        </p:nvSpPr>
        <p:spPr>
          <a:xfrm>
            <a:off x="6226000" y="2320000"/>
            <a:ext cx="5127800" cy="3800000"/>
          </a:xfrm>
          <a:prstGeom prst="roundRect">
            <a:avLst>
              <a:gd name="adj" fmla="val 6000"/>
            </a:avLst>
          </a:prstGeom>
          <a:solidFill>
            <a:srgbClr val="F6EEE0"/>
          </a:solidFill>
          <a:ln w="12700">
            <a:solidFill>
              <a:srgbClr val="E0CDB0"/>
            </a:solidFill>
          </a:ln>
        </p:spPr>
        <p:txBody>
          <a:bodyPr/>
          <a:lstStyle/>
          <a:p>
            <a:endParaRPr lang="en-US"/>
          </a:p>
        </p:txBody>
      </p:sp>
      <p:sp>
        <p:nvSpPr>
          <p:cNvPr id="50" name="s50"/>
          <p:cNvSpPr/>
          <p:nvPr/>
        </p:nvSpPr>
        <p:spPr>
          <a:xfrm>
            <a:off x="6226000" y="2320000"/>
            <a:ext cx="60000" cy="3800000"/>
          </a:xfrm>
          <a:prstGeom prst="rect">
            <a:avLst/>
          </a:prstGeom>
          <a:solidFill>
            <a:srgbClr val="B4553A"/>
          </a:solidFill>
          <a:ln>
            <a:noFill/>
          </a:ln>
        </p:spPr>
        <p:txBody>
          <a:bodyPr/>
          <a:lstStyle/>
          <a:p>
            <a:endParaRPr lang="en-US"/>
          </a:p>
        </p:txBody>
      </p:sp>
      <p:sp>
        <p:nvSpPr>
          <p:cNvPr id="51" name="t51"/>
          <p:cNvSpPr txBox="1"/>
          <p:nvPr/>
        </p:nvSpPr>
        <p:spPr>
          <a:xfrm>
            <a:off x="6526000" y="2560000"/>
            <a:ext cx="4567800" cy="3380000"/>
          </a:xfrm>
          <a:prstGeom prst="rect">
            <a:avLst/>
          </a:prstGeom>
          <a:noFill/>
        </p:spPr>
        <p:txBody>
          <a:bodyPr wrap="square" lIns="0" tIns="0" rIns="0" bIns="0" anchor="t">
            <a:normAutofit/>
          </a:bodyPr>
          <a:lstStyle/>
          <a:p>
            <a:pPr algn="l">
              <a:lnSpc>
                <a:spcPct val="100000"/>
              </a:lnSpc>
              <a:spcBef>
                <a:spcPts val="0"/>
              </a:spcBef>
            </a:pPr>
            <a:r>
              <a:rPr lang="en-US" sz="1000" b="1" spc="200" dirty="0">
                <a:solidFill>
                  <a:srgbClr val="B4553A"/>
                </a:solidFill>
                <a:latin typeface="Segoe UI"/>
                <a:cs typeface="Segoe UI"/>
              </a:rPr>
              <a:t>SAFELY ASKED</a:t>
            </a:r>
          </a:p>
          <a:p>
            <a:pPr algn="l">
              <a:lnSpc>
                <a:spcPct val="100000"/>
              </a:lnSpc>
              <a:spcBef>
                <a:spcPts val="520"/>
              </a:spcBef>
            </a:pPr>
            <a:r>
              <a:rPr lang="en-US" sz="1000" b="1" spc="150" dirty="0">
                <a:solidFill>
                  <a:srgbClr val="B4553A"/>
                </a:solidFill>
                <a:latin typeface="Segoe UI"/>
                <a:cs typeface="Segoe UI"/>
              </a:rPr>
              <a:t>BEFORE</a:t>
            </a:r>
          </a:p>
          <a:p>
            <a:pPr algn="l">
              <a:lnSpc>
                <a:spcPct val="112000"/>
              </a:lnSpc>
              <a:spcBef>
                <a:spcPts val="260"/>
              </a:spcBef>
            </a:pPr>
            <a:r>
              <a:rPr lang="en-US" sz="1050" b="0" spc="0" dirty="0">
                <a:solidFill>
                  <a:srgbClr val="2E2A26"/>
                </a:solidFill>
                <a:latin typeface="Consolas"/>
                <a:cs typeface="Consolas"/>
              </a:rPr>
              <a:t>Ravi Kumar, ID 40129, earns Rs 18,40,000</a:t>
            </a:r>
          </a:p>
          <a:p>
            <a:pPr algn="l">
              <a:lnSpc>
                <a:spcPct val="112000"/>
              </a:lnSpc>
              <a:spcBef>
                <a:spcPts val="260"/>
              </a:spcBef>
            </a:pPr>
            <a:r>
              <a:rPr lang="en-US" sz="1050" b="0" spc="0" dirty="0">
                <a:solidFill>
                  <a:srgbClr val="2E2A26"/>
                </a:solidFill>
                <a:latin typeface="Consolas"/>
                <a:cs typeface="Consolas"/>
              </a:rPr>
              <a:t>and has three sick-leave cases this year.</a:t>
            </a:r>
          </a:p>
          <a:p>
            <a:pPr algn="l">
              <a:lnSpc>
                <a:spcPct val="112000"/>
              </a:lnSpc>
              <a:spcBef>
                <a:spcPts val="260"/>
              </a:spcBef>
            </a:pPr>
            <a:r>
              <a:rPr lang="en-US" sz="1050" b="0" spc="0" dirty="0">
                <a:solidFill>
                  <a:srgbClr val="2E2A26"/>
                </a:solidFill>
                <a:latin typeface="Consolas"/>
                <a:cs typeface="Consolas"/>
              </a:rPr>
              <a:t>Can we put him on a performance plan?</a:t>
            </a:r>
          </a:p>
          <a:p>
            <a:pPr algn="l">
              <a:lnSpc>
                <a:spcPct val="100000"/>
              </a:lnSpc>
              <a:spcBef>
                <a:spcPts val="520"/>
              </a:spcBef>
            </a:pPr>
            <a:r>
              <a:rPr lang="en-US" sz="1000" b="1" spc="150" dirty="0">
                <a:solidFill>
                  <a:srgbClr val="B4553A"/>
                </a:solidFill>
                <a:latin typeface="Segoe UI"/>
                <a:cs typeface="Segoe UI"/>
              </a:rPr>
              <a:t>AFTER</a:t>
            </a:r>
          </a:p>
          <a:p>
            <a:pPr algn="l">
              <a:lnSpc>
                <a:spcPct val="112000"/>
              </a:lnSpc>
              <a:spcBef>
                <a:spcPts val="260"/>
              </a:spcBef>
            </a:pPr>
            <a:r>
              <a:rPr lang="en-US" sz="1050" b="0" spc="0" dirty="0">
                <a:solidFill>
                  <a:srgbClr val="2E2A26"/>
                </a:solidFill>
                <a:latin typeface="Consolas"/>
                <a:cs typeface="Consolas"/>
              </a:rPr>
              <a:t>Employee A is a mid-career engineer in a</a:t>
            </a:r>
          </a:p>
          <a:p>
            <a:pPr algn="l">
              <a:lnSpc>
                <a:spcPct val="112000"/>
              </a:lnSpc>
              <a:spcBef>
                <a:spcPts val="260"/>
              </a:spcBef>
            </a:pPr>
            <a:r>
              <a:rPr lang="en-US" sz="1050" b="0" spc="0" dirty="0">
                <a:solidFill>
                  <a:srgbClr val="2E2A26"/>
                </a:solidFill>
                <a:latin typeface="Consolas"/>
                <a:cs typeface="Consolas"/>
              </a:rPr>
              <a:t>30-person team, paid within band 4, with</a:t>
            </a:r>
          </a:p>
          <a:p>
            <a:pPr algn="l">
              <a:lnSpc>
                <a:spcPct val="112000"/>
              </a:lnSpc>
              <a:spcBef>
                <a:spcPts val="260"/>
              </a:spcBef>
            </a:pPr>
            <a:r>
              <a:rPr lang="en-US" sz="1050" b="0" spc="0" dirty="0">
                <a:solidFill>
                  <a:srgbClr val="2E2A26"/>
                </a:solidFill>
                <a:latin typeface="Consolas"/>
                <a:cs typeface="Consolas"/>
              </a:rPr>
              <a:t>repeated short absences this year.</a:t>
            </a:r>
          </a:p>
          <a:p>
            <a:pPr algn="l">
              <a:lnSpc>
                <a:spcPct val="112000"/>
              </a:lnSpc>
              <a:spcBef>
                <a:spcPts val="260"/>
              </a:spcBef>
            </a:pPr>
            <a:r>
              <a:rPr lang="en-US" sz="1050" b="0" spc="0" dirty="0">
                <a:solidFill>
                  <a:srgbClr val="2E2A26"/>
                </a:solidFill>
                <a:latin typeface="Consolas"/>
                <a:cs typeface="Consolas"/>
              </a:rPr>
              <a:t>Using only the attached policy, outline the</a:t>
            </a:r>
          </a:p>
          <a:p>
            <a:pPr algn="l">
              <a:lnSpc>
                <a:spcPct val="112000"/>
              </a:lnSpc>
              <a:spcBef>
                <a:spcPts val="260"/>
              </a:spcBef>
            </a:pPr>
            <a:r>
              <a:rPr lang="en-US" sz="1050" b="0" spc="0" dirty="0">
                <a:solidFill>
                  <a:srgbClr val="2E2A26"/>
                </a:solidFill>
                <a:latin typeface="Consolas"/>
                <a:cs typeface="Consolas"/>
              </a:rPr>
              <a:t>steps and evidence a performance plan</a:t>
            </a:r>
          </a:p>
          <a:p>
            <a:pPr algn="l">
              <a:lnSpc>
                <a:spcPct val="112000"/>
              </a:lnSpc>
              <a:spcBef>
                <a:spcPts val="260"/>
              </a:spcBef>
            </a:pPr>
            <a:r>
              <a:rPr lang="en-US" sz="1050" b="0" spc="0" dirty="0">
                <a:solidFill>
                  <a:srgbClr val="2E2A26"/>
                </a:solidFill>
                <a:latin typeface="Consolas"/>
                <a:cs typeface="Consolas"/>
              </a:rPr>
              <a:t>requires, and where HR must be involved.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52"/>
          <p:cNvSpPr/>
          <p:nvPr/>
        </p:nvSpPr>
        <p:spPr>
          <a:xfrm>
            <a:off x="0" y="0"/>
            <a:ext cx="12192000" cy="6858000"/>
          </a:xfrm>
          <a:prstGeom prst="rect">
            <a:avLst/>
          </a:prstGeom>
          <a:solidFill>
            <a:srgbClr val="F3EBDD"/>
          </a:solidFill>
          <a:ln>
            <a:noFill/>
          </a:ln>
        </p:spPr>
        <p:txBody>
          <a:bodyPr/>
          <a:lstStyle/>
          <a:p>
            <a:endParaRPr lang="en-US"/>
          </a:p>
        </p:txBody>
      </p:sp>
      <p:sp>
        <p:nvSpPr>
          <p:cNvPr id="53" name="s53"/>
          <p:cNvSpPr/>
          <p:nvPr/>
        </p:nvSpPr>
        <p:spPr>
          <a:xfrm>
            <a:off x="0" y="0"/>
            <a:ext cx="12192000" cy="80000"/>
          </a:xfrm>
          <a:prstGeom prst="rect">
            <a:avLst/>
          </a:prstGeom>
          <a:solidFill>
            <a:srgbClr val="B4553A"/>
          </a:solidFill>
          <a:ln>
            <a:noFill/>
          </a:ln>
        </p:spPr>
        <p:txBody>
          <a:bodyPr/>
          <a:lstStyle/>
          <a:p>
            <a:endParaRPr lang="en-US"/>
          </a:p>
        </p:txBody>
      </p:sp>
      <p:sp>
        <p:nvSpPr>
          <p:cNvPr id="54" name="s54"/>
          <p:cNvSpPr/>
          <p:nvPr/>
        </p:nvSpPr>
        <p:spPr>
          <a:xfrm>
            <a:off x="838200" y="520700"/>
            <a:ext cx="180000" cy="180000"/>
          </a:xfrm>
          <a:prstGeom prst="ellipse">
            <a:avLst/>
          </a:prstGeom>
          <a:solidFill>
            <a:srgbClr val="7A7A4E"/>
          </a:solidFill>
          <a:ln>
            <a:noFill/>
          </a:ln>
        </p:spPr>
        <p:txBody>
          <a:bodyPr/>
          <a:lstStyle/>
          <a:p>
            <a:endParaRPr lang="en-US"/>
          </a:p>
        </p:txBody>
      </p:sp>
      <p:sp>
        <p:nvSpPr>
          <p:cNvPr id="55" name="t55"/>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GOVERNANCE CHECKLIST</a:t>
            </a:r>
          </a:p>
        </p:txBody>
      </p:sp>
      <p:sp>
        <p:nvSpPr>
          <p:cNvPr id="56" name="t56"/>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Controls That Make It Safe</a:t>
            </a:r>
          </a:p>
        </p:txBody>
      </p:sp>
      <p:sp>
        <p:nvSpPr>
          <p:cNvPr id="57" name="s57"/>
          <p:cNvSpPr/>
          <p:nvPr/>
        </p:nvSpPr>
        <p:spPr>
          <a:xfrm>
            <a:off x="838200" y="1540000"/>
            <a:ext cx="3200000" cy="26000"/>
          </a:xfrm>
          <a:prstGeom prst="rect">
            <a:avLst/>
          </a:prstGeom>
          <a:solidFill>
            <a:srgbClr val="B4553A"/>
          </a:solidFill>
          <a:ln>
            <a:noFill/>
          </a:ln>
        </p:spPr>
        <p:txBody>
          <a:bodyPr/>
          <a:lstStyle/>
          <a:p>
            <a:endParaRPr lang="en-US"/>
          </a:p>
        </p:txBody>
      </p:sp>
      <p:sp>
        <p:nvSpPr>
          <p:cNvPr id="58" name="t58"/>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Individual caution is not a control. These are the settings and habits that hold under audit.</a:t>
            </a:r>
          </a:p>
        </p:txBody>
      </p:sp>
      <p:sp>
        <p:nvSpPr>
          <p:cNvPr id="59" name="s59"/>
          <p:cNvSpPr/>
          <p:nvPr/>
        </p:nvSpPr>
        <p:spPr>
          <a:xfrm>
            <a:off x="838200" y="6420000"/>
            <a:ext cx="10515600" cy="12700"/>
          </a:xfrm>
          <a:prstGeom prst="rect">
            <a:avLst/>
          </a:prstGeom>
          <a:solidFill>
            <a:srgbClr val="E0CDB0"/>
          </a:solidFill>
          <a:ln>
            <a:noFill/>
          </a:ln>
        </p:spPr>
        <p:txBody>
          <a:bodyPr/>
          <a:lstStyle/>
          <a:p>
            <a:endParaRPr lang="en-US"/>
          </a:p>
        </p:txBody>
      </p:sp>
      <p:sp>
        <p:nvSpPr>
          <p:cNvPr id="60" name="t60"/>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Protecting confidential employee information</a:t>
            </a:r>
          </a:p>
        </p:txBody>
      </p:sp>
      <p:sp>
        <p:nvSpPr>
          <p:cNvPr id="61" name="s61"/>
          <p:cNvSpPr/>
          <p:nvPr/>
        </p:nvSpPr>
        <p:spPr>
          <a:xfrm>
            <a:off x="838200" y="2320000"/>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62" name="s62"/>
          <p:cNvSpPr/>
          <p:nvPr/>
        </p:nvSpPr>
        <p:spPr>
          <a:xfrm>
            <a:off x="1078200" y="2700600"/>
            <a:ext cx="392133" cy="392133"/>
          </a:xfrm>
          <a:prstGeom prst="ellipse">
            <a:avLst/>
          </a:prstGeom>
          <a:solidFill>
            <a:srgbClr val="B4553A"/>
          </a:solidFill>
          <a:ln>
            <a:noFill/>
          </a:ln>
        </p:spPr>
        <p:txBody>
          <a:bodyPr/>
          <a:lstStyle/>
          <a:p>
            <a:endParaRPr lang="en-US"/>
          </a:p>
        </p:txBody>
      </p:sp>
      <p:sp>
        <p:nvSpPr>
          <p:cNvPr id="63" name="t63"/>
          <p:cNvSpPr txBox="1"/>
          <p:nvPr/>
        </p:nvSpPr>
        <p:spPr>
          <a:xfrm>
            <a:off x="1078200" y="2700600"/>
            <a:ext cx="392133" cy="392133"/>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1</a:t>
            </a:r>
          </a:p>
        </p:txBody>
      </p:sp>
      <p:sp>
        <p:nvSpPr>
          <p:cNvPr id="64" name="t64"/>
          <p:cNvSpPr txBox="1"/>
          <p:nvPr/>
        </p:nvSpPr>
        <p:spPr>
          <a:xfrm>
            <a:off x="1710333" y="2481466"/>
            <a:ext cx="4015667" cy="899599"/>
          </a:xfrm>
          <a:prstGeom prst="rect">
            <a:avLst/>
          </a:prstGeom>
          <a:noFill/>
        </p:spPr>
        <p:txBody>
          <a:bodyPr wrap="square" lIns="0" tIns="0" rIns="0" bIns="0" anchor="t">
            <a:normAutofit/>
          </a:bodyPr>
          <a:lstStyle/>
          <a:p>
            <a:pPr algn="l">
              <a:lnSpc>
                <a:spcPct val="100000"/>
              </a:lnSpc>
              <a:spcBef>
                <a:spcPts val="0"/>
              </a:spcBef>
            </a:pPr>
            <a:r>
              <a:rPr lang="en-US" sz="1300" b="1" spc="0" dirty="0">
                <a:solidFill>
                  <a:srgbClr val="2E2A26"/>
                </a:solidFill>
                <a:latin typeface="Segoe UI"/>
                <a:cs typeface="Segoe UI"/>
              </a:rPr>
              <a:t>Use approved tools only</a:t>
            </a:r>
          </a:p>
          <a:p>
            <a:pPr algn="l">
              <a:lnSpc>
                <a:spcPct val="115000"/>
              </a:lnSpc>
              <a:spcBef>
                <a:spcPts val="400"/>
              </a:spcBef>
            </a:pPr>
            <a:r>
              <a:rPr lang="en-US" sz="1050" b="0" spc="0" dirty="0">
                <a:solidFill>
                  <a:srgbClr val="4A423A"/>
                </a:solidFill>
                <a:latin typeface="Segoe UI"/>
                <a:cs typeface="Segoe UI"/>
              </a:rPr>
              <a:t>Enterprise or business tiers with a data processing agreement, no training on your data, and admin control. Consumer logins are not a workplace tool.</a:t>
            </a:r>
          </a:p>
        </p:txBody>
      </p:sp>
      <p:sp>
        <p:nvSpPr>
          <p:cNvPr id="65" name="s65"/>
          <p:cNvSpPr/>
          <p:nvPr/>
        </p:nvSpPr>
        <p:spPr>
          <a:xfrm>
            <a:off x="6206000" y="2320000"/>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66" name="s66"/>
          <p:cNvSpPr/>
          <p:nvPr/>
        </p:nvSpPr>
        <p:spPr>
          <a:xfrm>
            <a:off x="6446000" y="2700600"/>
            <a:ext cx="392133" cy="392133"/>
          </a:xfrm>
          <a:prstGeom prst="ellipse">
            <a:avLst/>
          </a:prstGeom>
          <a:solidFill>
            <a:srgbClr val="B4553A"/>
          </a:solidFill>
          <a:ln>
            <a:noFill/>
          </a:ln>
        </p:spPr>
        <p:txBody>
          <a:bodyPr/>
          <a:lstStyle/>
          <a:p>
            <a:endParaRPr lang="en-US"/>
          </a:p>
        </p:txBody>
      </p:sp>
      <p:sp>
        <p:nvSpPr>
          <p:cNvPr id="67" name="t67"/>
          <p:cNvSpPr txBox="1"/>
          <p:nvPr/>
        </p:nvSpPr>
        <p:spPr>
          <a:xfrm>
            <a:off x="6446000" y="2700600"/>
            <a:ext cx="392133" cy="392133"/>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2</a:t>
            </a:r>
          </a:p>
        </p:txBody>
      </p:sp>
      <p:sp>
        <p:nvSpPr>
          <p:cNvPr id="68" name="t68"/>
          <p:cNvSpPr txBox="1"/>
          <p:nvPr/>
        </p:nvSpPr>
        <p:spPr>
          <a:xfrm>
            <a:off x="7078133" y="2481466"/>
            <a:ext cx="4015667" cy="899599"/>
          </a:xfrm>
          <a:prstGeom prst="rect">
            <a:avLst/>
          </a:prstGeom>
          <a:noFill/>
        </p:spPr>
        <p:txBody>
          <a:bodyPr wrap="square" lIns="0" tIns="0" rIns="0" bIns="0" anchor="t">
            <a:normAutofit/>
          </a:bodyPr>
          <a:lstStyle/>
          <a:p>
            <a:pPr algn="l">
              <a:lnSpc>
                <a:spcPct val="100000"/>
              </a:lnSpc>
              <a:spcBef>
                <a:spcPts val="0"/>
              </a:spcBef>
            </a:pPr>
            <a:r>
              <a:rPr lang="en-US" sz="1300" b="1" spc="0" dirty="0">
                <a:solidFill>
                  <a:srgbClr val="2E2A26"/>
                </a:solidFill>
                <a:latin typeface="Segoe UI"/>
                <a:cs typeface="Segoe UI"/>
              </a:rPr>
              <a:t>Turn off training and history</a:t>
            </a:r>
          </a:p>
          <a:p>
            <a:pPr algn="l">
              <a:lnSpc>
                <a:spcPct val="115000"/>
              </a:lnSpc>
              <a:spcBef>
                <a:spcPts val="400"/>
              </a:spcBef>
            </a:pPr>
            <a:r>
              <a:rPr lang="en-US" sz="1050" b="0" spc="0" dirty="0">
                <a:solidFill>
                  <a:srgbClr val="4A423A"/>
                </a:solidFill>
                <a:latin typeface="Segoe UI"/>
                <a:cs typeface="Segoe UI"/>
              </a:rPr>
              <a:t>Check the setting per tool, per account, and re-check after product updates. Keep retention as short as the vendor allows.</a:t>
            </a:r>
          </a:p>
        </p:txBody>
      </p:sp>
      <p:sp>
        <p:nvSpPr>
          <p:cNvPr id="69" name="s69"/>
          <p:cNvSpPr/>
          <p:nvPr/>
        </p:nvSpPr>
        <p:spPr>
          <a:xfrm>
            <a:off x="838200" y="3643333"/>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70" name="s70"/>
          <p:cNvSpPr/>
          <p:nvPr/>
        </p:nvSpPr>
        <p:spPr>
          <a:xfrm>
            <a:off x="1078200" y="4023933"/>
            <a:ext cx="392133" cy="392133"/>
          </a:xfrm>
          <a:prstGeom prst="ellipse">
            <a:avLst/>
          </a:prstGeom>
          <a:solidFill>
            <a:srgbClr val="B4553A"/>
          </a:solidFill>
          <a:ln>
            <a:noFill/>
          </a:ln>
        </p:spPr>
        <p:txBody>
          <a:bodyPr/>
          <a:lstStyle/>
          <a:p>
            <a:endParaRPr lang="en-US"/>
          </a:p>
        </p:txBody>
      </p:sp>
      <p:sp>
        <p:nvSpPr>
          <p:cNvPr id="71" name="t71"/>
          <p:cNvSpPr txBox="1"/>
          <p:nvPr/>
        </p:nvSpPr>
        <p:spPr>
          <a:xfrm>
            <a:off x="1078200" y="4023933"/>
            <a:ext cx="392133" cy="392133"/>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3</a:t>
            </a:r>
          </a:p>
        </p:txBody>
      </p:sp>
      <p:sp>
        <p:nvSpPr>
          <p:cNvPr id="72" name="t72"/>
          <p:cNvSpPr txBox="1"/>
          <p:nvPr/>
        </p:nvSpPr>
        <p:spPr>
          <a:xfrm>
            <a:off x="1710333" y="3804799"/>
            <a:ext cx="4015667" cy="899599"/>
          </a:xfrm>
          <a:prstGeom prst="rect">
            <a:avLst/>
          </a:prstGeom>
          <a:noFill/>
        </p:spPr>
        <p:txBody>
          <a:bodyPr wrap="square" lIns="0" tIns="0" rIns="0" bIns="0" anchor="t">
            <a:normAutofit/>
          </a:bodyPr>
          <a:lstStyle/>
          <a:p>
            <a:pPr algn="l">
              <a:lnSpc>
                <a:spcPct val="100000"/>
              </a:lnSpc>
              <a:spcBef>
                <a:spcPts val="0"/>
              </a:spcBef>
            </a:pPr>
            <a:r>
              <a:rPr lang="en-US" sz="1300" b="1" spc="0" dirty="0">
                <a:solidFill>
                  <a:srgbClr val="2E2A26"/>
                </a:solidFill>
                <a:latin typeface="Segoe UI"/>
                <a:cs typeface="Segoe UI"/>
              </a:rPr>
              <a:t>Set the rule, then make it easy</a:t>
            </a:r>
          </a:p>
          <a:p>
            <a:pPr algn="l">
              <a:lnSpc>
                <a:spcPct val="115000"/>
              </a:lnSpc>
              <a:spcBef>
                <a:spcPts val="400"/>
              </a:spcBef>
            </a:pPr>
            <a:r>
              <a:rPr lang="en-US" sz="1050" b="0" spc="0" dirty="0">
                <a:solidFill>
                  <a:srgbClr val="4A423A"/>
                </a:solidFill>
                <a:latin typeface="Segoe UI"/>
                <a:cs typeface="Segoe UI"/>
              </a:rPr>
              <a:t>A one-page do/don't list, a shared prompt library with placeholders, and a safe route for the cases people are unsure about.</a:t>
            </a:r>
          </a:p>
        </p:txBody>
      </p:sp>
      <p:sp>
        <p:nvSpPr>
          <p:cNvPr id="73" name="s73"/>
          <p:cNvSpPr/>
          <p:nvPr/>
        </p:nvSpPr>
        <p:spPr>
          <a:xfrm>
            <a:off x="6206000" y="3643333"/>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74" name="s74"/>
          <p:cNvSpPr/>
          <p:nvPr/>
        </p:nvSpPr>
        <p:spPr>
          <a:xfrm>
            <a:off x="6446000" y="4023933"/>
            <a:ext cx="392133" cy="392133"/>
          </a:xfrm>
          <a:prstGeom prst="ellipse">
            <a:avLst/>
          </a:prstGeom>
          <a:solidFill>
            <a:srgbClr val="B4553A"/>
          </a:solidFill>
          <a:ln>
            <a:noFill/>
          </a:ln>
        </p:spPr>
        <p:txBody>
          <a:bodyPr/>
          <a:lstStyle/>
          <a:p>
            <a:endParaRPr lang="en-US"/>
          </a:p>
        </p:txBody>
      </p:sp>
      <p:sp>
        <p:nvSpPr>
          <p:cNvPr id="75" name="t75"/>
          <p:cNvSpPr txBox="1"/>
          <p:nvPr/>
        </p:nvSpPr>
        <p:spPr>
          <a:xfrm>
            <a:off x="6446000" y="4023933"/>
            <a:ext cx="392133" cy="392133"/>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4</a:t>
            </a:r>
          </a:p>
        </p:txBody>
      </p:sp>
      <p:sp>
        <p:nvSpPr>
          <p:cNvPr id="76" name="t76"/>
          <p:cNvSpPr txBox="1"/>
          <p:nvPr/>
        </p:nvSpPr>
        <p:spPr>
          <a:xfrm>
            <a:off x="7078133" y="3804799"/>
            <a:ext cx="4015667" cy="899599"/>
          </a:xfrm>
          <a:prstGeom prst="rect">
            <a:avLst/>
          </a:prstGeom>
          <a:noFill/>
        </p:spPr>
        <p:txBody>
          <a:bodyPr wrap="square" lIns="0" tIns="0" rIns="0" bIns="0" anchor="t">
            <a:normAutofit/>
          </a:bodyPr>
          <a:lstStyle/>
          <a:p>
            <a:pPr algn="l">
              <a:lnSpc>
                <a:spcPct val="100000"/>
              </a:lnSpc>
              <a:spcBef>
                <a:spcPts val="0"/>
              </a:spcBef>
            </a:pPr>
            <a:r>
              <a:rPr lang="en-US" sz="1300" b="1" spc="0" dirty="0">
                <a:solidFill>
                  <a:srgbClr val="2E2A26"/>
                </a:solidFill>
                <a:latin typeface="Segoe UI"/>
                <a:cs typeface="Segoe UI"/>
              </a:rPr>
              <a:t>Keep the lawful basis straight</a:t>
            </a:r>
          </a:p>
          <a:p>
            <a:pPr algn="l">
              <a:lnSpc>
                <a:spcPct val="115000"/>
              </a:lnSpc>
              <a:spcBef>
                <a:spcPts val="400"/>
              </a:spcBef>
            </a:pPr>
            <a:r>
              <a:rPr lang="en-US" sz="1050" b="0" spc="0" dirty="0">
                <a:solidFill>
                  <a:srgbClr val="4A423A"/>
                </a:solidFill>
                <a:latin typeface="Segoe UI"/>
                <a:cs typeface="Segoe UI"/>
              </a:rPr>
              <a:t>Apply the same privacy notice, purpose limitation and retention rules you already owe employees. AI use does not create a new basis to process their data.</a:t>
            </a:r>
          </a:p>
        </p:txBody>
      </p:sp>
      <p:sp>
        <p:nvSpPr>
          <p:cNvPr id="77" name="s77"/>
          <p:cNvSpPr/>
          <p:nvPr/>
        </p:nvSpPr>
        <p:spPr>
          <a:xfrm>
            <a:off x="838200" y="4966666"/>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78" name="s78"/>
          <p:cNvSpPr/>
          <p:nvPr/>
        </p:nvSpPr>
        <p:spPr>
          <a:xfrm>
            <a:off x="1078200" y="5347266"/>
            <a:ext cx="392133" cy="392133"/>
          </a:xfrm>
          <a:prstGeom prst="ellipse">
            <a:avLst/>
          </a:prstGeom>
          <a:solidFill>
            <a:srgbClr val="B4553A"/>
          </a:solidFill>
          <a:ln>
            <a:noFill/>
          </a:ln>
        </p:spPr>
        <p:txBody>
          <a:bodyPr/>
          <a:lstStyle/>
          <a:p>
            <a:endParaRPr lang="en-US"/>
          </a:p>
        </p:txBody>
      </p:sp>
      <p:sp>
        <p:nvSpPr>
          <p:cNvPr id="79" name="t79"/>
          <p:cNvSpPr txBox="1"/>
          <p:nvPr/>
        </p:nvSpPr>
        <p:spPr>
          <a:xfrm>
            <a:off x="1078200" y="5347266"/>
            <a:ext cx="392133" cy="392133"/>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5</a:t>
            </a:r>
          </a:p>
        </p:txBody>
      </p:sp>
      <p:sp>
        <p:nvSpPr>
          <p:cNvPr id="80" name="t80"/>
          <p:cNvSpPr txBox="1"/>
          <p:nvPr/>
        </p:nvSpPr>
        <p:spPr>
          <a:xfrm>
            <a:off x="1710333" y="5128132"/>
            <a:ext cx="4015667" cy="899599"/>
          </a:xfrm>
          <a:prstGeom prst="rect">
            <a:avLst/>
          </a:prstGeom>
          <a:noFill/>
        </p:spPr>
        <p:txBody>
          <a:bodyPr wrap="square" lIns="0" tIns="0" rIns="0" bIns="0" anchor="t">
            <a:normAutofit/>
          </a:bodyPr>
          <a:lstStyle/>
          <a:p>
            <a:pPr algn="l">
              <a:lnSpc>
                <a:spcPct val="100000"/>
              </a:lnSpc>
              <a:spcBef>
                <a:spcPts val="0"/>
              </a:spcBef>
            </a:pPr>
            <a:r>
              <a:rPr lang="en-US" sz="1300" b="1" spc="0" dirty="0">
                <a:solidFill>
                  <a:srgbClr val="2E2A26"/>
                </a:solidFill>
                <a:latin typeface="Segoe UI"/>
                <a:cs typeface="Segoe UI"/>
              </a:rPr>
              <a:t>Log decisions, not just prompts</a:t>
            </a:r>
          </a:p>
          <a:p>
            <a:pPr algn="l">
              <a:lnSpc>
                <a:spcPct val="115000"/>
              </a:lnSpc>
              <a:spcBef>
                <a:spcPts val="400"/>
              </a:spcBef>
            </a:pPr>
            <a:r>
              <a:rPr lang="en-US" sz="1050" b="0" spc="0" dirty="0">
                <a:solidFill>
                  <a:srgbClr val="4A423A"/>
                </a:solidFill>
                <a:latin typeface="Segoe UI"/>
                <a:cs typeface="Segoe UI"/>
              </a:rPr>
              <a:t>Record where AI assisted a hiring, pay or disciplinary decision, what a human checked, and what evidence supported it.</a:t>
            </a:r>
          </a:p>
        </p:txBody>
      </p:sp>
      <p:sp>
        <p:nvSpPr>
          <p:cNvPr id="81" name="s81"/>
          <p:cNvSpPr/>
          <p:nvPr/>
        </p:nvSpPr>
        <p:spPr>
          <a:xfrm>
            <a:off x="6206000" y="4966666"/>
            <a:ext cx="5147800" cy="1153333"/>
          </a:xfrm>
          <a:prstGeom prst="roundRect">
            <a:avLst>
              <a:gd name="adj" fmla="val 10000"/>
            </a:avLst>
          </a:prstGeom>
          <a:solidFill>
            <a:srgbClr val="FBF6EC"/>
          </a:solidFill>
          <a:ln w="12700">
            <a:solidFill>
              <a:srgbClr val="E0CDB0"/>
            </a:solidFill>
          </a:ln>
        </p:spPr>
        <p:txBody>
          <a:bodyPr/>
          <a:lstStyle/>
          <a:p>
            <a:endParaRPr lang="en-US"/>
          </a:p>
        </p:txBody>
      </p:sp>
      <p:sp>
        <p:nvSpPr>
          <p:cNvPr id="82" name="s82"/>
          <p:cNvSpPr/>
          <p:nvPr/>
        </p:nvSpPr>
        <p:spPr>
          <a:xfrm>
            <a:off x="6446000" y="5347266"/>
            <a:ext cx="392133" cy="392133"/>
          </a:xfrm>
          <a:prstGeom prst="ellipse">
            <a:avLst/>
          </a:prstGeom>
          <a:solidFill>
            <a:srgbClr val="B4553A"/>
          </a:solidFill>
          <a:ln>
            <a:noFill/>
          </a:ln>
        </p:spPr>
        <p:txBody>
          <a:bodyPr/>
          <a:lstStyle/>
          <a:p>
            <a:endParaRPr lang="en-US"/>
          </a:p>
        </p:txBody>
      </p:sp>
      <p:sp>
        <p:nvSpPr>
          <p:cNvPr id="83" name="t83"/>
          <p:cNvSpPr txBox="1"/>
          <p:nvPr/>
        </p:nvSpPr>
        <p:spPr>
          <a:xfrm>
            <a:off x="6446000" y="5347266"/>
            <a:ext cx="392133" cy="392133"/>
          </a:xfrm>
          <a:prstGeom prst="rect">
            <a:avLst/>
          </a:prstGeom>
          <a:noFill/>
        </p:spPr>
        <p:txBody>
          <a:bodyPr wrap="square" lIns="0" tIns="0" rIns="0" bIns="0" anchor="ctr">
            <a:normAutofit/>
          </a:bodyPr>
          <a:lstStyle/>
          <a:p>
            <a:pPr algn="ctr">
              <a:lnSpc>
                <a:spcPct val="100000"/>
              </a:lnSpc>
              <a:spcBef>
                <a:spcPts val="0"/>
              </a:spcBef>
            </a:pPr>
            <a:r>
              <a:rPr lang="en-US" sz="1200" b="1" spc="0" dirty="0">
                <a:solidFill>
                  <a:srgbClr val="FBF6EC"/>
                </a:solidFill>
                <a:latin typeface="Segoe UI"/>
                <a:cs typeface="Segoe UI"/>
              </a:rPr>
              <a:t>6</a:t>
            </a:r>
          </a:p>
        </p:txBody>
      </p:sp>
      <p:sp>
        <p:nvSpPr>
          <p:cNvPr id="84" name="t84"/>
          <p:cNvSpPr txBox="1"/>
          <p:nvPr/>
        </p:nvSpPr>
        <p:spPr>
          <a:xfrm>
            <a:off x="7078133" y="5128132"/>
            <a:ext cx="4015667" cy="899599"/>
          </a:xfrm>
          <a:prstGeom prst="rect">
            <a:avLst/>
          </a:prstGeom>
          <a:noFill/>
        </p:spPr>
        <p:txBody>
          <a:bodyPr wrap="square" lIns="0" tIns="0" rIns="0" bIns="0" anchor="t">
            <a:normAutofit/>
          </a:bodyPr>
          <a:lstStyle/>
          <a:p>
            <a:pPr algn="l">
              <a:lnSpc>
                <a:spcPct val="100000"/>
              </a:lnSpc>
              <a:spcBef>
                <a:spcPts val="0"/>
              </a:spcBef>
            </a:pPr>
            <a:r>
              <a:rPr lang="en-US" sz="1300" b="1" spc="0" dirty="0">
                <a:solidFill>
                  <a:srgbClr val="2E2A26"/>
                </a:solidFill>
                <a:latin typeface="Segoe UI"/>
                <a:cs typeface="Segoe UI"/>
              </a:rPr>
              <a:t>Rehearse the incident</a:t>
            </a:r>
          </a:p>
          <a:p>
            <a:pPr algn="l">
              <a:lnSpc>
                <a:spcPct val="115000"/>
              </a:lnSpc>
              <a:spcBef>
                <a:spcPts val="400"/>
              </a:spcBef>
            </a:pPr>
            <a:r>
              <a:rPr lang="en-US" sz="1050" b="0" spc="0" dirty="0">
                <a:solidFill>
                  <a:srgbClr val="4A423A"/>
                </a:solidFill>
                <a:latin typeface="Segoe UI"/>
                <a:cs typeface="Segoe UI"/>
              </a:rPr>
              <a:t>Know who to call if confidential data is pasted somewhere it should not be, and treat it as a data incident, not an embarrassment.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11"/>
          <p:cNvSpPr/>
          <p:nvPr/>
        </p:nvSpPr>
        <p:spPr>
          <a:xfrm>
            <a:off x="0" y="0"/>
            <a:ext cx="12192000" cy="6858000"/>
          </a:xfrm>
          <a:prstGeom prst="rect">
            <a:avLst/>
          </a:prstGeom>
          <a:solidFill>
            <a:srgbClr val="F3EBDD"/>
          </a:solidFill>
          <a:ln>
            <a:noFill/>
          </a:ln>
        </p:spPr>
        <p:txBody>
          <a:bodyPr/>
          <a:lstStyle/>
          <a:p>
            <a:endParaRPr lang="en-US"/>
          </a:p>
        </p:txBody>
      </p:sp>
      <p:sp>
        <p:nvSpPr>
          <p:cNvPr id="12" name="s12"/>
          <p:cNvSpPr/>
          <p:nvPr/>
        </p:nvSpPr>
        <p:spPr>
          <a:xfrm>
            <a:off x="0" y="0"/>
            <a:ext cx="12192000" cy="80000"/>
          </a:xfrm>
          <a:prstGeom prst="rect">
            <a:avLst/>
          </a:prstGeom>
          <a:solidFill>
            <a:srgbClr val="B4553A"/>
          </a:solidFill>
          <a:ln>
            <a:noFill/>
          </a:ln>
        </p:spPr>
        <p:txBody>
          <a:bodyPr/>
          <a:lstStyle/>
          <a:p>
            <a:endParaRPr lang="en-US"/>
          </a:p>
        </p:txBody>
      </p:sp>
      <p:sp>
        <p:nvSpPr>
          <p:cNvPr id="13" name="s13"/>
          <p:cNvSpPr/>
          <p:nvPr/>
        </p:nvSpPr>
        <p:spPr>
          <a:xfrm>
            <a:off x="838200" y="520700"/>
            <a:ext cx="180000" cy="180000"/>
          </a:xfrm>
          <a:prstGeom prst="ellipse">
            <a:avLst/>
          </a:prstGeom>
          <a:solidFill>
            <a:srgbClr val="7A7A4E"/>
          </a:solidFill>
          <a:ln>
            <a:noFill/>
          </a:ln>
        </p:spPr>
        <p:txBody>
          <a:bodyPr/>
          <a:lstStyle/>
          <a:p>
            <a:endParaRPr lang="en-US"/>
          </a:p>
        </p:txBody>
      </p:sp>
      <p:sp>
        <p:nvSpPr>
          <p:cNvPr id="14" name="t14"/>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EMPLOYEE POLICY</a:t>
            </a:r>
          </a:p>
        </p:txBody>
      </p:sp>
      <p:sp>
        <p:nvSpPr>
          <p:cNvPr id="15" name="t15"/>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Using AI at Work: The One-Page Rule</a:t>
            </a:r>
          </a:p>
        </p:txBody>
      </p:sp>
      <p:sp>
        <p:nvSpPr>
          <p:cNvPr id="16" name="s16"/>
          <p:cNvSpPr/>
          <p:nvPr/>
        </p:nvSpPr>
        <p:spPr>
          <a:xfrm>
            <a:off x="838200" y="1540000"/>
            <a:ext cx="3200000" cy="26000"/>
          </a:xfrm>
          <a:prstGeom prst="rect">
            <a:avLst/>
          </a:prstGeom>
          <a:solidFill>
            <a:srgbClr val="B4553A"/>
          </a:solidFill>
          <a:ln>
            <a:noFill/>
          </a:ln>
        </p:spPr>
        <p:txBody>
          <a:bodyPr/>
          <a:lstStyle/>
          <a:p>
            <a:endParaRPr lang="en-US"/>
          </a:p>
        </p:txBody>
      </p:sp>
      <p:sp>
        <p:nvSpPr>
          <p:cNvPr id="17" name="t17"/>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Print it, pin it, and link it from every tool. If a situation is not covered here, ask HR before you paste.</a:t>
            </a:r>
          </a:p>
        </p:txBody>
      </p:sp>
      <p:sp>
        <p:nvSpPr>
          <p:cNvPr id="18" name="s18"/>
          <p:cNvSpPr/>
          <p:nvPr/>
        </p:nvSpPr>
        <p:spPr>
          <a:xfrm>
            <a:off x="838200" y="6420000"/>
            <a:ext cx="10515600" cy="12700"/>
          </a:xfrm>
          <a:prstGeom prst="rect">
            <a:avLst/>
          </a:prstGeom>
          <a:solidFill>
            <a:srgbClr val="E0CDB0"/>
          </a:solidFill>
          <a:ln>
            <a:noFill/>
          </a:ln>
        </p:spPr>
        <p:txBody>
          <a:bodyPr/>
          <a:lstStyle/>
          <a:p>
            <a:endParaRPr lang="en-US"/>
          </a:p>
        </p:txBody>
      </p:sp>
      <p:sp>
        <p:nvSpPr>
          <p:cNvPr id="19" name="t19"/>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Protecting confidential employee information</a:t>
            </a:r>
          </a:p>
        </p:txBody>
      </p:sp>
      <p:sp>
        <p:nvSpPr>
          <p:cNvPr id="20" name="s20"/>
          <p:cNvSpPr/>
          <p:nvPr/>
        </p:nvSpPr>
        <p:spPr>
          <a:xfrm>
            <a:off x="838200" y="2280000"/>
            <a:ext cx="5137800" cy="2380000"/>
          </a:xfrm>
          <a:prstGeom prst="roundRect">
            <a:avLst>
              <a:gd name="adj" fmla="val 7000"/>
            </a:avLst>
          </a:prstGeom>
          <a:solidFill>
            <a:srgbClr val="FBF6EC"/>
          </a:solidFill>
          <a:ln w="12700">
            <a:solidFill>
              <a:srgbClr val="E0CDB0"/>
            </a:solidFill>
          </a:ln>
        </p:spPr>
        <p:txBody>
          <a:bodyPr/>
          <a:lstStyle/>
          <a:p>
            <a:endParaRPr lang="en-US"/>
          </a:p>
        </p:txBody>
      </p:sp>
      <p:sp>
        <p:nvSpPr>
          <p:cNvPr id="21" name="s21"/>
          <p:cNvSpPr/>
          <p:nvPr/>
        </p:nvSpPr>
        <p:spPr>
          <a:xfrm>
            <a:off x="838200" y="2280000"/>
            <a:ext cx="5137800" cy="140000"/>
          </a:xfrm>
          <a:prstGeom prst="roundRect">
            <a:avLst>
              <a:gd name="adj" fmla="val 20000"/>
            </a:avLst>
          </a:prstGeom>
          <a:solidFill>
            <a:srgbClr val="5F7A4A"/>
          </a:solidFill>
          <a:ln>
            <a:noFill/>
          </a:ln>
        </p:spPr>
        <p:txBody>
          <a:bodyPr/>
          <a:lstStyle/>
          <a:p>
            <a:endParaRPr lang="en-US"/>
          </a:p>
        </p:txBody>
      </p:sp>
      <p:sp>
        <p:nvSpPr>
          <p:cNvPr id="22" name="t22"/>
          <p:cNvSpPr txBox="1"/>
          <p:nvPr/>
        </p:nvSpPr>
        <p:spPr>
          <a:xfrm>
            <a:off x="1158200" y="2610000"/>
            <a:ext cx="4497800" cy="320000"/>
          </a:xfrm>
          <a:prstGeom prst="rect">
            <a:avLst/>
          </a:prstGeom>
          <a:noFill/>
        </p:spPr>
        <p:txBody>
          <a:bodyPr wrap="square" lIns="0" tIns="0" rIns="0" bIns="0" anchor="t">
            <a:normAutofit/>
          </a:bodyPr>
          <a:lstStyle/>
          <a:p>
            <a:pPr algn="l">
              <a:lnSpc>
                <a:spcPct val="100000"/>
              </a:lnSpc>
              <a:spcBef>
                <a:spcPts val="0"/>
              </a:spcBef>
            </a:pPr>
            <a:r>
              <a:rPr lang="en-US" sz="1600" b="1" spc="100" dirty="0">
                <a:solidFill>
                  <a:srgbClr val="5F7A4A"/>
                </a:solidFill>
                <a:latin typeface="Segoe UI"/>
                <a:cs typeface="Segoe UI"/>
              </a:rPr>
              <a:t>DO</a:t>
            </a:r>
          </a:p>
        </p:txBody>
      </p:sp>
      <p:sp>
        <p:nvSpPr>
          <p:cNvPr id="23" name="t23"/>
          <p:cNvSpPr txBox="1"/>
          <p:nvPr/>
        </p:nvSpPr>
        <p:spPr>
          <a:xfrm>
            <a:off x="1158200" y="3080000"/>
            <a:ext cx="4497800" cy="1440000"/>
          </a:xfrm>
          <a:prstGeom prst="rect">
            <a:avLst/>
          </a:prstGeom>
          <a:noFill/>
        </p:spPr>
        <p:txBody>
          <a:bodyPr wrap="square" lIns="0" tIns="0" rIns="0" bIns="0" anchor="t">
            <a:normAutofit/>
          </a:bodyPr>
          <a:lstStyle/>
          <a:p>
            <a:pPr algn="l">
              <a:lnSpc>
                <a:spcPct val="112000"/>
              </a:lnSpc>
              <a:spcBef>
                <a:spcPts val="0"/>
              </a:spcBef>
            </a:pPr>
            <a:r>
              <a:rPr lang="en-US" sz="1150" b="1" spc="0" dirty="0">
                <a:solidFill>
                  <a:srgbClr val="5F7A4A"/>
                </a:solidFill>
                <a:latin typeface="Segoe UI"/>
                <a:cs typeface="Segoe UI"/>
              </a:rPr>
              <a:t>— </a:t>
            </a:r>
            <a:r>
              <a:rPr lang="en-US" sz="1150" b="0" spc="0" dirty="0">
                <a:solidFill>
                  <a:srgbClr val="4A423A"/>
                </a:solidFill>
                <a:latin typeface="Segoe UI"/>
                <a:cs typeface="Segoe UI"/>
              </a:rPr>
              <a:t>Use only the tools the company has approved and signed up for.</a:t>
            </a:r>
          </a:p>
          <a:p>
            <a:pPr algn="l">
              <a:lnSpc>
                <a:spcPct val="112000"/>
              </a:lnSpc>
              <a:spcBef>
                <a:spcPts val="640"/>
              </a:spcBef>
            </a:pPr>
            <a:r>
              <a:rPr lang="en-US" sz="1150" b="1" spc="0" dirty="0">
                <a:solidFill>
                  <a:srgbClr val="5F7A4A"/>
                </a:solidFill>
                <a:latin typeface="Segoe UI"/>
                <a:cs typeface="Segoe UI"/>
              </a:rPr>
              <a:t>— </a:t>
            </a:r>
            <a:r>
              <a:rPr lang="en-US" sz="1150" b="0" spc="0" dirty="0">
                <a:solidFill>
                  <a:srgbClr val="4A423A"/>
                </a:solidFill>
                <a:latin typeface="Segoe UI"/>
                <a:cs typeface="Segoe UI"/>
              </a:rPr>
              <a:t>Strip names, IDs, salaries and health details before you prompt.</a:t>
            </a:r>
          </a:p>
          <a:p>
            <a:pPr algn="l">
              <a:lnSpc>
                <a:spcPct val="112000"/>
              </a:lnSpc>
              <a:spcBef>
                <a:spcPts val="640"/>
              </a:spcBef>
            </a:pPr>
            <a:r>
              <a:rPr lang="en-US" sz="1150" b="1" spc="0" dirty="0">
                <a:solidFill>
                  <a:srgbClr val="5F7A4A"/>
                </a:solidFill>
                <a:latin typeface="Segoe UI"/>
                <a:cs typeface="Segoe UI"/>
              </a:rPr>
              <a:t>— </a:t>
            </a:r>
            <a:r>
              <a:rPr lang="en-US" sz="1150" b="0" spc="0" dirty="0">
                <a:solidFill>
                  <a:srgbClr val="4A423A"/>
                </a:solidFill>
                <a:latin typeface="Segoe UI"/>
                <a:cs typeface="Segoe UI"/>
              </a:rPr>
              <a:t>Attach our own policy or document and ask for answers from it.</a:t>
            </a:r>
          </a:p>
          <a:p>
            <a:pPr algn="l">
              <a:lnSpc>
                <a:spcPct val="112000"/>
              </a:lnSpc>
              <a:spcBef>
                <a:spcPts val="640"/>
              </a:spcBef>
            </a:pPr>
            <a:r>
              <a:rPr lang="en-US" sz="1150" b="1" spc="0" dirty="0">
                <a:solidFill>
                  <a:srgbClr val="5F7A4A"/>
                </a:solidFill>
                <a:latin typeface="Segoe UI"/>
                <a:cs typeface="Segoe UI"/>
              </a:rPr>
              <a:t>— </a:t>
            </a:r>
            <a:r>
              <a:rPr lang="en-US" sz="1150" b="0" spc="0" dirty="0">
                <a:solidFill>
                  <a:srgbClr val="4A423A"/>
                </a:solidFill>
                <a:latin typeface="Segoe UI"/>
                <a:cs typeface="Segoe UI"/>
              </a:rPr>
              <a:t>Check every fact, figure and clause the assistant gives you.</a:t>
            </a:r>
          </a:p>
          <a:p>
            <a:pPr algn="l">
              <a:lnSpc>
                <a:spcPct val="112000"/>
              </a:lnSpc>
              <a:spcBef>
                <a:spcPts val="640"/>
              </a:spcBef>
            </a:pPr>
            <a:r>
              <a:rPr lang="en-US" sz="1150" b="1" spc="0" dirty="0">
                <a:solidFill>
                  <a:srgbClr val="5F7A4A"/>
                </a:solidFill>
                <a:latin typeface="Segoe UI"/>
                <a:cs typeface="Segoe UI"/>
              </a:rPr>
              <a:t>— </a:t>
            </a:r>
            <a:r>
              <a:rPr lang="en-US" sz="1150" b="0" spc="0" dirty="0">
                <a:solidFill>
                  <a:srgbClr val="4A423A"/>
                </a:solidFill>
                <a:latin typeface="Segoe UI"/>
                <a:cs typeface="Segoe UI"/>
              </a:rPr>
              <a:t>Say when AI helped draft something a colleague will act on.</a:t>
            </a:r>
          </a:p>
        </p:txBody>
      </p:sp>
      <p:sp>
        <p:nvSpPr>
          <p:cNvPr id="24" name="s24"/>
          <p:cNvSpPr/>
          <p:nvPr/>
        </p:nvSpPr>
        <p:spPr>
          <a:xfrm>
            <a:off x="6216000" y="2280000"/>
            <a:ext cx="5137800" cy="2380000"/>
          </a:xfrm>
          <a:prstGeom prst="roundRect">
            <a:avLst>
              <a:gd name="adj" fmla="val 7000"/>
            </a:avLst>
          </a:prstGeom>
          <a:solidFill>
            <a:srgbClr val="FBF6EC"/>
          </a:solidFill>
          <a:ln w="12700">
            <a:solidFill>
              <a:srgbClr val="E0CDB0"/>
            </a:solidFill>
          </a:ln>
        </p:spPr>
        <p:txBody>
          <a:bodyPr/>
          <a:lstStyle/>
          <a:p>
            <a:endParaRPr lang="en-US"/>
          </a:p>
        </p:txBody>
      </p:sp>
      <p:sp>
        <p:nvSpPr>
          <p:cNvPr id="25" name="s25"/>
          <p:cNvSpPr/>
          <p:nvPr/>
        </p:nvSpPr>
        <p:spPr>
          <a:xfrm>
            <a:off x="6216000" y="2280000"/>
            <a:ext cx="5137800" cy="140000"/>
          </a:xfrm>
          <a:prstGeom prst="roundRect">
            <a:avLst>
              <a:gd name="adj" fmla="val 20000"/>
            </a:avLst>
          </a:prstGeom>
          <a:solidFill>
            <a:srgbClr val="A33B2A"/>
          </a:solidFill>
          <a:ln>
            <a:noFill/>
          </a:ln>
        </p:spPr>
        <p:txBody>
          <a:bodyPr/>
          <a:lstStyle/>
          <a:p>
            <a:endParaRPr lang="en-US"/>
          </a:p>
        </p:txBody>
      </p:sp>
      <p:sp>
        <p:nvSpPr>
          <p:cNvPr id="26" name="t26"/>
          <p:cNvSpPr txBox="1"/>
          <p:nvPr/>
        </p:nvSpPr>
        <p:spPr>
          <a:xfrm>
            <a:off x="6536000" y="2610000"/>
            <a:ext cx="4497800" cy="320000"/>
          </a:xfrm>
          <a:prstGeom prst="rect">
            <a:avLst/>
          </a:prstGeom>
          <a:noFill/>
        </p:spPr>
        <p:txBody>
          <a:bodyPr wrap="square" lIns="0" tIns="0" rIns="0" bIns="0" anchor="t">
            <a:normAutofit/>
          </a:bodyPr>
          <a:lstStyle/>
          <a:p>
            <a:pPr algn="l">
              <a:lnSpc>
                <a:spcPct val="100000"/>
              </a:lnSpc>
              <a:spcBef>
                <a:spcPts val="0"/>
              </a:spcBef>
            </a:pPr>
            <a:r>
              <a:rPr lang="en-US" sz="1600" b="1" spc="100" dirty="0">
                <a:solidFill>
                  <a:srgbClr val="A33B2A"/>
                </a:solidFill>
                <a:latin typeface="Segoe UI"/>
                <a:cs typeface="Segoe UI"/>
              </a:rPr>
              <a:t>DON'T</a:t>
            </a:r>
          </a:p>
        </p:txBody>
      </p:sp>
      <p:sp>
        <p:nvSpPr>
          <p:cNvPr id="27" name="t27"/>
          <p:cNvSpPr txBox="1"/>
          <p:nvPr/>
        </p:nvSpPr>
        <p:spPr>
          <a:xfrm>
            <a:off x="6536000" y="3080000"/>
            <a:ext cx="4497800" cy="1440000"/>
          </a:xfrm>
          <a:prstGeom prst="rect">
            <a:avLst/>
          </a:prstGeom>
          <a:noFill/>
        </p:spPr>
        <p:txBody>
          <a:bodyPr wrap="square" lIns="0" tIns="0" rIns="0" bIns="0" anchor="t">
            <a:normAutofit/>
          </a:bodyPr>
          <a:lstStyle/>
          <a:p>
            <a:pPr algn="l">
              <a:lnSpc>
                <a:spcPct val="112000"/>
              </a:lnSpc>
              <a:spcBef>
                <a:spcPts val="0"/>
              </a:spcBef>
            </a:pPr>
            <a:r>
              <a:rPr lang="en-US" sz="1150" b="1" spc="0" dirty="0">
                <a:solidFill>
                  <a:srgbClr val="A33B2A"/>
                </a:solidFill>
                <a:latin typeface="Segoe UI"/>
                <a:cs typeface="Segoe UI"/>
              </a:rPr>
              <a:t>— </a:t>
            </a:r>
            <a:r>
              <a:rPr lang="en-US" sz="1150" b="0" spc="0" dirty="0">
                <a:solidFill>
                  <a:srgbClr val="4A423A"/>
                </a:solidFill>
                <a:latin typeface="Segoe UI"/>
                <a:cs typeface="Segoe UI"/>
              </a:rPr>
              <a:t>Never paste employee records, CVs, payslips or case files.</a:t>
            </a:r>
          </a:p>
          <a:p>
            <a:pPr algn="l">
              <a:lnSpc>
                <a:spcPct val="112000"/>
              </a:lnSpc>
              <a:spcBef>
                <a:spcPts val="640"/>
              </a:spcBef>
            </a:pPr>
            <a:r>
              <a:rPr lang="en-US" sz="1150" b="1" spc="0" dirty="0">
                <a:solidFill>
                  <a:srgbClr val="A33B2A"/>
                </a:solidFill>
                <a:latin typeface="Segoe UI"/>
                <a:cs typeface="Segoe UI"/>
              </a:rPr>
              <a:t>— </a:t>
            </a:r>
            <a:r>
              <a:rPr lang="en-US" sz="1150" b="0" spc="0" dirty="0">
                <a:solidFill>
                  <a:srgbClr val="4A423A"/>
                </a:solidFill>
                <a:latin typeface="Segoe UI"/>
                <a:cs typeface="Segoe UI"/>
              </a:rPr>
              <a:t>Never use a personal account or an unapproved free tool.</a:t>
            </a:r>
          </a:p>
          <a:p>
            <a:pPr algn="l">
              <a:lnSpc>
                <a:spcPct val="112000"/>
              </a:lnSpc>
              <a:spcBef>
                <a:spcPts val="640"/>
              </a:spcBef>
            </a:pPr>
            <a:r>
              <a:rPr lang="en-US" sz="1150" b="1" spc="0" dirty="0">
                <a:solidFill>
                  <a:srgbClr val="A33B2A"/>
                </a:solidFill>
                <a:latin typeface="Segoe UI"/>
                <a:cs typeface="Segoe UI"/>
              </a:rPr>
              <a:t>— </a:t>
            </a:r>
            <a:r>
              <a:rPr lang="en-US" sz="1150" b="0" spc="0" dirty="0">
                <a:solidFill>
                  <a:srgbClr val="4A423A"/>
                </a:solidFill>
                <a:latin typeface="Segoe UI"/>
                <a:cs typeface="Segoe UI"/>
              </a:rPr>
              <a:t>Never let AI make a hiring, pay or disciplinary decision.</a:t>
            </a:r>
          </a:p>
          <a:p>
            <a:pPr algn="l">
              <a:lnSpc>
                <a:spcPct val="112000"/>
              </a:lnSpc>
              <a:spcBef>
                <a:spcPts val="640"/>
              </a:spcBef>
            </a:pPr>
            <a:r>
              <a:rPr lang="en-US" sz="1150" b="1" spc="0" dirty="0">
                <a:solidFill>
                  <a:srgbClr val="A33B2A"/>
                </a:solidFill>
                <a:latin typeface="Segoe UI"/>
                <a:cs typeface="Segoe UI"/>
              </a:rPr>
              <a:t>— </a:t>
            </a:r>
            <a:r>
              <a:rPr lang="en-US" sz="1150" b="0" spc="0" dirty="0">
                <a:solidFill>
                  <a:srgbClr val="4A423A"/>
                </a:solidFill>
                <a:latin typeface="Segoe UI"/>
                <a:cs typeface="Segoe UI"/>
              </a:rPr>
              <a:t>Never share customer or commercially confidential data.</a:t>
            </a:r>
          </a:p>
          <a:p>
            <a:pPr algn="l">
              <a:lnSpc>
                <a:spcPct val="112000"/>
              </a:lnSpc>
              <a:spcBef>
                <a:spcPts val="640"/>
              </a:spcBef>
            </a:pPr>
            <a:r>
              <a:rPr lang="en-US" sz="1150" b="1" spc="0" dirty="0">
                <a:solidFill>
                  <a:srgbClr val="A33B2A"/>
                </a:solidFill>
                <a:latin typeface="Segoe UI"/>
                <a:cs typeface="Segoe UI"/>
              </a:rPr>
              <a:t>— </a:t>
            </a:r>
            <a:r>
              <a:rPr lang="en-US" sz="1150" b="0" spc="0" dirty="0">
                <a:solidFill>
                  <a:srgbClr val="4A423A"/>
                </a:solidFill>
                <a:latin typeface="Segoe UI"/>
                <a:cs typeface="Segoe UI"/>
              </a:rPr>
              <a:t>Never assume the output is accurate, fair or unbiased.</a:t>
            </a:r>
          </a:p>
        </p:txBody>
      </p:sp>
      <p:sp>
        <p:nvSpPr>
          <p:cNvPr id="28" name="s28"/>
          <p:cNvSpPr/>
          <p:nvPr/>
        </p:nvSpPr>
        <p:spPr>
          <a:xfrm>
            <a:off x="838200" y="4960000"/>
            <a:ext cx="10515600" cy="1080000"/>
          </a:xfrm>
          <a:prstGeom prst="roundRect">
            <a:avLst>
              <a:gd name="adj" fmla="val 12000"/>
            </a:avLst>
          </a:prstGeom>
          <a:solidFill>
            <a:srgbClr val="F6EEE0"/>
          </a:solidFill>
          <a:ln w="12700">
            <a:solidFill>
              <a:srgbClr val="E0CDB0"/>
            </a:solidFill>
          </a:ln>
        </p:spPr>
        <p:txBody>
          <a:bodyPr/>
          <a:lstStyle/>
          <a:p>
            <a:endParaRPr lang="en-US"/>
          </a:p>
        </p:txBody>
      </p:sp>
      <p:sp>
        <p:nvSpPr>
          <p:cNvPr id="29" name="s29"/>
          <p:cNvSpPr/>
          <p:nvPr/>
        </p:nvSpPr>
        <p:spPr>
          <a:xfrm>
            <a:off x="838200" y="4960000"/>
            <a:ext cx="60000" cy="1080000"/>
          </a:xfrm>
          <a:prstGeom prst="rect">
            <a:avLst/>
          </a:prstGeom>
          <a:solidFill>
            <a:srgbClr val="B4553A"/>
          </a:solidFill>
          <a:ln>
            <a:noFill/>
          </a:ln>
        </p:spPr>
        <p:txBody>
          <a:bodyPr/>
          <a:lstStyle/>
          <a:p>
            <a:endParaRPr lang="en-US"/>
          </a:p>
        </p:txBody>
      </p:sp>
      <p:sp>
        <p:nvSpPr>
          <p:cNvPr id="30" name="t30"/>
          <p:cNvSpPr txBox="1"/>
          <p:nvPr/>
        </p:nvSpPr>
        <p:spPr>
          <a:xfrm>
            <a:off x="1138200" y="5190000"/>
            <a:ext cx="3038533" cy="620000"/>
          </a:xfrm>
          <a:prstGeom prst="rect">
            <a:avLst/>
          </a:prstGeom>
          <a:noFill/>
        </p:spPr>
        <p:txBody>
          <a:bodyPr wrap="square" lIns="0" tIns="0" rIns="0" bIns="0" anchor="t">
            <a:normAutofit/>
          </a:bodyPr>
          <a:lstStyle/>
          <a:p>
            <a:pPr algn="l">
              <a:lnSpc>
                <a:spcPct val="100000"/>
              </a:lnSpc>
              <a:spcBef>
                <a:spcPts val="0"/>
              </a:spcBef>
            </a:pPr>
            <a:r>
              <a:rPr lang="en-US" sz="1000" b="1" spc="150" dirty="0">
                <a:solidFill>
                  <a:srgbClr val="B4553A"/>
                </a:solidFill>
                <a:latin typeface="Segoe UI"/>
                <a:cs typeface="Segoe UI"/>
              </a:rPr>
              <a:t>YOU STAY ACCOUNTABLE</a:t>
            </a:r>
          </a:p>
          <a:p>
            <a:pPr algn="l">
              <a:lnSpc>
                <a:spcPct val="115000"/>
              </a:lnSpc>
              <a:spcBef>
                <a:spcPts val="260"/>
              </a:spcBef>
            </a:pPr>
            <a:r>
              <a:rPr lang="en-US" sz="1050" b="0" spc="0" dirty="0">
                <a:solidFill>
                  <a:srgbClr val="2E2A26"/>
                </a:solidFill>
                <a:latin typeface="Segoe UI"/>
                <a:cs typeface="Segoe UI"/>
              </a:rPr>
              <a:t>AI drafts; you own what you send, decide and record.</a:t>
            </a:r>
          </a:p>
        </p:txBody>
      </p:sp>
      <p:sp>
        <p:nvSpPr>
          <p:cNvPr id="31" name="t31"/>
          <p:cNvSpPr txBox="1"/>
          <p:nvPr/>
        </p:nvSpPr>
        <p:spPr>
          <a:xfrm>
            <a:off x="4456733" y="5190000"/>
            <a:ext cx="3038533" cy="620000"/>
          </a:xfrm>
          <a:prstGeom prst="rect">
            <a:avLst/>
          </a:prstGeom>
          <a:noFill/>
        </p:spPr>
        <p:txBody>
          <a:bodyPr wrap="square" lIns="0" tIns="0" rIns="0" bIns="0" anchor="t">
            <a:normAutofit/>
          </a:bodyPr>
          <a:lstStyle/>
          <a:p>
            <a:pPr algn="l">
              <a:lnSpc>
                <a:spcPct val="100000"/>
              </a:lnSpc>
              <a:spcBef>
                <a:spcPts val="0"/>
              </a:spcBef>
            </a:pPr>
            <a:r>
              <a:rPr lang="en-US" sz="1000" b="1" spc="150" dirty="0">
                <a:solidFill>
                  <a:srgbClr val="B4553A"/>
                </a:solidFill>
                <a:latin typeface="Segoe UI"/>
                <a:cs typeface="Segoe UI"/>
              </a:rPr>
              <a:t>IF IN DOUBT, ASK</a:t>
            </a:r>
          </a:p>
          <a:p>
            <a:pPr algn="l">
              <a:lnSpc>
                <a:spcPct val="115000"/>
              </a:lnSpc>
              <a:spcBef>
                <a:spcPts val="260"/>
              </a:spcBef>
            </a:pPr>
            <a:r>
              <a:rPr lang="en-US" sz="1050" b="0" spc="0" dirty="0">
                <a:solidFill>
                  <a:srgbClr val="2E2A26"/>
                </a:solidFill>
                <a:latin typeface="Segoe UI"/>
                <a:cs typeface="Segoe UI"/>
              </a:rPr>
              <a:t>Unsure whether data is safe to paste? Ask HR or IT first, not the model.</a:t>
            </a:r>
          </a:p>
        </p:txBody>
      </p:sp>
      <p:sp>
        <p:nvSpPr>
          <p:cNvPr id="32" name="t32"/>
          <p:cNvSpPr txBox="1"/>
          <p:nvPr/>
        </p:nvSpPr>
        <p:spPr>
          <a:xfrm>
            <a:off x="7775266" y="5190000"/>
            <a:ext cx="3038533" cy="620000"/>
          </a:xfrm>
          <a:prstGeom prst="rect">
            <a:avLst/>
          </a:prstGeom>
          <a:noFill/>
        </p:spPr>
        <p:txBody>
          <a:bodyPr wrap="square" lIns="0" tIns="0" rIns="0" bIns="0" anchor="t">
            <a:normAutofit/>
          </a:bodyPr>
          <a:lstStyle/>
          <a:p>
            <a:pPr algn="l">
              <a:lnSpc>
                <a:spcPct val="100000"/>
              </a:lnSpc>
              <a:spcBef>
                <a:spcPts val="0"/>
              </a:spcBef>
            </a:pPr>
            <a:r>
              <a:rPr lang="en-US" sz="1000" b="1" spc="150" dirty="0">
                <a:solidFill>
                  <a:srgbClr val="B4553A"/>
                </a:solidFill>
                <a:latin typeface="Segoe UI"/>
                <a:cs typeface="Segoe UI"/>
              </a:rPr>
              <a:t>REPORT A SLIP</a:t>
            </a:r>
          </a:p>
          <a:p>
            <a:pPr algn="l">
              <a:lnSpc>
                <a:spcPct val="115000"/>
              </a:lnSpc>
              <a:spcBef>
                <a:spcPts val="260"/>
              </a:spcBef>
            </a:pPr>
            <a:r>
              <a:rPr lang="en-US" sz="1050" b="0" spc="0" dirty="0">
                <a:solidFill>
                  <a:srgbClr val="2E2A26"/>
                </a:solidFill>
                <a:latin typeface="Segoe UI"/>
                <a:cs typeface="Segoe UI"/>
              </a:rPr>
              <a:t>Pasted something you should not have? Tell HR the same day. It is an incident, not a crime.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140"/>
          <p:cNvSpPr/>
          <p:nvPr/>
        </p:nvSpPr>
        <p:spPr>
          <a:xfrm>
            <a:off x="0" y="0"/>
            <a:ext cx="12192000" cy="6858000"/>
          </a:xfrm>
          <a:prstGeom prst="rect">
            <a:avLst/>
          </a:prstGeom>
          <a:solidFill>
            <a:srgbClr val="F3EBDD"/>
          </a:solidFill>
          <a:ln>
            <a:noFill/>
          </a:ln>
        </p:spPr>
        <p:txBody>
          <a:bodyPr/>
          <a:lstStyle/>
          <a:p>
            <a:endParaRPr lang="en-US"/>
          </a:p>
        </p:txBody>
      </p:sp>
      <p:sp>
        <p:nvSpPr>
          <p:cNvPr id="141" name="s141"/>
          <p:cNvSpPr/>
          <p:nvPr/>
        </p:nvSpPr>
        <p:spPr>
          <a:xfrm>
            <a:off x="0" y="0"/>
            <a:ext cx="12192000" cy="80000"/>
          </a:xfrm>
          <a:prstGeom prst="rect">
            <a:avLst/>
          </a:prstGeom>
          <a:solidFill>
            <a:srgbClr val="B4553A"/>
          </a:solidFill>
          <a:ln>
            <a:noFill/>
          </a:ln>
        </p:spPr>
        <p:txBody>
          <a:bodyPr/>
          <a:lstStyle/>
          <a:p>
            <a:endParaRPr lang="en-US"/>
          </a:p>
        </p:txBody>
      </p:sp>
      <p:sp>
        <p:nvSpPr>
          <p:cNvPr id="142" name="g142"/>
          <p:cNvSpPr/>
          <p:nvPr/>
        </p:nvSpPr>
        <p:spPr>
          <a:xfrm>
            <a:off x="7010400" y="0"/>
            <a:ext cx="5181600" cy="6858000"/>
          </a:xfrm>
          <a:prstGeom prst="rect">
            <a:avLst/>
          </a:prstGeom>
          <a:solidFill>
            <a:srgbClr val="332E29"/>
          </a:solidFill>
          <a:ln>
            <a:noFill/>
          </a:ln>
        </p:spPr>
        <p:txBody>
          <a:bodyPr/>
          <a:lstStyle/>
          <a:p>
            <a:endParaRPr lang="en-US"/>
          </a:p>
        </p:txBody>
      </p:sp>
      <p:sp>
        <p:nvSpPr>
          <p:cNvPr id="143" name="g143"/>
          <p:cNvSpPr/>
          <p:nvPr/>
        </p:nvSpPr>
        <p:spPr>
          <a:xfrm>
            <a:off x="7761732" y="4944020"/>
            <a:ext cx="569976" cy="932320"/>
          </a:xfrm>
          <a:prstGeom prst="rect">
            <a:avLst/>
          </a:prstGeom>
          <a:solidFill>
            <a:srgbClr val="7A7A4E">
              <a:alpha val="90000"/>
            </a:srgbClr>
          </a:solidFill>
          <a:ln>
            <a:noFill/>
          </a:ln>
        </p:spPr>
        <p:txBody>
          <a:bodyPr/>
          <a:lstStyle/>
          <a:p>
            <a:endParaRPr lang="en-US"/>
          </a:p>
        </p:txBody>
      </p:sp>
      <p:sp>
        <p:nvSpPr>
          <p:cNvPr id="144" name="g144"/>
          <p:cNvSpPr/>
          <p:nvPr/>
        </p:nvSpPr>
        <p:spPr>
          <a:xfrm>
            <a:off x="8538972" y="4151548"/>
            <a:ext cx="569976" cy="1724792"/>
          </a:xfrm>
          <a:prstGeom prst="rect">
            <a:avLst/>
          </a:prstGeom>
          <a:solidFill>
            <a:srgbClr val="C08A2E">
              <a:alpha val="90000"/>
            </a:srgbClr>
          </a:solidFill>
          <a:ln>
            <a:noFill/>
          </a:ln>
        </p:spPr>
        <p:txBody>
          <a:bodyPr/>
          <a:lstStyle/>
          <a:p>
            <a:endParaRPr lang="en-US"/>
          </a:p>
        </p:txBody>
      </p:sp>
      <p:sp>
        <p:nvSpPr>
          <p:cNvPr id="145" name="g145"/>
          <p:cNvSpPr/>
          <p:nvPr/>
        </p:nvSpPr>
        <p:spPr>
          <a:xfrm>
            <a:off x="9316212" y="3359076"/>
            <a:ext cx="569976" cy="2517264"/>
          </a:xfrm>
          <a:prstGeom prst="rect">
            <a:avLst/>
          </a:prstGeom>
          <a:solidFill>
            <a:srgbClr val="B4553A">
              <a:alpha val="90000"/>
            </a:srgbClr>
          </a:solidFill>
          <a:ln>
            <a:noFill/>
          </a:ln>
        </p:spPr>
        <p:txBody>
          <a:bodyPr/>
          <a:lstStyle/>
          <a:p>
            <a:endParaRPr lang="en-US"/>
          </a:p>
        </p:txBody>
      </p:sp>
      <p:sp>
        <p:nvSpPr>
          <p:cNvPr id="146" name="g146"/>
          <p:cNvSpPr/>
          <p:nvPr/>
        </p:nvSpPr>
        <p:spPr>
          <a:xfrm>
            <a:off x="10093452" y="2566604"/>
            <a:ext cx="569976" cy="3309736"/>
          </a:xfrm>
          <a:prstGeom prst="rect">
            <a:avLst/>
          </a:prstGeom>
          <a:solidFill>
            <a:srgbClr val="C08A2E">
              <a:alpha val="90000"/>
            </a:srgbClr>
          </a:solidFill>
          <a:ln>
            <a:noFill/>
          </a:ln>
        </p:spPr>
        <p:txBody>
          <a:bodyPr/>
          <a:lstStyle/>
          <a:p>
            <a:endParaRPr lang="en-US"/>
          </a:p>
        </p:txBody>
      </p:sp>
      <p:sp>
        <p:nvSpPr>
          <p:cNvPr id="147" name="g147"/>
          <p:cNvSpPr/>
          <p:nvPr/>
        </p:nvSpPr>
        <p:spPr>
          <a:xfrm>
            <a:off x="10870692" y="1774132"/>
            <a:ext cx="569976" cy="4102208"/>
          </a:xfrm>
          <a:prstGeom prst="rect">
            <a:avLst/>
          </a:prstGeom>
          <a:solidFill>
            <a:srgbClr val="7A7A4E">
              <a:alpha val="90000"/>
            </a:srgbClr>
          </a:solidFill>
          <a:ln>
            <a:noFill/>
          </a:ln>
        </p:spPr>
        <p:txBody>
          <a:bodyPr/>
          <a:lstStyle/>
          <a:p>
            <a:endParaRPr lang="en-US"/>
          </a:p>
        </p:txBody>
      </p:sp>
      <p:sp>
        <p:nvSpPr>
          <p:cNvPr id="148" name="g148"/>
          <p:cNvSpPr/>
          <p:nvPr/>
        </p:nvSpPr>
        <p:spPr>
          <a:xfrm>
            <a:off x="7601732" y="5876340"/>
            <a:ext cx="3998936" cy="26000"/>
          </a:xfrm>
          <a:prstGeom prst="rect">
            <a:avLst/>
          </a:prstGeom>
          <a:solidFill>
            <a:srgbClr val="F3EBDD"/>
          </a:solidFill>
          <a:ln>
            <a:noFill/>
          </a:ln>
        </p:spPr>
        <p:txBody>
          <a:bodyPr/>
          <a:lstStyle/>
          <a:p>
            <a:endParaRPr lang="en-US"/>
          </a:p>
        </p:txBody>
      </p:sp>
      <p:sp>
        <p:nvSpPr>
          <p:cNvPr id="149" name="t149"/>
          <p:cNvSpPr txBox="1"/>
          <p:nvPr/>
        </p:nvSpPr>
        <p:spPr>
          <a:xfrm>
            <a:off x="838200" y="1900000"/>
            <a:ext cx="5400000" cy="340000"/>
          </a:xfrm>
          <a:prstGeom prst="rect">
            <a:avLst/>
          </a:prstGeom>
          <a:noFill/>
        </p:spPr>
        <p:txBody>
          <a:bodyPr wrap="square" lIns="0" tIns="0" rIns="0" bIns="0" anchor="t">
            <a:normAutofit/>
          </a:bodyPr>
          <a:lstStyle/>
          <a:p>
            <a:pPr algn="l">
              <a:lnSpc>
                <a:spcPct val="100000"/>
              </a:lnSpc>
              <a:spcBef>
                <a:spcPts val="0"/>
              </a:spcBef>
            </a:pPr>
            <a:r>
              <a:rPr lang="en-US" sz="1400" b="1" spc="400" dirty="0">
                <a:solidFill>
                  <a:srgbClr val="B4553A"/>
                </a:solidFill>
                <a:latin typeface="Segoe UI"/>
                <a:cs typeface="Segoe UI"/>
              </a:rPr>
              <a:t>06</a:t>
            </a:r>
          </a:p>
        </p:txBody>
      </p:sp>
      <p:sp>
        <p:nvSpPr>
          <p:cNvPr id="150" name="s150"/>
          <p:cNvSpPr/>
          <p:nvPr/>
        </p:nvSpPr>
        <p:spPr>
          <a:xfrm>
            <a:off x="838200" y="2360000"/>
            <a:ext cx="1400000" cy="26000"/>
          </a:xfrm>
          <a:prstGeom prst="rect">
            <a:avLst/>
          </a:prstGeom>
          <a:solidFill>
            <a:srgbClr val="B4553A"/>
          </a:solidFill>
          <a:ln>
            <a:noFill/>
          </a:ln>
        </p:spPr>
        <p:txBody>
          <a:bodyPr/>
          <a:lstStyle/>
          <a:p>
            <a:endParaRPr lang="en-US"/>
          </a:p>
        </p:txBody>
      </p:sp>
      <p:sp>
        <p:nvSpPr>
          <p:cNvPr id="151" name="t151"/>
          <p:cNvSpPr txBox="1"/>
          <p:nvPr/>
        </p:nvSpPr>
        <p:spPr>
          <a:xfrm>
            <a:off x="838200" y="2640000"/>
            <a:ext cx="5400000" cy="2000000"/>
          </a:xfrm>
          <a:prstGeom prst="rect">
            <a:avLst/>
          </a:prstGeom>
          <a:noFill/>
        </p:spPr>
        <p:txBody>
          <a:bodyPr wrap="square" lIns="0" tIns="0" rIns="0" bIns="0" anchor="t">
            <a:normAutofit/>
          </a:bodyPr>
          <a:lstStyle/>
          <a:p>
            <a:pPr algn="l">
              <a:lnSpc>
                <a:spcPct val="104000"/>
              </a:lnSpc>
              <a:spcBef>
                <a:spcPts val="0"/>
              </a:spcBef>
            </a:pPr>
            <a:r>
              <a:rPr lang="en-US" sz="3400" b="1" spc="0" dirty="0">
                <a:solidFill>
                  <a:srgbClr val="2E2A26"/>
                </a:solidFill>
                <a:latin typeface="Georgia"/>
                <a:cs typeface="Georgia"/>
              </a:rPr>
              <a:t>Now Try It Yourself</a:t>
            </a:r>
          </a:p>
        </p:txBody>
      </p:sp>
      <p:sp>
        <p:nvSpPr>
          <p:cNvPr id="152" name="t152"/>
          <p:cNvSpPr txBox="1"/>
          <p:nvPr/>
        </p:nvSpPr>
        <p:spPr>
          <a:xfrm>
            <a:off x="838200" y="4600000"/>
            <a:ext cx="5400000" cy="1000000"/>
          </a:xfrm>
          <a:prstGeom prst="rect">
            <a:avLst/>
          </a:prstGeom>
          <a:noFill/>
        </p:spPr>
        <p:txBody>
          <a:bodyPr wrap="square" lIns="0" tIns="0" rIns="0" bIns="0" anchor="t">
            <a:normAutofit/>
          </a:bodyPr>
          <a:lstStyle/>
          <a:p>
            <a:pPr algn="l">
              <a:lnSpc>
                <a:spcPct val="125000"/>
              </a:lnSpc>
              <a:spcBef>
                <a:spcPts val="0"/>
              </a:spcBef>
            </a:pPr>
            <a:r>
              <a:rPr lang="en-US" sz="1300" b="0" spc="0" dirty="0">
                <a:solidFill>
                  <a:srgbClr val="4A423A"/>
                </a:solidFill>
                <a:latin typeface="Segoe UI"/>
                <a:cs typeface="Segoe UI"/>
              </a:rPr>
              <a:t>Twenty minutes to turn one real HR task into a prompt worth keeping.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11"/>
          <p:cNvSpPr/>
          <p:nvPr/>
        </p:nvSpPr>
        <p:spPr>
          <a:xfrm>
            <a:off x="0" y="0"/>
            <a:ext cx="12192000" cy="6858000"/>
          </a:xfrm>
          <a:prstGeom prst="rect">
            <a:avLst/>
          </a:prstGeom>
          <a:solidFill>
            <a:srgbClr val="F3EBDD"/>
          </a:solidFill>
          <a:ln>
            <a:noFill/>
          </a:ln>
        </p:spPr>
        <p:txBody>
          <a:bodyPr/>
          <a:lstStyle/>
          <a:p>
            <a:endParaRPr lang="en-US"/>
          </a:p>
        </p:txBody>
      </p:sp>
      <p:sp>
        <p:nvSpPr>
          <p:cNvPr id="12" name="s12"/>
          <p:cNvSpPr/>
          <p:nvPr/>
        </p:nvSpPr>
        <p:spPr>
          <a:xfrm>
            <a:off x="0" y="0"/>
            <a:ext cx="12192000" cy="80000"/>
          </a:xfrm>
          <a:prstGeom prst="rect">
            <a:avLst/>
          </a:prstGeom>
          <a:solidFill>
            <a:srgbClr val="B4553A"/>
          </a:solidFill>
          <a:ln>
            <a:noFill/>
          </a:ln>
        </p:spPr>
        <p:txBody>
          <a:bodyPr/>
          <a:lstStyle/>
          <a:p>
            <a:endParaRPr lang="en-US"/>
          </a:p>
        </p:txBody>
      </p:sp>
      <p:sp>
        <p:nvSpPr>
          <p:cNvPr id="13" name="s13"/>
          <p:cNvSpPr/>
          <p:nvPr/>
        </p:nvSpPr>
        <p:spPr>
          <a:xfrm>
            <a:off x="838200" y="520700"/>
            <a:ext cx="180000" cy="180000"/>
          </a:xfrm>
          <a:prstGeom prst="ellipse">
            <a:avLst/>
          </a:prstGeom>
          <a:solidFill>
            <a:srgbClr val="7A7A4E"/>
          </a:solidFill>
          <a:ln>
            <a:noFill/>
          </a:ln>
        </p:spPr>
        <p:txBody>
          <a:bodyPr/>
          <a:lstStyle/>
          <a:p>
            <a:endParaRPr lang="en-US"/>
          </a:p>
        </p:txBody>
      </p:sp>
      <p:sp>
        <p:nvSpPr>
          <p:cNvPr id="14" name="t14"/>
          <p:cNvSpPr txBox="1"/>
          <p:nvPr/>
        </p:nvSpPr>
        <p:spPr>
          <a:xfrm>
            <a:off x="1100000" y="470700"/>
            <a:ext cx="9000000" cy="280000"/>
          </a:xfrm>
          <a:prstGeom prst="rect">
            <a:avLst/>
          </a:prstGeom>
          <a:noFill/>
        </p:spPr>
        <p:txBody>
          <a:bodyPr wrap="square" lIns="0" tIns="0" rIns="0" bIns="0" anchor="ctr">
            <a:normAutofit/>
          </a:bodyPr>
          <a:lstStyle/>
          <a:p>
            <a:pPr algn="l">
              <a:lnSpc>
                <a:spcPct val="100000"/>
              </a:lnSpc>
              <a:spcBef>
                <a:spcPts val="0"/>
              </a:spcBef>
            </a:pPr>
            <a:r>
              <a:rPr lang="en-US" sz="1200" b="1" spc="300" dirty="0">
                <a:solidFill>
                  <a:srgbClr val="7A7A4E"/>
                </a:solidFill>
                <a:latin typeface="Segoe UI"/>
                <a:cs typeface="Segoe UI"/>
              </a:rPr>
              <a:t>HANDS-ON EXERCISE</a:t>
            </a:r>
          </a:p>
        </p:txBody>
      </p:sp>
      <p:sp>
        <p:nvSpPr>
          <p:cNvPr id="15" name="t15"/>
          <p:cNvSpPr txBox="1"/>
          <p:nvPr/>
        </p:nvSpPr>
        <p:spPr>
          <a:xfrm>
            <a:off x="838200" y="830000"/>
            <a:ext cx="10515600" cy="620000"/>
          </a:xfrm>
          <a:prstGeom prst="rect">
            <a:avLst/>
          </a:prstGeom>
          <a:noFill/>
        </p:spPr>
        <p:txBody>
          <a:bodyPr wrap="square" lIns="0" tIns="0" rIns="0" bIns="0" anchor="t">
            <a:normAutofit/>
          </a:bodyPr>
          <a:lstStyle/>
          <a:p>
            <a:pPr algn="l">
              <a:lnSpc>
                <a:spcPct val="100000"/>
              </a:lnSpc>
              <a:spcBef>
                <a:spcPts val="0"/>
              </a:spcBef>
            </a:pPr>
            <a:r>
              <a:rPr lang="en-US" sz="3000" b="1" spc="0" dirty="0">
                <a:solidFill>
                  <a:srgbClr val="2E2A26"/>
                </a:solidFill>
                <a:latin typeface="Georgia"/>
                <a:cs typeface="Georgia"/>
              </a:rPr>
              <a:t>Your Turn: Build a Prompt That Works</a:t>
            </a:r>
          </a:p>
        </p:txBody>
      </p:sp>
      <p:sp>
        <p:nvSpPr>
          <p:cNvPr id="16" name="s16"/>
          <p:cNvSpPr/>
          <p:nvPr/>
        </p:nvSpPr>
        <p:spPr>
          <a:xfrm>
            <a:off x="838200" y="1540000"/>
            <a:ext cx="3200000" cy="26000"/>
          </a:xfrm>
          <a:prstGeom prst="rect">
            <a:avLst/>
          </a:prstGeom>
          <a:solidFill>
            <a:srgbClr val="B4553A"/>
          </a:solidFill>
          <a:ln>
            <a:noFill/>
          </a:ln>
        </p:spPr>
        <p:txBody>
          <a:bodyPr/>
          <a:lstStyle/>
          <a:p>
            <a:endParaRPr lang="en-US"/>
          </a:p>
        </p:txBody>
      </p:sp>
      <p:sp>
        <p:nvSpPr>
          <p:cNvPr id="17" name="t17"/>
          <p:cNvSpPr txBox="1"/>
          <p:nvPr/>
        </p:nvSpPr>
        <p:spPr>
          <a:xfrm>
            <a:off x="838200" y="1700000"/>
            <a:ext cx="10515600" cy="420000"/>
          </a:xfrm>
          <a:prstGeom prst="rect">
            <a:avLst/>
          </a:prstGeom>
          <a:noFill/>
        </p:spPr>
        <p:txBody>
          <a:bodyPr wrap="square" lIns="0" tIns="0" rIns="0" bIns="0" anchor="t">
            <a:normAutofit/>
          </a:bodyPr>
          <a:lstStyle/>
          <a:p>
            <a:pPr algn="l">
              <a:lnSpc>
                <a:spcPct val="120000"/>
              </a:lnSpc>
              <a:spcBef>
                <a:spcPts val="0"/>
              </a:spcBef>
            </a:pPr>
            <a:r>
              <a:rPr lang="en-US" sz="1300" b="0" spc="0" dirty="0">
                <a:solidFill>
                  <a:srgbClr val="4A423A"/>
                </a:solidFill>
                <a:latin typeface="Segoe UI"/>
                <a:cs typeface="Segoe UI"/>
              </a:rPr>
              <a:t>Twenty minutes, in pairs. Take a real HR task you did last week and turn it into a prompt you would keep.</a:t>
            </a:r>
          </a:p>
        </p:txBody>
      </p:sp>
      <p:sp>
        <p:nvSpPr>
          <p:cNvPr id="18" name="s18"/>
          <p:cNvSpPr/>
          <p:nvPr/>
        </p:nvSpPr>
        <p:spPr>
          <a:xfrm>
            <a:off x="838200" y="6420000"/>
            <a:ext cx="10515600" cy="12700"/>
          </a:xfrm>
          <a:prstGeom prst="rect">
            <a:avLst/>
          </a:prstGeom>
          <a:solidFill>
            <a:srgbClr val="E0CDB0"/>
          </a:solidFill>
          <a:ln>
            <a:noFill/>
          </a:ln>
        </p:spPr>
        <p:txBody>
          <a:bodyPr/>
          <a:lstStyle/>
          <a:p>
            <a:endParaRPr lang="en-US"/>
          </a:p>
        </p:txBody>
      </p:sp>
      <p:sp>
        <p:nvSpPr>
          <p:cNvPr id="19" name="t19"/>
          <p:cNvSpPr txBox="1"/>
          <p:nvPr/>
        </p:nvSpPr>
        <p:spPr>
          <a:xfrm>
            <a:off x="838200" y="6510000"/>
            <a:ext cx="10515600" cy="200000"/>
          </a:xfrm>
          <a:prstGeom prst="rect">
            <a:avLst/>
          </a:prstGeom>
          <a:noFill/>
        </p:spPr>
        <p:txBody>
          <a:bodyPr wrap="square" lIns="0" tIns="0" rIns="0" bIns="0" anchor="t">
            <a:normAutofit/>
          </a:bodyPr>
          <a:lstStyle/>
          <a:p>
            <a:pPr algn="l">
              <a:lnSpc>
                <a:spcPct val="100000"/>
              </a:lnSpc>
              <a:spcBef>
                <a:spcPts val="0"/>
              </a:spcBef>
            </a:pPr>
            <a:r>
              <a:rPr lang="en-US" sz="1000" b="0" spc="200" dirty="0">
                <a:solidFill>
                  <a:srgbClr val="4A423A"/>
                </a:solidFill>
                <a:latin typeface="Segoe UI"/>
                <a:cs typeface="Segoe UI"/>
              </a:rPr>
              <a:t>Hands-on prompting exercise</a:t>
            </a:r>
          </a:p>
        </p:txBody>
      </p:sp>
      <p:sp>
        <p:nvSpPr>
          <p:cNvPr id="20" name="s20"/>
          <p:cNvSpPr/>
          <p:nvPr/>
        </p:nvSpPr>
        <p:spPr>
          <a:xfrm>
            <a:off x="838200" y="2280000"/>
            <a:ext cx="5127800" cy="2820000"/>
          </a:xfrm>
          <a:prstGeom prst="roundRect">
            <a:avLst>
              <a:gd name="adj" fmla="val 7000"/>
            </a:avLst>
          </a:prstGeom>
          <a:solidFill>
            <a:srgbClr val="FBF6EC"/>
          </a:solidFill>
          <a:ln w="12700">
            <a:solidFill>
              <a:srgbClr val="E0CDB0"/>
            </a:solidFill>
          </a:ln>
        </p:spPr>
        <p:txBody>
          <a:bodyPr/>
          <a:lstStyle/>
          <a:p>
            <a:endParaRPr lang="en-US"/>
          </a:p>
        </p:txBody>
      </p:sp>
      <p:sp>
        <p:nvSpPr>
          <p:cNvPr id="21" name="s21"/>
          <p:cNvSpPr/>
          <p:nvPr/>
        </p:nvSpPr>
        <p:spPr>
          <a:xfrm>
            <a:off x="838200" y="2280000"/>
            <a:ext cx="5127800" cy="140000"/>
          </a:xfrm>
          <a:prstGeom prst="roundRect">
            <a:avLst>
              <a:gd name="adj" fmla="val 20000"/>
            </a:avLst>
          </a:prstGeom>
          <a:solidFill>
            <a:srgbClr val="B4553A"/>
          </a:solidFill>
          <a:ln>
            <a:noFill/>
          </a:ln>
        </p:spPr>
        <p:txBody>
          <a:bodyPr/>
          <a:lstStyle/>
          <a:p>
            <a:endParaRPr lang="en-US"/>
          </a:p>
        </p:txBody>
      </p:sp>
      <p:sp>
        <p:nvSpPr>
          <p:cNvPr id="22" name="t22"/>
          <p:cNvSpPr txBox="1"/>
          <p:nvPr/>
        </p:nvSpPr>
        <p:spPr>
          <a:xfrm>
            <a:off x="1158200" y="2610000"/>
            <a:ext cx="4487800" cy="320000"/>
          </a:xfrm>
          <a:prstGeom prst="rect">
            <a:avLst/>
          </a:prstGeom>
          <a:noFill/>
        </p:spPr>
        <p:txBody>
          <a:bodyPr wrap="square" lIns="0" tIns="0" rIns="0" bIns="0" anchor="t">
            <a:normAutofit/>
          </a:bodyPr>
          <a:lstStyle/>
          <a:p>
            <a:pPr algn="l">
              <a:lnSpc>
                <a:spcPct val="100000"/>
              </a:lnSpc>
              <a:spcBef>
                <a:spcPts val="0"/>
              </a:spcBef>
            </a:pPr>
            <a:r>
              <a:rPr lang="en-US" sz="1500" b="1" spc="100" dirty="0">
                <a:solidFill>
                  <a:srgbClr val="B4553A"/>
                </a:solidFill>
                <a:latin typeface="Segoe UI"/>
                <a:cs typeface="Segoe UI"/>
              </a:rPr>
              <a:t>PICK ONE BRIEF</a:t>
            </a:r>
          </a:p>
        </p:txBody>
      </p:sp>
      <p:sp>
        <p:nvSpPr>
          <p:cNvPr id="23" name="t23"/>
          <p:cNvSpPr txBox="1"/>
          <p:nvPr/>
        </p:nvSpPr>
        <p:spPr>
          <a:xfrm>
            <a:off x="1158200" y="3080000"/>
            <a:ext cx="4487800" cy="1880000"/>
          </a:xfrm>
          <a:prstGeom prst="rect">
            <a:avLst/>
          </a:prstGeom>
          <a:noFill/>
        </p:spPr>
        <p:txBody>
          <a:bodyPr wrap="square" lIns="0" tIns="0" rIns="0" bIns="0" anchor="t">
            <a:normAutofit/>
          </a:bodyPr>
          <a:lstStyle/>
          <a:p>
            <a:pPr algn="l">
              <a:lnSpc>
                <a:spcPct val="112000"/>
              </a:lnSpc>
              <a:spcBef>
                <a:spcPts val="0"/>
              </a:spcBef>
            </a:pPr>
            <a:r>
              <a:rPr lang="en-US" sz="1150" b="1" spc="0" dirty="0">
                <a:solidFill>
                  <a:srgbClr val="B4553A"/>
                </a:solidFill>
                <a:latin typeface="Segoe UI"/>
                <a:cs typeface="Segoe UI"/>
              </a:rPr>
              <a:t>— </a:t>
            </a:r>
            <a:r>
              <a:rPr lang="en-US" sz="1150" b="0" spc="0" dirty="0">
                <a:solidFill>
                  <a:srgbClr val="4A423A"/>
                </a:solidFill>
                <a:latin typeface="Segoe UI"/>
                <a:cs typeface="Segoe UI"/>
              </a:rPr>
              <a:t>Draft a job description for a role you are hiring now.</a:t>
            </a:r>
          </a:p>
          <a:p>
            <a:pPr algn="l">
              <a:lnSpc>
                <a:spcPct val="112000"/>
              </a:lnSpc>
              <a:spcBef>
                <a:spcPts val="830"/>
              </a:spcBef>
            </a:pPr>
            <a:r>
              <a:rPr lang="en-US" sz="1150" b="1" spc="0" dirty="0">
                <a:solidFill>
                  <a:srgbClr val="B4553A"/>
                </a:solidFill>
                <a:latin typeface="Segoe UI"/>
                <a:cs typeface="Segoe UI"/>
              </a:rPr>
              <a:t>— </a:t>
            </a:r>
            <a:r>
              <a:rPr lang="en-US" sz="1150" b="0" spc="0" dirty="0">
                <a:solidFill>
                  <a:srgbClr val="4A423A"/>
                </a:solidFill>
                <a:latin typeface="Segoe UI"/>
                <a:cs typeface="Segoe UI"/>
              </a:rPr>
              <a:t>Answer a real policy question using only the handbook.</a:t>
            </a:r>
          </a:p>
          <a:p>
            <a:pPr algn="l">
              <a:lnSpc>
                <a:spcPct val="112000"/>
              </a:lnSpc>
              <a:spcBef>
                <a:spcPts val="830"/>
              </a:spcBef>
            </a:pPr>
            <a:r>
              <a:rPr lang="en-US" sz="1150" b="1" spc="0" dirty="0">
                <a:solidFill>
                  <a:srgbClr val="B4553A"/>
                </a:solidFill>
                <a:latin typeface="Segoe UI"/>
                <a:cs typeface="Segoe UI"/>
              </a:rPr>
              <a:t>— </a:t>
            </a:r>
            <a:r>
              <a:rPr lang="en-US" sz="1150" b="0" spc="0" dirty="0">
                <a:solidFill>
                  <a:srgbClr val="4A423A"/>
                </a:solidFill>
                <a:latin typeface="Segoe UI"/>
                <a:cs typeface="Segoe UI"/>
              </a:rPr>
              <a:t>Turn a manager's rough notes into a fair review draft.</a:t>
            </a:r>
          </a:p>
          <a:p>
            <a:pPr algn="l">
              <a:lnSpc>
                <a:spcPct val="112000"/>
              </a:lnSpc>
              <a:spcBef>
                <a:spcPts val="830"/>
              </a:spcBef>
            </a:pPr>
            <a:r>
              <a:rPr lang="en-US" sz="1150" b="1" spc="0" dirty="0">
                <a:solidFill>
                  <a:srgbClr val="B4553A"/>
                </a:solidFill>
                <a:latin typeface="Segoe UI"/>
                <a:cs typeface="Segoe UI"/>
              </a:rPr>
              <a:t>— </a:t>
            </a:r>
            <a:r>
              <a:rPr lang="en-US" sz="1150" b="0" spc="0" dirty="0">
                <a:solidFill>
                  <a:srgbClr val="4A423A"/>
                </a:solidFill>
                <a:latin typeface="Segoe UI"/>
                <a:cs typeface="Segoe UI"/>
              </a:rPr>
              <a:t>Code fifty exit comments into themes with counts.</a:t>
            </a:r>
          </a:p>
          <a:p>
            <a:pPr algn="l">
              <a:lnSpc>
                <a:spcPct val="112000"/>
              </a:lnSpc>
              <a:spcBef>
                <a:spcPts val="830"/>
              </a:spcBef>
            </a:pPr>
            <a:r>
              <a:rPr lang="en-US" sz="1150" b="1" spc="0" dirty="0">
                <a:solidFill>
                  <a:srgbClr val="B4553A"/>
                </a:solidFill>
                <a:latin typeface="Segoe UI"/>
                <a:cs typeface="Segoe UI"/>
              </a:rPr>
              <a:t>— </a:t>
            </a:r>
            <a:r>
              <a:rPr lang="en-US" sz="1150" b="0" spc="0" dirty="0">
                <a:solidFill>
                  <a:srgbClr val="4A423A"/>
                </a:solidFill>
                <a:latin typeface="Segoe UI"/>
                <a:cs typeface="Segoe UI"/>
              </a:rPr>
              <a:t>Prepare a manager for one difficult conversation.</a:t>
            </a:r>
          </a:p>
        </p:txBody>
      </p:sp>
      <p:sp>
        <p:nvSpPr>
          <p:cNvPr id="24" name="s24"/>
          <p:cNvSpPr/>
          <p:nvPr/>
        </p:nvSpPr>
        <p:spPr>
          <a:xfrm>
            <a:off x="6226000" y="2280000"/>
            <a:ext cx="5127800" cy="2820000"/>
          </a:xfrm>
          <a:prstGeom prst="roundRect">
            <a:avLst>
              <a:gd name="adj" fmla="val 7000"/>
            </a:avLst>
          </a:prstGeom>
          <a:solidFill>
            <a:srgbClr val="FBF6EC"/>
          </a:solidFill>
          <a:ln w="12700">
            <a:solidFill>
              <a:srgbClr val="E0CDB0"/>
            </a:solidFill>
          </a:ln>
        </p:spPr>
        <p:txBody>
          <a:bodyPr/>
          <a:lstStyle/>
          <a:p>
            <a:endParaRPr lang="en-US"/>
          </a:p>
        </p:txBody>
      </p:sp>
      <p:sp>
        <p:nvSpPr>
          <p:cNvPr id="25" name="s25"/>
          <p:cNvSpPr/>
          <p:nvPr/>
        </p:nvSpPr>
        <p:spPr>
          <a:xfrm>
            <a:off x="6226000" y="2280000"/>
            <a:ext cx="5127800" cy="140000"/>
          </a:xfrm>
          <a:prstGeom prst="roundRect">
            <a:avLst>
              <a:gd name="adj" fmla="val 20000"/>
            </a:avLst>
          </a:prstGeom>
          <a:solidFill>
            <a:srgbClr val="7A7A4E"/>
          </a:solidFill>
          <a:ln>
            <a:noFill/>
          </a:ln>
        </p:spPr>
        <p:txBody>
          <a:bodyPr/>
          <a:lstStyle/>
          <a:p>
            <a:endParaRPr lang="en-US"/>
          </a:p>
        </p:txBody>
      </p:sp>
      <p:sp>
        <p:nvSpPr>
          <p:cNvPr id="26" name="t26"/>
          <p:cNvSpPr txBox="1"/>
          <p:nvPr/>
        </p:nvSpPr>
        <p:spPr>
          <a:xfrm>
            <a:off x="6546000" y="2610000"/>
            <a:ext cx="4487800" cy="320000"/>
          </a:xfrm>
          <a:prstGeom prst="rect">
            <a:avLst/>
          </a:prstGeom>
          <a:noFill/>
        </p:spPr>
        <p:txBody>
          <a:bodyPr wrap="square" lIns="0" tIns="0" rIns="0" bIns="0" anchor="t">
            <a:normAutofit/>
          </a:bodyPr>
          <a:lstStyle/>
          <a:p>
            <a:pPr algn="l">
              <a:lnSpc>
                <a:spcPct val="100000"/>
              </a:lnSpc>
              <a:spcBef>
                <a:spcPts val="0"/>
              </a:spcBef>
            </a:pPr>
            <a:r>
              <a:rPr lang="en-US" sz="1500" b="1" spc="100" dirty="0">
                <a:solidFill>
                  <a:srgbClr val="7A7A4E"/>
                </a:solidFill>
                <a:latin typeface="Segoe UI"/>
                <a:cs typeface="Segoe UI"/>
              </a:rPr>
              <a:t>RUN IT IN FOUR ROUNDS</a:t>
            </a:r>
          </a:p>
        </p:txBody>
      </p:sp>
      <p:sp>
        <p:nvSpPr>
          <p:cNvPr id="27" name="s27"/>
          <p:cNvSpPr/>
          <p:nvPr/>
        </p:nvSpPr>
        <p:spPr>
          <a:xfrm>
            <a:off x="6546000" y="3160000"/>
            <a:ext cx="540000" cy="260000"/>
          </a:xfrm>
          <a:prstGeom prst="roundRect">
            <a:avLst>
              <a:gd name="adj" fmla="val 40000"/>
            </a:avLst>
          </a:prstGeom>
          <a:solidFill>
            <a:srgbClr val="7A7A4E"/>
          </a:solidFill>
          <a:ln>
            <a:noFill/>
          </a:ln>
        </p:spPr>
        <p:txBody>
          <a:bodyPr/>
          <a:lstStyle/>
          <a:p>
            <a:endParaRPr lang="en-US"/>
          </a:p>
        </p:txBody>
      </p:sp>
      <p:sp>
        <p:nvSpPr>
          <p:cNvPr id="28" name="t28"/>
          <p:cNvSpPr txBox="1"/>
          <p:nvPr/>
        </p:nvSpPr>
        <p:spPr>
          <a:xfrm>
            <a:off x="6546000" y="3160000"/>
            <a:ext cx="540000" cy="260000"/>
          </a:xfrm>
          <a:prstGeom prst="rect">
            <a:avLst/>
          </a:prstGeom>
          <a:noFill/>
        </p:spPr>
        <p:txBody>
          <a:bodyPr wrap="square" lIns="0" tIns="0" rIns="0" bIns="0" anchor="ctr">
            <a:normAutofit/>
          </a:bodyPr>
          <a:lstStyle/>
          <a:p>
            <a:pPr algn="ctr">
              <a:lnSpc>
                <a:spcPct val="100000"/>
              </a:lnSpc>
              <a:spcBef>
                <a:spcPts val="0"/>
              </a:spcBef>
            </a:pPr>
            <a:r>
              <a:rPr lang="en-US" sz="900" b="1" spc="0" dirty="0">
                <a:solidFill>
                  <a:srgbClr val="FBF6EC"/>
                </a:solidFill>
                <a:latin typeface="Segoe UI"/>
                <a:cs typeface="Segoe UI"/>
              </a:rPr>
              <a:t>5 min</a:t>
            </a:r>
          </a:p>
        </p:txBody>
      </p:sp>
      <p:sp>
        <p:nvSpPr>
          <p:cNvPr id="29" name="t29"/>
          <p:cNvSpPr txBox="1"/>
          <p:nvPr/>
        </p:nvSpPr>
        <p:spPr>
          <a:xfrm>
            <a:off x="7206000" y="3150000"/>
            <a:ext cx="3827800" cy="320000"/>
          </a:xfrm>
          <a:prstGeom prst="rect">
            <a:avLst/>
          </a:prstGeom>
          <a:noFill/>
        </p:spPr>
        <p:txBody>
          <a:bodyPr wrap="square" lIns="0" tIns="0" rIns="0" bIns="0" anchor="t">
            <a:normAutofit/>
          </a:bodyPr>
          <a:lstStyle/>
          <a:p>
            <a:pPr algn="l">
              <a:lnSpc>
                <a:spcPct val="112000"/>
              </a:lnSpc>
              <a:spcBef>
                <a:spcPts val="0"/>
              </a:spcBef>
            </a:pPr>
            <a:r>
              <a:rPr lang="en-US" sz="1150" b="0" spc="0" dirty="0">
                <a:solidFill>
                  <a:srgbClr val="4A423A"/>
                </a:solidFill>
                <a:latin typeface="Segoe UI"/>
                <a:cs typeface="Segoe UI"/>
              </a:rPr>
              <a:t>Write it badly. One line, the way you would ask a colleague.</a:t>
            </a:r>
          </a:p>
        </p:txBody>
      </p:sp>
      <p:sp>
        <p:nvSpPr>
          <p:cNvPr id="30" name="s30"/>
          <p:cNvSpPr/>
          <p:nvPr/>
        </p:nvSpPr>
        <p:spPr>
          <a:xfrm>
            <a:off x="6546000" y="3600000"/>
            <a:ext cx="540000" cy="260000"/>
          </a:xfrm>
          <a:prstGeom prst="roundRect">
            <a:avLst>
              <a:gd name="adj" fmla="val 40000"/>
            </a:avLst>
          </a:prstGeom>
          <a:solidFill>
            <a:srgbClr val="7A7A4E"/>
          </a:solidFill>
          <a:ln>
            <a:noFill/>
          </a:ln>
        </p:spPr>
        <p:txBody>
          <a:bodyPr/>
          <a:lstStyle/>
          <a:p>
            <a:endParaRPr lang="en-US"/>
          </a:p>
        </p:txBody>
      </p:sp>
      <p:sp>
        <p:nvSpPr>
          <p:cNvPr id="31" name="t31"/>
          <p:cNvSpPr txBox="1"/>
          <p:nvPr/>
        </p:nvSpPr>
        <p:spPr>
          <a:xfrm>
            <a:off x="6546000" y="3600000"/>
            <a:ext cx="540000" cy="260000"/>
          </a:xfrm>
          <a:prstGeom prst="rect">
            <a:avLst/>
          </a:prstGeom>
          <a:noFill/>
        </p:spPr>
        <p:txBody>
          <a:bodyPr wrap="square" lIns="0" tIns="0" rIns="0" bIns="0" anchor="ctr">
            <a:normAutofit/>
          </a:bodyPr>
          <a:lstStyle/>
          <a:p>
            <a:pPr algn="ctr">
              <a:lnSpc>
                <a:spcPct val="100000"/>
              </a:lnSpc>
              <a:spcBef>
                <a:spcPts val="0"/>
              </a:spcBef>
            </a:pPr>
            <a:r>
              <a:rPr lang="en-US" sz="900" b="1" spc="0" dirty="0">
                <a:solidFill>
                  <a:srgbClr val="FBF6EC"/>
                </a:solidFill>
                <a:latin typeface="Segoe UI"/>
                <a:cs typeface="Segoe UI"/>
              </a:rPr>
              <a:t>5 min</a:t>
            </a:r>
          </a:p>
        </p:txBody>
      </p:sp>
      <p:sp>
        <p:nvSpPr>
          <p:cNvPr id="32" name="t32"/>
          <p:cNvSpPr txBox="1"/>
          <p:nvPr/>
        </p:nvSpPr>
        <p:spPr>
          <a:xfrm>
            <a:off x="7206000" y="3590000"/>
            <a:ext cx="3827800" cy="320000"/>
          </a:xfrm>
          <a:prstGeom prst="rect">
            <a:avLst/>
          </a:prstGeom>
          <a:noFill/>
        </p:spPr>
        <p:txBody>
          <a:bodyPr wrap="square" lIns="0" tIns="0" rIns="0" bIns="0" anchor="t">
            <a:normAutofit/>
          </a:bodyPr>
          <a:lstStyle/>
          <a:p>
            <a:pPr algn="l">
              <a:lnSpc>
                <a:spcPct val="112000"/>
              </a:lnSpc>
              <a:spcBef>
                <a:spcPts val="0"/>
              </a:spcBef>
            </a:pPr>
            <a:r>
              <a:rPr lang="en-US" sz="1150" b="0" spc="0" dirty="0">
                <a:solidFill>
                  <a:srgbClr val="4A423A"/>
                </a:solidFill>
                <a:latin typeface="Segoe UI"/>
                <a:cs typeface="Segoe UI"/>
              </a:rPr>
              <a:t>Rebuild it with R-A-C-E-F, and strip every identifier.</a:t>
            </a:r>
          </a:p>
        </p:txBody>
      </p:sp>
      <p:sp>
        <p:nvSpPr>
          <p:cNvPr id="33" name="s33"/>
          <p:cNvSpPr/>
          <p:nvPr/>
        </p:nvSpPr>
        <p:spPr>
          <a:xfrm>
            <a:off x="6546000" y="4040000"/>
            <a:ext cx="540000" cy="260000"/>
          </a:xfrm>
          <a:prstGeom prst="roundRect">
            <a:avLst>
              <a:gd name="adj" fmla="val 40000"/>
            </a:avLst>
          </a:prstGeom>
          <a:solidFill>
            <a:srgbClr val="7A7A4E"/>
          </a:solidFill>
          <a:ln>
            <a:noFill/>
          </a:ln>
        </p:spPr>
        <p:txBody>
          <a:bodyPr/>
          <a:lstStyle/>
          <a:p>
            <a:endParaRPr lang="en-US"/>
          </a:p>
        </p:txBody>
      </p:sp>
      <p:sp>
        <p:nvSpPr>
          <p:cNvPr id="34" name="t34"/>
          <p:cNvSpPr txBox="1"/>
          <p:nvPr/>
        </p:nvSpPr>
        <p:spPr>
          <a:xfrm>
            <a:off x="6546000" y="4040000"/>
            <a:ext cx="540000" cy="260000"/>
          </a:xfrm>
          <a:prstGeom prst="rect">
            <a:avLst/>
          </a:prstGeom>
          <a:noFill/>
        </p:spPr>
        <p:txBody>
          <a:bodyPr wrap="square" lIns="0" tIns="0" rIns="0" bIns="0" anchor="ctr">
            <a:normAutofit/>
          </a:bodyPr>
          <a:lstStyle/>
          <a:p>
            <a:pPr algn="ctr">
              <a:lnSpc>
                <a:spcPct val="100000"/>
              </a:lnSpc>
              <a:spcBef>
                <a:spcPts val="0"/>
              </a:spcBef>
            </a:pPr>
            <a:r>
              <a:rPr lang="en-US" sz="900" b="1" spc="0" dirty="0">
                <a:solidFill>
                  <a:srgbClr val="FBF6EC"/>
                </a:solidFill>
                <a:latin typeface="Segoe UI"/>
                <a:cs typeface="Segoe UI"/>
              </a:rPr>
              <a:t>5 min</a:t>
            </a:r>
          </a:p>
        </p:txBody>
      </p:sp>
      <p:sp>
        <p:nvSpPr>
          <p:cNvPr id="35" name="t35"/>
          <p:cNvSpPr txBox="1"/>
          <p:nvPr/>
        </p:nvSpPr>
        <p:spPr>
          <a:xfrm>
            <a:off x="7206000" y="4030000"/>
            <a:ext cx="3827800" cy="320000"/>
          </a:xfrm>
          <a:prstGeom prst="rect">
            <a:avLst/>
          </a:prstGeom>
          <a:noFill/>
        </p:spPr>
        <p:txBody>
          <a:bodyPr wrap="square" lIns="0" tIns="0" rIns="0" bIns="0" anchor="t">
            <a:normAutofit/>
          </a:bodyPr>
          <a:lstStyle/>
          <a:p>
            <a:pPr algn="l">
              <a:lnSpc>
                <a:spcPct val="112000"/>
              </a:lnSpc>
              <a:spcBef>
                <a:spcPts val="0"/>
              </a:spcBef>
            </a:pPr>
            <a:r>
              <a:rPr lang="en-US" sz="1150" b="0" spc="0" dirty="0">
                <a:solidFill>
                  <a:srgbClr val="4A423A"/>
                </a:solidFill>
                <a:latin typeface="Segoe UI"/>
                <a:cs typeface="Segoe UI"/>
              </a:rPr>
              <a:t>Run both. Compare the two outputs side by side.</a:t>
            </a:r>
          </a:p>
        </p:txBody>
      </p:sp>
      <p:sp>
        <p:nvSpPr>
          <p:cNvPr id="36" name="s36"/>
          <p:cNvSpPr/>
          <p:nvPr/>
        </p:nvSpPr>
        <p:spPr>
          <a:xfrm>
            <a:off x="6546000" y="4480000"/>
            <a:ext cx="540000" cy="260000"/>
          </a:xfrm>
          <a:prstGeom prst="roundRect">
            <a:avLst>
              <a:gd name="adj" fmla="val 40000"/>
            </a:avLst>
          </a:prstGeom>
          <a:solidFill>
            <a:srgbClr val="7A7A4E"/>
          </a:solidFill>
          <a:ln>
            <a:noFill/>
          </a:ln>
        </p:spPr>
        <p:txBody>
          <a:bodyPr/>
          <a:lstStyle/>
          <a:p>
            <a:endParaRPr lang="en-US"/>
          </a:p>
        </p:txBody>
      </p:sp>
      <p:sp>
        <p:nvSpPr>
          <p:cNvPr id="37" name="t37"/>
          <p:cNvSpPr txBox="1"/>
          <p:nvPr/>
        </p:nvSpPr>
        <p:spPr>
          <a:xfrm>
            <a:off x="6546000" y="4480000"/>
            <a:ext cx="540000" cy="260000"/>
          </a:xfrm>
          <a:prstGeom prst="rect">
            <a:avLst/>
          </a:prstGeom>
          <a:noFill/>
        </p:spPr>
        <p:txBody>
          <a:bodyPr wrap="square" lIns="0" tIns="0" rIns="0" bIns="0" anchor="ctr">
            <a:normAutofit/>
          </a:bodyPr>
          <a:lstStyle/>
          <a:p>
            <a:pPr algn="ctr">
              <a:lnSpc>
                <a:spcPct val="100000"/>
              </a:lnSpc>
              <a:spcBef>
                <a:spcPts val="0"/>
              </a:spcBef>
            </a:pPr>
            <a:r>
              <a:rPr lang="en-US" sz="900" b="1" spc="0" dirty="0">
                <a:solidFill>
                  <a:srgbClr val="FBF6EC"/>
                </a:solidFill>
                <a:latin typeface="Segoe UI"/>
                <a:cs typeface="Segoe UI"/>
              </a:rPr>
              <a:t>5 min</a:t>
            </a:r>
          </a:p>
        </p:txBody>
      </p:sp>
      <p:sp>
        <p:nvSpPr>
          <p:cNvPr id="38" name="t38"/>
          <p:cNvSpPr txBox="1"/>
          <p:nvPr/>
        </p:nvSpPr>
        <p:spPr>
          <a:xfrm>
            <a:off x="7206000" y="4470000"/>
            <a:ext cx="3827800" cy="320000"/>
          </a:xfrm>
          <a:prstGeom prst="rect">
            <a:avLst/>
          </a:prstGeom>
          <a:noFill/>
        </p:spPr>
        <p:txBody>
          <a:bodyPr wrap="square" lIns="0" tIns="0" rIns="0" bIns="0" anchor="t">
            <a:normAutofit/>
          </a:bodyPr>
          <a:lstStyle/>
          <a:p>
            <a:pPr algn="l">
              <a:lnSpc>
                <a:spcPct val="112000"/>
              </a:lnSpc>
              <a:spcBef>
                <a:spcPts val="0"/>
              </a:spcBef>
            </a:pPr>
            <a:r>
              <a:rPr lang="en-US" sz="1150" b="0" spc="0" dirty="0">
                <a:solidFill>
                  <a:srgbClr val="4A423A"/>
                </a:solidFill>
                <a:latin typeface="Segoe UI"/>
                <a:cs typeface="Segoe UI"/>
              </a:rPr>
              <a:t>Add the guardrail line, then save it to the library.</a:t>
            </a:r>
          </a:p>
        </p:txBody>
      </p:sp>
      <p:sp>
        <p:nvSpPr>
          <p:cNvPr id="39" name="s39"/>
          <p:cNvSpPr/>
          <p:nvPr/>
        </p:nvSpPr>
        <p:spPr>
          <a:xfrm>
            <a:off x="838200" y="5380000"/>
            <a:ext cx="10515600" cy="940000"/>
          </a:xfrm>
          <a:prstGeom prst="roundRect">
            <a:avLst>
              <a:gd name="adj" fmla="val 12000"/>
            </a:avLst>
          </a:prstGeom>
          <a:solidFill>
            <a:srgbClr val="F6EEE0"/>
          </a:solidFill>
          <a:ln w="12700">
            <a:solidFill>
              <a:srgbClr val="E0CDB0"/>
            </a:solidFill>
          </a:ln>
        </p:spPr>
        <p:txBody>
          <a:bodyPr/>
          <a:lstStyle/>
          <a:p>
            <a:endParaRPr lang="en-US"/>
          </a:p>
        </p:txBody>
      </p:sp>
      <p:sp>
        <p:nvSpPr>
          <p:cNvPr id="40" name="s40"/>
          <p:cNvSpPr/>
          <p:nvPr/>
        </p:nvSpPr>
        <p:spPr>
          <a:xfrm>
            <a:off x="838200" y="5380000"/>
            <a:ext cx="60000" cy="940000"/>
          </a:xfrm>
          <a:prstGeom prst="rect">
            <a:avLst/>
          </a:prstGeom>
          <a:solidFill>
            <a:srgbClr val="B4553A"/>
          </a:solidFill>
          <a:ln>
            <a:noFill/>
          </a:ln>
        </p:spPr>
        <p:txBody>
          <a:bodyPr/>
          <a:lstStyle/>
          <a:p>
            <a:endParaRPr lang="en-US"/>
          </a:p>
        </p:txBody>
      </p:sp>
      <p:sp>
        <p:nvSpPr>
          <p:cNvPr id="41" name="t41"/>
          <p:cNvSpPr txBox="1"/>
          <p:nvPr/>
        </p:nvSpPr>
        <p:spPr>
          <a:xfrm>
            <a:off x="1138200" y="5580000"/>
            <a:ext cx="3018533" cy="560000"/>
          </a:xfrm>
          <a:prstGeom prst="rect">
            <a:avLst/>
          </a:prstGeom>
          <a:noFill/>
        </p:spPr>
        <p:txBody>
          <a:bodyPr wrap="square" lIns="0" tIns="0" rIns="0" bIns="0" anchor="t">
            <a:normAutofit/>
          </a:bodyPr>
          <a:lstStyle/>
          <a:p>
            <a:pPr algn="l">
              <a:lnSpc>
                <a:spcPct val="100000"/>
              </a:lnSpc>
              <a:spcBef>
                <a:spcPts val="0"/>
              </a:spcBef>
            </a:pPr>
            <a:r>
              <a:rPr lang="en-US" sz="1000" b="1" spc="150" dirty="0">
                <a:solidFill>
                  <a:srgbClr val="B4553A"/>
                </a:solidFill>
                <a:latin typeface="Segoe UI"/>
                <a:cs typeface="Segoe UI"/>
              </a:rPr>
              <a:t>KEEP IT IF</a:t>
            </a:r>
          </a:p>
          <a:p>
            <a:pPr algn="l">
              <a:lnSpc>
                <a:spcPct val="115000"/>
              </a:lnSpc>
              <a:spcBef>
                <a:spcPts val="240"/>
              </a:spcBef>
            </a:pPr>
            <a:r>
              <a:rPr lang="en-US" sz="1050" b="0" spc="0" dirty="0">
                <a:solidFill>
                  <a:srgbClr val="2E2A26"/>
                </a:solidFill>
                <a:latin typeface="Segoe UI"/>
                <a:cs typeface="Segoe UI"/>
              </a:rPr>
              <a:t>Someone else could run it tomorrow and get the same quality.</a:t>
            </a:r>
          </a:p>
        </p:txBody>
      </p:sp>
      <p:sp>
        <p:nvSpPr>
          <p:cNvPr id="42" name="t42"/>
          <p:cNvSpPr txBox="1"/>
          <p:nvPr/>
        </p:nvSpPr>
        <p:spPr>
          <a:xfrm>
            <a:off x="4456733" y="5580000"/>
            <a:ext cx="3018533" cy="560000"/>
          </a:xfrm>
          <a:prstGeom prst="rect">
            <a:avLst/>
          </a:prstGeom>
          <a:noFill/>
        </p:spPr>
        <p:txBody>
          <a:bodyPr wrap="square" lIns="0" tIns="0" rIns="0" bIns="0" anchor="t">
            <a:normAutofit/>
          </a:bodyPr>
          <a:lstStyle/>
          <a:p>
            <a:pPr algn="l">
              <a:lnSpc>
                <a:spcPct val="100000"/>
              </a:lnSpc>
              <a:spcBef>
                <a:spcPts val="0"/>
              </a:spcBef>
            </a:pPr>
            <a:r>
              <a:rPr lang="en-US" sz="1000" b="1" spc="150" dirty="0">
                <a:solidFill>
                  <a:srgbClr val="B4553A"/>
                </a:solidFill>
                <a:latin typeface="Segoe UI"/>
                <a:cs typeface="Segoe UI"/>
              </a:rPr>
              <a:t>BIN IT IF</a:t>
            </a:r>
          </a:p>
          <a:p>
            <a:pPr algn="l">
              <a:lnSpc>
                <a:spcPct val="115000"/>
              </a:lnSpc>
              <a:spcBef>
                <a:spcPts val="240"/>
              </a:spcBef>
            </a:pPr>
            <a:r>
              <a:rPr lang="en-US" sz="1050" b="0" spc="0" dirty="0">
                <a:solidFill>
                  <a:srgbClr val="2E2A26"/>
                </a:solidFill>
                <a:latin typeface="Segoe UI"/>
                <a:cs typeface="Segoe UI"/>
              </a:rPr>
              <a:t>It only worked because you knew what the answer should be.</a:t>
            </a:r>
          </a:p>
        </p:txBody>
      </p:sp>
      <p:sp>
        <p:nvSpPr>
          <p:cNvPr id="43" name="t43"/>
          <p:cNvSpPr txBox="1"/>
          <p:nvPr/>
        </p:nvSpPr>
        <p:spPr>
          <a:xfrm>
            <a:off x="7775266" y="5580000"/>
            <a:ext cx="3018533" cy="560000"/>
          </a:xfrm>
          <a:prstGeom prst="rect">
            <a:avLst/>
          </a:prstGeom>
          <a:noFill/>
        </p:spPr>
        <p:txBody>
          <a:bodyPr wrap="square" lIns="0" tIns="0" rIns="0" bIns="0" anchor="t">
            <a:normAutofit/>
          </a:bodyPr>
          <a:lstStyle/>
          <a:p>
            <a:pPr algn="l">
              <a:lnSpc>
                <a:spcPct val="100000"/>
              </a:lnSpc>
              <a:spcBef>
                <a:spcPts val="0"/>
              </a:spcBef>
            </a:pPr>
            <a:r>
              <a:rPr lang="en-US" sz="1000" b="1" spc="150" dirty="0">
                <a:solidFill>
                  <a:srgbClr val="B4553A"/>
                </a:solidFill>
                <a:latin typeface="Segoe UI"/>
                <a:cs typeface="Segoe UI"/>
              </a:rPr>
              <a:t>SHARE IT WHEN</a:t>
            </a:r>
          </a:p>
          <a:p>
            <a:pPr algn="l">
              <a:lnSpc>
                <a:spcPct val="115000"/>
              </a:lnSpc>
              <a:spcBef>
                <a:spcPts val="240"/>
              </a:spcBef>
            </a:pPr>
            <a:r>
              <a:rPr lang="en-US" sz="1050" b="0" spc="0" dirty="0">
                <a:solidFill>
                  <a:srgbClr val="2E2A26"/>
                </a:solidFill>
                <a:latin typeface="Segoe UI"/>
                <a:cs typeface="Segoe UI"/>
              </a:rPr>
              <a:t>The source is attached and the guardrail line is in place.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7104</Words>
  <Application>Microsoft Office PowerPoint</Application>
  <PresentationFormat>Widescreen</PresentationFormat>
  <Paragraphs>703</Paragraphs>
  <Slides>34</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Aptos Display</vt:lpstr>
      <vt:lpstr>Arial</vt:lpstr>
      <vt:lpstr>Consolas</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 Perepa</dc:creator>
  <cp:lastModifiedBy>Vijay Perepa</cp:lastModifiedBy>
  <cp:revision>2</cp:revision>
  <dcterms:created xsi:type="dcterms:W3CDTF">2026-08-18T05:31:03Z</dcterms:created>
  <dcterms:modified xsi:type="dcterms:W3CDTF">2026-08-18T07:25:27Z</dcterms:modified>
</cp:coreProperties>
</file>