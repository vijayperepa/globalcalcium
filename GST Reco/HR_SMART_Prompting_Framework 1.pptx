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6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on this slide was generated with Microsoft Copilot. Framework benefits are presentation guidance based on the H.R. S.M.A.R.T model in this conversation.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Framework content developed from the H.R. S.M.A.R.T model provided in this conversation.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Framework content developed from the H.R. S.M.A.R.T model provided in this conversation.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Framework content developed from the H.R. S.M.A.R.T model provided in this conversation.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on this slide was generated with Microsoft Copilot. Example content is based on the worked scenario provided in this conversation.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Framework content developed from the H.R. S.M.A.R.T model provided in this conversation.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Framework content developed from the H.R. S.M.A.R.T model provided in this conversation.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B7B2"/>
          </a:solidFill>
          <a:ln w="12700">
            <a:solidFill>
              <a:srgbClr val="18B7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647395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H.R. S.M.A.R.T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6473952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prompting for HR professionals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7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7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3437e700a5.png"/>
          <p:cNvPicPr>
            <a:picLocks noChangeAspect="1"/>
          </p:cNvPicPr>
          <p:nvPr/>
        </p:nvPicPr>
        <p:blipFill>
          <a:blip r:embed="rId3"/>
          <a:srcRect l="19409" r="19409"/>
          <a:stretch/>
        </p:blipFill>
        <p:spPr>
          <a:xfrm>
            <a:off x="5897880" y="0"/>
            <a:ext cx="629381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74920" y="0"/>
            <a:ext cx="2011680" cy="6858000"/>
          </a:xfrm>
          <a:prstGeom prst="rect">
            <a:avLst/>
          </a:prstGeom>
          <a:solidFill>
            <a:srgbClr val="09233F">
              <a:alpha val="82000"/>
            </a:srgbClr>
          </a:solidFill>
          <a:ln w="12700">
            <a:solidFill>
              <a:srgbClr val="0923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658368" y="914400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H.R. S.M.A.R.T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58368" y="1627632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8B7B2"/>
                </a:solidFill>
              </a:rPr>
              <a:t>Prompting Framework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58368" y="2359152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CE7F1"/>
                </a:solidFill>
              </a:rPr>
              <a:t>A practical system for clearer, safer and more useful AI prompts in HR.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58368" y="3886200"/>
            <a:ext cx="1600200" cy="329184"/>
          </a:xfrm>
          <a:prstGeom prst="roundRect">
            <a:avLst>
              <a:gd name="adj" fmla="val 22222"/>
            </a:avLst>
          </a:prstGeom>
          <a:solidFill>
            <a:srgbClr val="F26B5E">
              <a:alpha val="94000"/>
            </a:srgbClr>
          </a:solidFill>
          <a:ln w="12700">
            <a:solidFill>
              <a:srgbClr val="F26B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731520" y="3959352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HR PROFESSIONALS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395728" y="3886200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3B82F6">
              <a:alpha val="94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2468880" y="3959352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PRACTICAL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749040" y="3886200"/>
            <a:ext cx="1389888" cy="329184"/>
          </a:xfrm>
          <a:prstGeom prst="roundRect">
            <a:avLst>
              <a:gd name="adj" fmla="val 22222"/>
            </a:avLst>
          </a:prstGeom>
          <a:solidFill>
            <a:srgbClr val="8B5CF6">
              <a:alpha val="94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3822192" y="3959352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REPEATABLE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58368" y="457200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Role + Request + Context + Audience + Action + Format + Guardrails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58368" y="60350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2C4"/>
                </a:solidFill>
              </a:rPr>
              <a:t>Prepared for Vijay Perepa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18B7B2"/>
                </a:solidFill>
              </a:rPr>
              <a:t>WHY IT MATTERS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9233F"/>
                </a:solidFill>
              </a:rPr>
              <a:t>Better prompts turn AI into a reliable HR co-pilot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335024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773"/>
                </a:solidFill>
              </a:rPr>
              <a:t>Structure reduces ambiguity and makes outputs easier to review, reuse and improve.</a:t>
            </a:r>
            <a:endParaRPr lang="en-US" sz="1400" dirty="0"/>
          </a:p>
        </p:txBody>
      </p:sp>
      <p:pic>
        <p:nvPicPr>
          <p:cNvPr id="5" name="Image 0" descr="/mnt/data/4cd36775a8.png"/>
          <p:cNvPicPr>
            <a:picLocks noChangeAspect="1"/>
          </p:cNvPicPr>
          <p:nvPr/>
        </p:nvPicPr>
        <p:blipFill>
          <a:blip r:embed="rId3"/>
          <a:srcRect l="12924" r="12924"/>
          <a:stretch/>
        </p:blipFill>
        <p:spPr>
          <a:xfrm>
            <a:off x="6812280" y="1783080"/>
            <a:ext cx="4800600" cy="43159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828800"/>
            <a:ext cx="56235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blurRad="19050" dist="889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841248" y="199339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8B7B2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89888" y="193852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9233F"/>
                </a:solidFill>
              </a:rPr>
              <a:t>Clarity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633472" y="1956816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773"/>
                </a:solidFill>
              </a:rPr>
              <a:t>Replace vague requests with explicit outcomes.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2788920"/>
            <a:ext cx="56235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blurRad="19050" dist="889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841248" y="2953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8B7B2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389888" y="289864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9233F"/>
                </a:solidFill>
              </a:rPr>
              <a:t>Consistency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633472" y="2916936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773"/>
                </a:solidFill>
              </a:rPr>
              <a:t>Standardize how HR teams ask for repeatable work.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40080" y="3749040"/>
            <a:ext cx="56235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blurRad="19050" dist="889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841248" y="391363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8B7B2"/>
                </a:solidFill>
              </a:rPr>
              <a:t>03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389888" y="385876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9233F"/>
                </a:solidFill>
              </a:rPr>
              <a:t>Control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2633472" y="3877056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773"/>
                </a:solidFill>
              </a:rPr>
              <a:t>Set audience, format, tone and boundaries up front.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40080" y="4709160"/>
            <a:ext cx="56235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blurRad="19050" dist="889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841248" y="487375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8B7B2"/>
                </a:solidFill>
              </a:rPr>
              <a:t>04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389888" y="481888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9233F"/>
                </a:solidFill>
              </a:rPr>
              <a:t>Quality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2633472" y="4837176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773"/>
                </a:solidFill>
              </a:rPr>
              <a:t>Create stronger first drafts that remain human-reviewed.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7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40183730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888" y="182880"/>
            <a:ext cx="9409176" cy="62727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634593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The seven-part framework at a glance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486400" y="6345936"/>
            <a:ext cx="6108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C9D8E6"/>
                </a:solidFill>
              </a:rPr>
              <a:t>Use every element for high-stakes HR work. Use the smallest useful subset for quick tasks.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18B7B2"/>
                </a:solidFill>
              </a:rPr>
              <a:t>BUILD THE BRIEF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9233F"/>
                </a:solidFill>
              </a:rPr>
              <a:t>Start with role, request, context and audience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335024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773"/>
                </a:solidFill>
              </a:rPr>
              <a:t>These four elements tell AI who it is, what to do, why it matters and who the result serves.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530352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50392" y="2048256"/>
            <a:ext cx="658368" cy="658368"/>
          </a:xfrm>
          <a:prstGeom prst="ellipse">
            <a:avLst/>
          </a:prstGeom>
          <a:solidFill>
            <a:srgbClr val="18B7B2"/>
          </a:solidFill>
          <a:ln w="12700">
            <a:solidFill>
              <a:srgbClr val="18B7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50392" y="215798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H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513832" y="2020824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8B7B2"/>
                </a:solidFill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45920" y="205740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9233F"/>
                </a:solidFill>
              </a:rPr>
              <a:t>Human Role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645920" y="2404872"/>
            <a:ext cx="4169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773"/>
                </a:solidFill>
              </a:rPr>
              <a:t>Assign the HR expertise or perspective AI should adopt.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99632" y="1874520"/>
            <a:ext cx="530352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364224" y="2048256"/>
            <a:ext cx="658368" cy="6583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364224" y="215798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R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1027664" y="2020824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B82F6"/>
                </a:solidFill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159752" y="205740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9233F"/>
                </a:solidFill>
              </a:rPr>
              <a:t>Request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159752" y="2404872"/>
            <a:ext cx="4169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773"/>
                </a:solidFill>
              </a:rPr>
              <a:t>State the exact task, decision or deliverable required.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5800" y="3456432"/>
            <a:ext cx="530352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50392" y="3630168"/>
            <a:ext cx="658368" cy="658368"/>
          </a:xfrm>
          <a:prstGeom prst="ellipse">
            <a:avLst/>
          </a:prstGeom>
          <a:solidFill>
            <a:srgbClr val="F26B5E"/>
          </a:solidFill>
          <a:ln w="12700">
            <a:solidFill>
              <a:srgbClr val="F26B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50392" y="373989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S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5513832" y="3602736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26B5E"/>
                </a:solidFill>
              </a:rPr>
              <a:t>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645920" y="363931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9233F"/>
                </a:solidFill>
              </a:rPr>
              <a:t>Situation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645920" y="3986784"/>
            <a:ext cx="4169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773"/>
                </a:solidFill>
              </a:rPr>
              <a:t>Provide business context, background and relevant facts.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99632" y="3456432"/>
            <a:ext cx="530352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364224" y="3630168"/>
            <a:ext cx="658368" cy="658368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364224" y="373989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M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1027664" y="3602736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5B942"/>
                </a:solidFill>
              </a:rPr>
              <a:t>04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159752" y="363931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9233F"/>
                </a:solidFill>
              </a:rPr>
              <a:t>Members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159752" y="3986784"/>
            <a:ext cx="4169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773"/>
                </a:solidFill>
              </a:rPr>
              <a:t>Name the audience, employee group or stakeholders.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011680" y="5276088"/>
            <a:ext cx="8165592" cy="530352"/>
          </a:xfrm>
          <a:prstGeom prst="roundRect">
            <a:avLst>
              <a:gd name="adj" fmla="val 17241"/>
            </a:avLst>
          </a:prstGeom>
          <a:solidFill>
            <a:srgbClr val="E8F6F5"/>
          </a:solidFill>
          <a:ln w="12700">
            <a:solidFill>
              <a:srgbClr val="CDEB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2212848" y="5431536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395B"/>
                </a:solidFill>
              </a:rPr>
              <a:t>Tip: Use only job-relevant, necessary data. Remove names and sensitive details when they are not required.</a:t>
            </a:r>
            <a:endParaRPr lang="en-US" sz="115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7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18B7B2"/>
                </a:solidFill>
              </a:rPr>
              <a:t>SHAPE THE OUTPUT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9233F"/>
                </a:solidFill>
              </a:rPr>
              <a:t>Define action, format and guardrails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335024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773"/>
                </a:solidFill>
              </a:rPr>
              <a:t>The final three elements convert context into a usable, reviewable HR deliverable.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1847088"/>
            <a:ext cx="354787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22960" y="2020824"/>
            <a:ext cx="658368" cy="658368"/>
          </a:xfrm>
          <a:prstGeom prst="ellipse">
            <a:avLst/>
          </a:prstGeom>
          <a:solidFill>
            <a:srgbClr val="5AAE61"/>
          </a:solidFill>
          <a:ln w="12700">
            <a:solidFill>
              <a:srgbClr val="5AAE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2960" y="213055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A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3730752" y="199339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AAE61"/>
                </a:solidFill>
              </a:rPr>
              <a:t>05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18488" y="2029968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9233F"/>
                </a:solidFill>
              </a:rPr>
              <a:t>Action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618488" y="2377440"/>
            <a:ext cx="2414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773"/>
                </a:solidFill>
              </a:rPr>
              <a:t>Specify the outcome, decisions, recommendations or next steps.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25112" y="1847088"/>
            <a:ext cx="354787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489704" y="2020824"/>
            <a:ext cx="658368" cy="65836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489704" y="213055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R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397496" y="199339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B5CF6"/>
                </a:solidFill>
              </a:rPr>
              <a:t>06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285232" y="2029968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9233F"/>
                </a:solidFill>
              </a:rPr>
              <a:t>Response Format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285232" y="2377440"/>
            <a:ext cx="2414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773"/>
                </a:solidFill>
              </a:rPr>
              <a:t>Choose a table, email, report, checklist, FAQ, agenda or slides.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991856" y="1847088"/>
            <a:ext cx="354787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156448" y="2020824"/>
            <a:ext cx="658368" cy="658368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156448" y="213055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T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1064240" y="199339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5B942"/>
                </a:solidFill>
              </a:rPr>
              <a:t>07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951976" y="2029968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9233F"/>
                </a:solidFill>
              </a:rPr>
              <a:t>Tone &amp; Constraints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951976" y="2377440"/>
            <a:ext cx="2414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773"/>
                </a:solidFill>
              </a:rPr>
              <a:t>Set tone, length, policy boundaries and review requirements.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58368" y="379476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09233F"/>
          </a:solidFill>
          <a:ln w="12700">
            <a:solidFill>
              <a:srgbClr val="0923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960120" y="4133088"/>
            <a:ext cx="4846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 strong HR prompt does not ask AI to make the final people decision.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897880" y="4069080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DCE7F1"/>
                </a:solidFill>
              </a:rPr>
              <a:t>It asks AI to support drafting, summarization, analysis, options and preparation, while a qualified human reviews the result.</a:t>
            </a:r>
            <a:endParaRPr lang="en-US" sz="132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7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18B7B2"/>
                </a:solidFill>
              </a:rPr>
              <a:t>REUSABLE PROMPT TEMPLATE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9233F"/>
                </a:solidFill>
              </a:rPr>
              <a:t>Copy, customize and run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335024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773"/>
                </a:solidFill>
              </a:rPr>
              <a:t>A compact template for recruitment, L&amp;D, communications, policy drafting and workforce planning.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1828800"/>
            <a:ext cx="6876288" cy="4069080"/>
          </a:xfrm>
          <a:prstGeom prst="roundRect">
            <a:avLst>
              <a:gd name="adj" fmla="val 1348"/>
            </a:avLst>
          </a:prstGeom>
          <a:solidFill>
            <a:srgbClr val="09233F"/>
          </a:solidFill>
          <a:ln w="12700">
            <a:solidFill>
              <a:srgbClr val="09233F"/>
            </a:solidFill>
            <a:prstDash val="solid"/>
          </a:ln>
          <a:effectLst>
            <a:outerShdw blurRad="254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60120" y="2176272"/>
            <a:ext cx="6272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B7B2"/>
                </a:solidFill>
              </a:rPr>
              <a:t>Act as a </a:t>
            </a:r>
            <a:r>
              <a:rPr lang="en-US" sz="1800" b="1" dirty="0">
                <a:solidFill>
                  <a:srgbClr val="FFFFFF"/>
                </a:solidFill>
              </a:rPr>
              <a:t>[HR role]</a:t>
            </a:r>
            <a:r>
              <a:rPr lang="en-US" sz="1800" dirty="0">
                <a:solidFill>
                  <a:srgbClr val="FFFFFF"/>
                </a:solidFill>
              </a:rPr>
              <a:t>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788920"/>
            <a:ext cx="6272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B9C9D8"/>
                </a:solidFill>
              </a:rPr>
              <a:t>Situation: </a:t>
            </a:r>
            <a:r>
              <a:rPr lang="en-US" sz="1450" b="1" dirty="0">
                <a:solidFill>
                  <a:srgbClr val="FFFFFF"/>
                </a:solidFill>
              </a:rPr>
              <a:t>[business context and known facts]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60120" y="3319272"/>
            <a:ext cx="6272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B9C9D8"/>
                </a:solidFill>
              </a:rPr>
              <a:t>Audience: </a:t>
            </a:r>
            <a:r>
              <a:rPr lang="en-US" sz="1450" b="1" dirty="0">
                <a:solidFill>
                  <a:srgbClr val="FFFFFF"/>
                </a:solidFill>
              </a:rPr>
              <a:t>[target members or stakeholders]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60120" y="3849624"/>
            <a:ext cx="6272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B9C9D8"/>
                </a:solidFill>
              </a:rPr>
              <a:t>Task: </a:t>
            </a:r>
            <a:r>
              <a:rPr lang="en-US" sz="1450" b="1" dirty="0">
                <a:solidFill>
                  <a:srgbClr val="FFFFFF"/>
                </a:solidFill>
              </a:rPr>
              <a:t>[specific request and desired action]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60120" y="4379976"/>
            <a:ext cx="6272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B9C9D8"/>
                </a:solidFill>
              </a:rPr>
              <a:t>Output format: </a:t>
            </a:r>
            <a:r>
              <a:rPr lang="en-US" sz="1450" b="1" dirty="0">
                <a:solidFill>
                  <a:srgbClr val="FFFFFF"/>
                </a:solidFill>
              </a:rPr>
              <a:t>[email / table / report / plan / FAQ]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60120" y="4910328"/>
            <a:ext cx="6272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B9C9D8"/>
                </a:solidFill>
              </a:rPr>
              <a:t>Constraints: </a:t>
            </a:r>
            <a:r>
              <a:rPr lang="en-US" sz="1450" b="1" dirty="0">
                <a:solidFill>
                  <a:srgbClr val="FFFFFF"/>
                </a:solidFill>
              </a:rPr>
              <a:t>[tone, length, policy, privacy, review needs]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973568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9233F"/>
                </a:solidFill>
              </a:rPr>
              <a:t>Suggested roles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973568" y="2331720"/>
            <a:ext cx="3547872" cy="475488"/>
          </a:xfrm>
          <a:prstGeom prst="roundRect">
            <a:avLst>
              <a:gd name="adj" fmla="val 11538"/>
            </a:avLst>
          </a:prstGeom>
          <a:solidFill>
            <a:srgbClr val="E9F7F6"/>
          </a:solidFill>
          <a:ln w="12700">
            <a:solidFill>
              <a:srgbClr val="CBED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156448" y="24414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B7B2"/>
                </a:solidFill>
              </a:rPr>
              <a:t>Recruitment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281160" y="2432304"/>
            <a:ext cx="19933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9233F"/>
                </a:solidFill>
              </a:rPr>
              <a:t>Talent Acquisition Specialist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973568" y="2990088"/>
            <a:ext cx="3547872" cy="475488"/>
          </a:xfrm>
          <a:prstGeom prst="roundRect">
            <a:avLst>
              <a:gd name="adj" fmla="val 11538"/>
            </a:avLst>
          </a:prstGeom>
          <a:solidFill>
            <a:srgbClr val="EEF3FC"/>
          </a:solidFill>
          <a:ln w="12700">
            <a:solidFill>
              <a:srgbClr val="D8E5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156448" y="309981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</a:rPr>
              <a:t>Learning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281160" y="3090672"/>
            <a:ext cx="19933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9233F"/>
                </a:solidFill>
              </a:rPr>
              <a:t>L&amp;D Manager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973568" y="3648456"/>
            <a:ext cx="3547872" cy="475488"/>
          </a:xfrm>
          <a:prstGeom prst="roundRect">
            <a:avLst>
              <a:gd name="adj" fmla="val 11538"/>
            </a:avLst>
          </a:prstGeom>
          <a:solidFill>
            <a:srgbClr val="E9F7F6"/>
          </a:solidFill>
          <a:ln w="12700">
            <a:solidFill>
              <a:srgbClr val="CBED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156448" y="375818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B7B2"/>
                </a:solidFill>
              </a:rPr>
              <a:t>Employee Relations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281160" y="3749040"/>
            <a:ext cx="19933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9233F"/>
                </a:solidFill>
              </a:rPr>
              <a:t>HR Business Partner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973568" y="4306824"/>
            <a:ext cx="3547872" cy="475488"/>
          </a:xfrm>
          <a:prstGeom prst="roundRect">
            <a:avLst>
              <a:gd name="adj" fmla="val 11538"/>
            </a:avLst>
          </a:prstGeom>
          <a:solidFill>
            <a:srgbClr val="EEF3FC"/>
          </a:solidFill>
          <a:ln w="12700">
            <a:solidFill>
              <a:srgbClr val="D8E5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156448" y="4416552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</a:rPr>
              <a:t>Analytics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281160" y="4407408"/>
            <a:ext cx="19933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9233F"/>
                </a:solidFill>
              </a:rPr>
              <a:t>HR Data Analyst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973568" y="4965192"/>
            <a:ext cx="3547872" cy="475488"/>
          </a:xfrm>
          <a:prstGeom prst="roundRect">
            <a:avLst>
              <a:gd name="adj" fmla="val 11538"/>
            </a:avLst>
          </a:prstGeom>
          <a:solidFill>
            <a:srgbClr val="E9F7F6"/>
          </a:solidFill>
          <a:ln w="12700">
            <a:solidFill>
              <a:srgbClr val="CBED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156448" y="507492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B7B2"/>
                </a:solidFill>
              </a:rPr>
              <a:t>Policy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281160" y="5065776"/>
            <a:ext cx="19933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9233F"/>
                </a:solidFill>
              </a:rPr>
              <a:t>HR Compliance Expert</a:t>
            </a:r>
            <a:endParaRPr lang="en-US" sz="10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7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18B7B2"/>
                </a:solidFill>
              </a:rPr>
              <a:t>WORKED EXAMPLE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9233F"/>
                </a:solidFill>
              </a:rPr>
              <a:t>Microsoft Copilot adoption communication plan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335024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773"/>
                </a:solidFill>
              </a:rPr>
              <a:t>See how each framework element contributes to a complete HR prompt.</a:t>
            </a:r>
            <a:endParaRPr lang="en-US" sz="1400" dirty="0"/>
          </a:p>
        </p:txBody>
      </p:sp>
      <p:pic>
        <p:nvPicPr>
          <p:cNvPr id="5" name="Image 0" descr="/mnt/data/52823ddab6.png"/>
          <p:cNvPicPr>
            <a:picLocks noChangeAspect="1"/>
          </p:cNvPicPr>
          <p:nvPr/>
        </p:nvPicPr>
        <p:blipFill>
          <a:blip r:embed="rId3"/>
          <a:srcRect l="14086" r="14086"/>
          <a:stretch/>
        </p:blipFill>
        <p:spPr>
          <a:xfrm>
            <a:off x="6903720" y="1755648"/>
            <a:ext cx="4709160" cy="43708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8368" y="1856232"/>
            <a:ext cx="347472" cy="347472"/>
          </a:xfrm>
          <a:prstGeom prst="ellipse">
            <a:avLst/>
          </a:prstGeom>
          <a:solidFill>
            <a:srgbClr val="18B7B2"/>
          </a:solidFill>
          <a:ln w="12700">
            <a:solidFill>
              <a:srgbClr val="18B7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58368" y="1920240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43000" y="1810512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9233F"/>
                </a:solidFill>
              </a:rPr>
              <a:t>Senior HR Business Partner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3703320" y="18105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773"/>
                </a:solidFill>
              </a:rPr>
              <a:t>Change management expertise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58368" y="2423160"/>
            <a:ext cx="347472" cy="3474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58368" y="2487168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43000" y="2377440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9233F"/>
                </a:solidFill>
              </a:rPr>
              <a:t>Create an adoption plan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3703320" y="2377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773"/>
                </a:solidFill>
              </a:rPr>
              <a:t>Clear deliverable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58368" y="2990088"/>
            <a:ext cx="347472" cy="347472"/>
          </a:xfrm>
          <a:prstGeom prst="ellipse">
            <a:avLst/>
          </a:prstGeom>
          <a:solidFill>
            <a:srgbClr val="F26B5E"/>
          </a:solidFill>
          <a:ln w="12700">
            <a:solidFill>
              <a:srgbClr val="F26B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658368" y="305409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43000" y="2944368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9233F"/>
                </a:solidFill>
              </a:rPr>
              <a:t>1,000 employees; mixed AI familiarity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3703320" y="29443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773"/>
                </a:solidFill>
              </a:rPr>
              <a:t>Useful context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58368" y="3557016"/>
            <a:ext cx="347472" cy="347472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658368" y="3621024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43000" y="3511296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9233F"/>
                </a:solidFill>
              </a:rPr>
              <a:t>Executives, managers, employees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3703320" y="35112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773"/>
                </a:solidFill>
              </a:rPr>
              <a:t>Audience segments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58368" y="4123944"/>
            <a:ext cx="347472" cy="347472"/>
          </a:xfrm>
          <a:prstGeom prst="ellipse">
            <a:avLst/>
          </a:prstGeom>
          <a:solidFill>
            <a:srgbClr val="5AAE61"/>
          </a:solidFill>
          <a:ln w="12700">
            <a:solidFill>
              <a:srgbClr val="5AAE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658368" y="418795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43000" y="4078224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9233F"/>
                </a:solidFill>
              </a:rPr>
              <a:t>90-day plan, messages, KPIs, risks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3703320" y="40782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773"/>
                </a:solidFill>
              </a:rPr>
              <a:t>Explicit outputs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58368" y="4690872"/>
            <a:ext cx="347472" cy="34747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658368" y="4754880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1143000" y="4645152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9233F"/>
                </a:solidFill>
              </a:rPr>
              <a:t>Summary, roadmap and matrices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3703320" y="46451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773"/>
                </a:solidFill>
              </a:rPr>
              <a:t>Usable format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58368" y="5257800"/>
            <a:ext cx="347472" cy="347472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658368" y="5321808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1143000" y="5212080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9233F"/>
                </a:solidFill>
              </a:rPr>
              <a:t>Professional, simple, measurable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3703320" y="5212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773"/>
                </a:solidFill>
              </a:rPr>
              <a:t>Tone and limits</a:t>
            </a:r>
            <a:endParaRPr lang="en-US" sz="11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7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18B7B2"/>
                </a:solidFill>
              </a:rPr>
              <a:t>APPLY IT ACROSS THE HR LIFECYCLE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9233F"/>
                </a:solidFill>
              </a:rPr>
              <a:t>One framework, many workflows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335024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773"/>
                </a:solidFill>
              </a:rPr>
              <a:t>Keep the method consistent while changing the role, situation, action and format.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1847088"/>
            <a:ext cx="5230368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FE6ED"/>
            </a:solidFill>
            <a:prstDash val="solid"/>
          </a:ln>
          <a:effectLst>
            <a:outerShdw blurRad="19050" dist="889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58368" y="1847088"/>
            <a:ext cx="109728" cy="9875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78408" y="20116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9233F"/>
                </a:solidFill>
              </a:rPr>
              <a:t>Recruitment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350008" y="1975104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5C6773"/>
                </a:solidFill>
              </a:rPr>
              <a:t>Job descriptions • interview guides • candidate communications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6181344" y="1847088"/>
            <a:ext cx="5230368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FE6ED"/>
            </a:solidFill>
            <a:prstDash val="solid"/>
          </a:ln>
          <a:effectLst>
            <a:outerShdw blurRad="19050" dist="889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181344" y="1847088"/>
            <a:ext cx="109728" cy="987552"/>
          </a:xfrm>
          <a:prstGeom prst="rect">
            <a:avLst/>
          </a:prstGeom>
          <a:solidFill>
            <a:srgbClr val="18B7B2"/>
          </a:solidFill>
          <a:ln w="12700">
            <a:solidFill>
              <a:srgbClr val="18B7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501384" y="20116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9233F"/>
                </a:solidFill>
              </a:rPr>
              <a:t>Onboarding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872984" y="1975104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5C6773"/>
                </a:solidFill>
              </a:rPr>
              <a:t>Welcome plans • FAQs • role-based learning journeys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658368" y="3118104"/>
            <a:ext cx="5230368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FE6ED"/>
            </a:solidFill>
            <a:prstDash val="solid"/>
          </a:ln>
          <a:effectLst>
            <a:outerShdw blurRad="19050" dist="889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58368" y="3118104"/>
            <a:ext cx="109728" cy="987552"/>
          </a:xfrm>
          <a:prstGeom prst="rect">
            <a:avLst/>
          </a:prstGeom>
          <a:solidFill>
            <a:srgbClr val="5AAE61"/>
          </a:solidFill>
          <a:ln w="12700">
            <a:solidFill>
              <a:srgbClr val="5AAE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78408" y="328269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9233F"/>
                </a:solidFill>
              </a:rPr>
              <a:t>L&amp;D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350008" y="3246120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5C6773"/>
                </a:solidFill>
              </a:rPr>
              <a:t>Training agendas • exercises • assessments • follow-up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6181344" y="3118104"/>
            <a:ext cx="5230368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FE6ED"/>
            </a:solidFill>
            <a:prstDash val="solid"/>
          </a:ln>
          <a:effectLst>
            <a:outerShdw blurRad="19050" dist="889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181344" y="3118104"/>
            <a:ext cx="109728" cy="987552"/>
          </a:xfrm>
          <a:prstGeom prst="rect">
            <a:avLst/>
          </a:prstGeom>
          <a:solidFill>
            <a:srgbClr val="F26B5E"/>
          </a:solidFill>
          <a:ln w="12700">
            <a:solidFill>
              <a:srgbClr val="F26B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501384" y="328269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9233F"/>
                </a:solidFill>
              </a:rPr>
              <a:t>Employee Comms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872984" y="3246120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5C6773"/>
                </a:solidFill>
              </a:rPr>
              <a:t>Announcements • manager toolkits • change campaigns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658368" y="4389120"/>
            <a:ext cx="5230368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FE6ED"/>
            </a:solidFill>
            <a:prstDash val="solid"/>
          </a:ln>
          <a:effectLst>
            <a:outerShdw blurRad="19050" dist="889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58368" y="4389120"/>
            <a:ext cx="109728" cy="9875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978408" y="45537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9233F"/>
                </a:solidFill>
              </a:rPr>
              <a:t>HR Analytics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350008" y="4517136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5C6773"/>
                </a:solidFill>
              </a:rPr>
              <a:t>KPI definitions • insight summaries • question lists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6181344" y="4389120"/>
            <a:ext cx="5230368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FE6ED"/>
            </a:solidFill>
            <a:prstDash val="solid"/>
          </a:ln>
          <a:effectLst>
            <a:outerShdw blurRad="19050" dist="889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181344" y="4389120"/>
            <a:ext cx="109728" cy="987552"/>
          </a:xfrm>
          <a:prstGeom prst="rect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501384" y="45537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9233F"/>
                </a:solidFill>
              </a:rPr>
              <a:t>Policies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872984" y="4517136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5C6773"/>
                </a:solidFill>
              </a:rPr>
              <a:t>First drafts • simplification • FAQs • version comparison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1828800" y="5733288"/>
            <a:ext cx="8549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95B"/>
                </a:solidFill>
              </a:rPr>
              <a:t>Human review remains essential for accuracy, fairness, privacy and policy alignment.</a:t>
            </a:r>
            <a:endParaRPr lang="en-US" sz="13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77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Before you send the prompt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25272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D0DE"/>
                </a:solidFill>
              </a:rPr>
              <a:t>A 60-second quality check for HR professionals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9808" y="1993392"/>
            <a:ext cx="384048" cy="384048"/>
          </a:xfrm>
          <a:prstGeom prst="ellipse">
            <a:avLst/>
          </a:prstGeom>
          <a:solidFill>
            <a:srgbClr val="18B7B2"/>
          </a:solidFill>
          <a:ln w="12700">
            <a:solidFill>
              <a:srgbClr val="18B7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49808" y="205740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0160" y="2020824"/>
            <a:ext cx="4498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FFFFFF"/>
                </a:solidFill>
              </a:rPr>
              <a:t>Is the HR role appropriate?</a:t>
            </a:r>
            <a:endParaRPr lang="en-US" sz="1420" dirty="0"/>
          </a:p>
        </p:txBody>
      </p:sp>
      <p:sp>
        <p:nvSpPr>
          <p:cNvPr id="7" name="Shape 5"/>
          <p:cNvSpPr/>
          <p:nvPr/>
        </p:nvSpPr>
        <p:spPr>
          <a:xfrm>
            <a:off x="749808" y="2834640"/>
            <a:ext cx="384048" cy="384048"/>
          </a:xfrm>
          <a:prstGeom prst="ellipse">
            <a:avLst/>
          </a:prstGeom>
          <a:solidFill>
            <a:srgbClr val="18B7B2"/>
          </a:solidFill>
          <a:ln w="12700">
            <a:solidFill>
              <a:srgbClr val="18B7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49808" y="289864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2862072"/>
            <a:ext cx="4498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FFFFFF"/>
                </a:solidFill>
              </a:rPr>
              <a:t>Is the request specific and actionable?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749808" y="3675888"/>
            <a:ext cx="384048" cy="384048"/>
          </a:xfrm>
          <a:prstGeom prst="ellipse">
            <a:avLst/>
          </a:prstGeom>
          <a:solidFill>
            <a:srgbClr val="18B7B2"/>
          </a:solidFill>
          <a:ln w="12700">
            <a:solidFill>
              <a:srgbClr val="18B7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49808" y="373989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3703320"/>
            <a:ext cx="4498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FFFFFF"/>
                </a:solidFill>
              </a:rPr>
              <a:t>Did I provide only necessary context?</a:t>
            </a:r>
            <a:endParaRPr lang="en-US" sz="1420" dirty="0"/>
          </a:p>
        </p:txBody>
      </p:sp>
      <p:sp>
        <p:nvSpPr>
          <p:cNvPr id="13" name="Shape 11"/>
          <p:cNvSpPr/>
          <p:nvPr/>
        </p:nvSpPr>
        <p:spPr>
          <a:xfrm>
            <a:off x="749808" y="4517136"/>
            <a:ext cx="384048" cy="384048"/>
          </a:xfrm>
          <a:prstGeom prst="ellipse">
            <a:avLst/>
          </a:prstGeom>
          <a:solidFill>
            <a:srgbClr val="18B7B2"/>
          </a:solidFill>
          <a:ln w="12700">
            <a:solidFill>
              <a:srgbClr val="18B7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49808" y="458114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80160" y="4544568"/>
            <a:ext cx="4498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FFFFFF"/>
                </a:solidFill>
              </a:rPr>
              <a:t>Is the audience clearly identified?</a:t>
            </a:r>
            <a:endParaRPr lang="en-US" sz="1420" dirty="0"/>
          </a:p>
        </p:txBody>
      </p:sp>
      <p:sp>
        <p:nvSpPr>
          <p:cNvPr id="16" name="Shape 14"/>
          <p:cNvSpPr/>
          <p:nvPr/>
        </p:nvSpPr>
        <p:spPr>
          <a:xfrm>
            <a:off x="6236208" y="1993392"/>
            <a:ext cx="384048" cy="384048"/>
          </a:xfrm>
          <a:prstGeom prst="ellipse">
            <a:avLst/>
          </a:prstGeom>
          <a:solidFill>
            <a:srgbClr val="18B7B2"/>
          </a:solidFill>
          <a:ln w="12700">
            <a:solidFill>
              <a:srgbClr val="18B7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236208" y="205740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66560" y="2020824"/>
            <a:ext cx="4498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FFFFFF"/>
                </a:solidFill>
              </a:rPr>
              <a:t>Is the output format usable?</a:t>
            </a:r>
            <a:endParaRPr lang="en-US" sz="1420" dirty="0"/>
          </a:p>
        </p:txBody>
      </p:sp>
      <p:sp>
        <p:nvSpPr>
          <p:cNvPr id="19" name="Shape 17"/>
          <p:cNvSpPr/>
          <p:nvPr/>
        </p:nvSpPr>
        <p:spPr>
          <a:xfrm>
            <a:off x="6236208" y="2834640"/>
            <a:ext cx="384048" cy="384048"/>
          </a:xfrm>
          <a:prstGeom prst="ellipse">
            <a:avLst/>
          </a:prstGeom>
          <a:solidFill>
            <a:srgbClr val="18B7B2"/>
          </a:solidFill>
          <a:ln w="12700">
            <a:solidFill>
              <a:srgbClr val="18B7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236208" y="289864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66560" y="2862072"/>
            <a:ext cx="4498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FFFFFF"/>
                </a:solidFill>
              </a:rPr>
              <a:t>Are tone and boundaries stated?</a:t>
            </a:r>
            <a:endParaRPr lang="en-US" sz="1420" dirty="0"/>
          </a:p>
        </p:txBody>
      </p:sp>
      <p:sp>
        <p:nvSpPr>
          <p:cNvPr id="22" name="Shape 20"/>
          <p:cNvSpPr/>
          <p:nvPr/>
        </p:nvSpPr>
        <p:spPr>
          <a:xfrm>
            <a:off x="6236208" y="3675888"/>
            <a:ext cx="384048" cy="384048"/>
          </a:xfrm>
          <a:prstGeom prst="ellipse">
            <a:avLst/>
          </a:prstGeom>
          <a:solidFill>
            <a:srgbClr val="F26B5E"/>
          </a:solidFill>
          <a:ln w="12700">
            <a:solidFill>
              <a:srgbClr val="F26B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236208" y="373989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66560" y="3703320"/>
            <a:ext cx="4498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FFFFFF"/>
                </a:solidFill>
              </a:rPr>
              <a:t>Will a qualified human review the result?</a:t>
            </a:r>
            <a:endParaRPr lang="en-US" sz="1420" dirty="0"/>
          </a:p>
        </p:txBody>
      </p:sp>
      <p:sp>
        <p:nvSpPr>
          <p:cNvPr id="25" name="Shape 23"/>
          <p:cNvSpPr/>
          <p:nvPr/>
        </p:nvSpPr>
        <p:spPr>
          <a:xfrm>
            <a:off x="749808" y="5623560"/>
            <a:ext cx="10652760" cy="621792"/>
          </a:xfrm>
          <a:prstGeom prst="roundRect">
            <a:avLst>
              <a:gd name="adj" fmla="val 11765"/>
            </a:avLst>
          </a:prstGeom>
          <a:solidFill>
            <a:srgbClr val="113956"/>
          </a:solidFill>
          <a:ln w="12700">
            <a:solidFill>
              <a:srgbClr val="2856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987552" y="5815584"/>
            <a:ext cx="10195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8B7B2"/>
                </a:solidFill>
              </a:rPr>
              <a:t>H + R + S + M + A + R + T  →  Clearer prompts. Better HR outcomes.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1028</Words>
  <Application>Microsoft Office PowerPoint</Application>
  <PresentationFormat>Widescreen</PresentationFormat>
  <Paragraphs>163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Prepared for Vijay Perepa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H.R. S.M.A.R.T Prompting Framework</dc:title>
  <dc:subject>H.R. S.M.A.R.T Prompting Framework for HR Professionals</dc:subject>
  <dc:creator>Vijay Perepa</dc:creator>
  <cp:lastModifiedBy>Vijay Perepa</cp:lastModifiedBy>
  <cp:revision>1</cp:revision>
  <dcterms:created xsi:type="dcterms:W3CDTF">2026-08-17T10:40:41Z</dcterms:created>
  <dcterms:modified xsi:type="dcterms:W3CDTF">2026-08-18T07:16:04Z</dcterms:modified>
</cp:coreProperties>
</file>