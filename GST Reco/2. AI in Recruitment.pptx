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  <p:sldMasterId id="2147483683" r:id="rId2"/>
    <p:sldMasterId id="2147483695" r:id="rId3"/>
    <p:sldMasterId id="2147483707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660"/>
  </p:normalViewPr>
  <p:slideViewPr>
    <p:cSldViewPr snapToGrid="0">
      <p:cViewPr varScale="1">
        <p:scale>
          <a:sx n="70" d="100"/>
          <a:sy n="70" d="100"/>
        </p:scale>
        <p:origin x="58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81902-840E-D722-91F8-758D46A5A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9FA87-6C0E-9CA3-D1E1-C07B9125F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DC840-2A29-E349-6FCC-E099D7FE9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AA974-6F7C-F230-DD31-B2114B642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1D774-5502-A6CF-560D-12CAEC058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916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CFF8C-8981-D348-8F8A-11076ACBF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CC1B7-34F9-E37C-537F-BD03F6D30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E3973-B6AE-2EAB-603B-7F9720602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7A65-EC19-866F-6F39-00C6E5B61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11644-8FC6-51E6-BE39-C2A861E03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065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7D31-D742-A51C-F196-2EB44D8ED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FC43B-7EBE-312B-2F57-1563318FD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7A359-0EA4-B52F-0B26-3E6AF5AF6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85B42-3333-99CB-E6E6-C836F843A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6234-07A6-05FB-729D-680F2A9FD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68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21B3C-E379-F1B0-E17D-E9CFA88B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004CA-837C-134C-33E9-F3E780C5B1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5DD650-85EE-3BA3-62A4-F32B4E189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97739-739A-48E2-60E2-4E0F0CFB0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ACA09-F0D0-12E0-0C25-23529B42A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843F2-EA2D-4EA3-3EC1-5338A4688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778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DEEAA-A855-3FE4-944D-C55A20E6B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4EEC1-457A-6B0D-7729-84FAEF26F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349A5-8C9C-870D-ED3C-6FE18001F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BC8868-F4DB-174A-A877-F704EDA148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9124ED-E022-B62E-F2E1-1079F6B32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DDC6A2-5E7F-7788-68A6-500C242F4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AE5611-BD25-BB6C-10B9-B96B7F25C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E60C68-AC71-6478-63EB-87D91B07E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267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B1CEF-0E2C-2A82-5BF0-FAE403375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12628F-E60D-D65B-140E-AD26718B7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7A728A-C97A-C56E-76F9-ADDF11255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D4857-AE43-9DE8-6158-96848BE2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919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71F739-BC7B-6D1D-865D-CCC44C6EF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8610FD-AD53-FCF1-AC2D-640CA5E03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F62A1-0141-B843-158F-05F741E4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732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60E2-BF1B-1E7E-45C8-640998161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F52CE-6EF2-BF09-DE87-9677B2C16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FF655-35BC-2ADA-5B8C-04B97F5B2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F6484-4A68-EE30-6150-2F20A5E56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47E3A-4F27-621D-6372-B0FE1C02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BFE7B-8007-313E-EE5A-7E6E3B2DB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404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C0A77-92B3-2729-DC24-1534801F7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3C3BB3-9EEF-A761-C490-88229BD0B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A17E0-917E-208D-0F99-1D7ECC746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0AFB9-10C6-C0B7-DC8E-1B7C1C63F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CBAF14-9BA9-2FAD-7075-344BFE4EA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5D550-43C6-AFFB-4894-B1A1C4F1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762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9B42D-95F5-475E-4716-0DFE462A9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C916B-8A84-5C1D-519B-868A04647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9EB60-1E49-F147-7928-AB943B150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A8EFA-94D5-C79F-89B2-04FB6BBAC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C8032-C606-D9C9-1718-FA6E22EF2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406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217C4-9245-F9E3-C996-FC08C6FE4B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B5F65C-F5AA-326F-8362-01E43ECBA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667DC-B735-AA31-002A-DB338E648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C3642-AEE7-35D1-7A89-97BE06031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2BF61-4101-E851-2811-B2A6E71E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572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81902-840E-D722-91F8-758D46A5A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9FA87-6C0E-9CA3-D1E1-C07B9125F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DC840-2A29-E349-6FCC-E099D7FE9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AA974-6F7C-F230-DD31-B2114B642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1D774-5502-A6CF-560D-12CAEC058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916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CFF8C-8981-D348-8F8A-11076ACBF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CC1B7-34F9-E37C-537F-BD03F6D30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E3973-B6AE-2EAB-603B-7F9720602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7A65-EC19-866F-6F39-00C6E5B61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11644-8FC6-51E6-BE39-C2A861E03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065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7D31-D742-A51C-F196-2EB44D8ED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FC43B-7EBE-312B-2F57-1563318FD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7A359-0EA4-B52F-0B26-3E6AF5AF6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85B42-3333-99CB-E6E6-C836F843A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6234-07A6-05FB-729D-680F2A9FD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685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21B3C-E379-F1B0-E17D-E9CFA88B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004CA-837C-134C-33E9-F3E780C5B1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5DD650-85EE-3BA3-62A4-F32B4E189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97739-739A-48E2-60E2-4E0F0CFB0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ACA09-F0D0-12E0-0C25-23529B42A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843F2-EA2D-4EA3-3EC1-5338A4688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7787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DEEAA-A855-3FE4-944D-C55A20E6B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4EEC1-457A-6B0D-7729-84FAEF26F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349A5-8C9C-870D-ED3C-6FE18001F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BC8868-F4DB-174A-A877-F704EDA148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9124ED-E022-B62E-F2E1-1079F6B32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DDC6A2-5E7F-7788-68A6-500C242F4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AE5611-BD25-BB6C-10B9-B96B7F25C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E60C68-AC71-6478-63EB-87D91B07E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267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B1CEF-0E2C-2A82-5BF0-FAE403375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12628F-E60D-D65B-140E-AD26718B7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7A728A-C97A-C56E-76F9-ADDF11255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D4857-AE43-9DE8-6158-96848BE2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9197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71F739-BC7B-6D1D-865D-CCC44C6EF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8610FD-AD53-FCF1-AC2D-640CA5E03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F62A1-0141-B843-158F-05F741E4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7326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60E2-BF1B-1E7E-45C8-640998161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F52CE-6EF2-BF09-DE87-9677B2C16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FF655-35BC-2ADA-5B8C-04B97F5B2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F6484-4A68-EE30-6150-2F20A5E56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47E3A-4F27-621D-6372-B0FE1C02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BFE7B-8007-313E-EE5A-7E6E3B2DB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404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C0A77-92B3-2729-DC24-1534801F7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3C3BB3-9EEF-A761-C490-88229BD0B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A17E0-917E-208D-0F99-1D7ECC746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0AFB9-10C6-C0B7-DC8E-1B7C1C63F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CBAF14-9BA9-2FAD-7075-344BFE4EA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5D550-43C6-AFFB-4894-B1A1C4F1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7629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9B42D-95F5-475E-4716-0DFE462A9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C916B-8A84-5C1D-519B-868A04647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9EB60-1E49-F147-7928-AB943B150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A8EFA-94D5-C79F-89B2-04FB6BBAC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C8032-C606-D9C9-1718-FA6E22EF2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4063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217C4-9245-F9E3-C996-FC08C6FE4B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B5F65C-F5AA-326F-8362-01E43ECBA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667DC-B735-AA31-002A-DB338E648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C3642-AEE7-35D1-7A89-97BE06031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2BF61-4101-E851-2811-B2A6E71E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5722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81902-840E-D722-91F8-758D46A5A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9FA87-6C0E-9CA3-D1E1-C07B9125F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DC840-2A29-E349-6FCC-E099D7FE9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AA974-6F7C-F230-DD31-B2114B642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1D774-5502-A6CF-560D-12CAEC058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9164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CFF8C-8981-D348-8F8A-11076ACBF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CC1B7-34F9-E37C-537F-BD03F6D30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E3973-B6AE-2EAB-603B-7F9720602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7A65-EC19-866F-6F39-00C6E5B61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11644-8FC6-51E6-BE39-C2A861E03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0659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7D31-D742-A51C-F196-2EB44D8ED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FC43B-7EBE-312B-2F57-1563318FD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7A359-0EA4-B52F-0B26-3E6AF5AF6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85B42-3333-99CB-E6E6-C836F843A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6234-07A6-05FB-729D-680F2A9FD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685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21B3C-E379-F1B0-E17D-E9CFA88B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004CA-837C-134C-33E9-F3E780C5B1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5DD650-85EE-3BA3-62A4-F32B4E189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97739-739A-48E2-60E2-4E0F0CFB0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ACA09-F0D0-12E0-0C25-23529B42A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843F2-EA2D-4EA3-3EC1-5338A4688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7787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DEEAA-A855-3FE4-944D-C55A20E6B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4EEC1-457A-6B0D-7729-84FAEF26F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349A5-8C9C-870D-ED3C-6FE18001F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BC8868-F4DB-174A-A877-F704EDA148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9124ED-E022-B62E-F2E1-1079F6B32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DDC6A2-5E7F-7788-68A6-500C242F4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AE5611-BD25-BB6C-10B9-B96B7F25C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E60C68-AC71-6478-63EB-87D91B07E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2670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B1CEF-0E2C-2A82-5BF0-FAE403375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12628F-E60D-D65B-140E-AD26718B7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7A728A-C97A-C56E-76F9-ADDF11255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D4857-AE43-9DE8-6158-96848BE2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9197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71F739-BC7B-6D1D-865D-CCC44C6EF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8610FD-AD53-FCF1-AC2D-640CA5E03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F62A1-0141-B843-158F-05F741E4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7326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60E2-BF1B-1E7E-45C8-640998161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F52CE-6EF2-BF09-DE87-9677B2C16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FF655-35BC-2ADA-5B8C-04B97F5B2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F6484-4A68-EE30-6150-2F20A5E56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47E3A-4F27-621D-6372-B0FE1C02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BFE7B-8007-313E-EE5A-7E6E3B2DB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4041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C0A77-92B3-2729-DC24-1534801F7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3C3BB3-9EEF-A761-C490-88229BD0B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A17E0-917E-208D-0F99-1D7ECC746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0AFB9-10C6-C0B7-DC8E-1B7C1C63F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CBAF14-9BA9-2FAD-7075-344BFE4EA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5D550-43C6-AFFB-4894-B1A1C4F1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7629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9B42D-95F5-475E-4716-0DFE462A9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C916B-8A84-5C1D-519B-868A04647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9EB60-1E49-F147-7928-AB943B150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A8EFA-94D5-C79F-89B2-04FB6BBAC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C8032-C606-D9C9-1718-FA6E22EF2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4063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217C4-9245-F9E3-C996-FC08C6FE4B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B5F65C-F5AA-326F-8362-01E43ECBA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667DC-B735-AA31-002A-DB338E648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C3642-AEE7-35D1-7A89-97BE06031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2BF61-4101-E851-2811-B2A6E71E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5722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81902-840E-D722-91F8-758D46A5A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9FA87-6C0E-9CA3-D1E1-C07B9125F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DC840-2A29-E349-6FCC-E099D7FE9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AA974-6F7C-F230-DD31-B2114B642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1D774-5502-A6CF-560D-12CAEC058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9164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CFF8C-8981-D348-8F8A-11076ACBF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CC1B7-34F9-E37C-537F-BD03F6D30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E3973-B6AE-2EAB-603B-7F9720602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7A65-EC19-866F-6F39-00C6E5B61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11644-8FC6-51E6-BE39-C2A861E03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0659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7D31-D742-A51C-F196-2EB44D8ED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FC43B-7EBE-312B-2F57-1563318FD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7A359-0EA4-B52F-0B26-3E6AF5AF6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85B42-3333-99CB-E6E6-C836F843A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6234-07A6-05FB-729D-680F2A9FD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685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21B3C-E379-F1B0-E17D-E9CFA88B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004CA-837C-134C-33E9-F3E780C5B1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5DD650-85EE-3BA3-62A4-F32B4E189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97739-739A-48E2-60E2-4E0F0CFB0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ACA09-F0D0-12E0-0C25-23529B42A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843F2-EA2D-4EA3-3EC1-5338A4688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77870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DEEAA-A855-3FE4-944D-C55A20E6B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4EEC1-457A-6B0D-7729-84FAEF26F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349A5-8C9C-870D-ED3C-6FE18001F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BC8868-F4DB-174A-A877-F704EDA148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9124ED-E022-B62E-F2E1-1079F6B32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DDC6A2-5E7F-7788-68A6-500C242F4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AE5611-BD25-BB6C-10B9-B96B7F25C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E60C68-AC71-6478-63EB-87D91B07E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2670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B1CEF-0E2C-2A82-5BF0-FAE403375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12628F-E60D-D65B-140E-AD26718B7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7A728A-C97A-C56E-76F9-ADDF11255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D4857-AE43-9DE8-6158-96848BE2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9197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71F739-BC7B-6D1D-865D-CCC44C6EF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8610FD-AD53-FCF1-AC2D-640CA5E03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F62A1-0141-B843-158F-05F741E4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7326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60E2-BF1B-1E7E-45C8-640998161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F52CE-6EF2-BF09-DE87-9677B2C16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FF655-35BC-2ADA-5B8C-04B97F5B2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F6484-4A68-EE30-6150-2F20A5E56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47E3A-4F27-621D-6372-B0FE1C02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BFE7B-8007-313E-EE5A-7E6E3B2DB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4041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C0A77-92B3-2729-DC24-1534801F7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3C3BB3-9EEF-A761-C490-88229BD0B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A17E0-917E-208D-0F99-1D7ECC746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0AFB9-10C6-C0B7-DC8E-1B7C1C63F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CBAF14-9BA9-2FAD-7075-344BFE4EA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5D550-43C6-AFFB-4894-B1A1C4F1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7629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9B42D-95F5-475E-4716-0DFE462A9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C916B-8A84-5C1D-519B-868A04647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9EB60-1E49-F147-7928-AB943B150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A8EFA-94D5-C79F-89B2-04FB6BBAC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C8032-C606-D9C9-1718-FA6E22EF2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4063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217C4-9245-F9E3-C996-FC08C6FE4B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B5F65C-F5AA-326F-8362-01E43ECBA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667DC-B735-AA31-002A-DB338E648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C3642-AEE7-35D1-7A89-97BE06031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2BF61-4101-E851-2811-B2A6E71E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572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14F3E6-8BFF-8F77-1B51-6AFC3B968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9684F-F8D3-9CED-3D58-717B05C36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88562-76A9-3CB7-1A7E-EBC44C2FDC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52AC6-3C91-78AE-20AC-EEEE1A9F3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28A3A-630F-60CF-41E5-85E63D78F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589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14F3E6-8BFF-8F77-1B51-6AFC3B968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9684F-F8D3-9CED-3D58-717B05C36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88562-76A9-3CB7-1A7E-EBC44C2FDC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52AC6-3C91-78AE-20AC-EEEE1A9F3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28A3A-630F-60CF-41E5-85E63D78F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589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14F3E6-8BFF-8F77-1B51-6AFC3B968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9684F-F8D3-9CED-3D58-717B05C36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88562-76A9-3CB7-1A7E-EBC44C2FDC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52AC6-3C91-78AE-20AC-EEEE1A9F3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28A3A-630F-60CF-41E5-85E63D78F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589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14F3E6-8BFF-8F77-1B51-6AFC3B968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9684F-F8D3-9CED-3D58-717B05C36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88562-76A9-3CB7-1A7E-EBC44C2FDC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FC2570-8A12-4492-BEAA-9A59C0047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52AC6-3C91-78AE-20AC-EEEE1A9F3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28A3A-630F-60CF-41E5-85E63D78F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4400A0-9A42-4084-B3DD-980139E6B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589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B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s12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g13"/>
          <p:cNvSpPr/>
          <p:nvPr/>
        </p:nvSpPr>
        <p:spPr>
          <a:xfrm>
            <a:off x="7010400" y="0"/>
            <a:ext cx="5181600" cy="6858000"/>
          </a:xfrm>
          <a:prstGeom prst="rect">
            <a:avLst/>
          </a:prstGeom>
          <a:solidFill>
            <a:srgbClr val="332E2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g14"/>
          <p:cNvSpPr/>
          <p:nvPr/>
        </p:nvSpPr>
        <p:spPr>
          <a:xfrm>
            <a:off x="7410248" y="1238048"/>
            <a:ext cx="4381904" cy="4381904"/>
          </a:xfrm>
          <a:prstGeom prst="ellipse">
            <a:avLst/>
          </a:prstGeom>
          <a:noFill/>
          <a:ln w="22000">
            <a:solidFill>
              <a:srgbClr val="B455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g15"/>
          <p:cNvSpPr/>
          <p:nvPr/>
        </p:nvSpPr>
        <p:spPr>
          <a:xfrm>
            <a:off x="8062872" y="1890672"/>
            <a:ext cx="3076656" cy="3076656"/>
          </a:xfrm>
          <a:prstGeom prst="ellipse">
            <a:avLst/>
          </a:prstGeom>
          <a:noFill/>
          <a:ln w="16000">
            <a:solidFill>
              <a:srgbClr val="7A7A4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g16"/>
          <p:cNvSpPr/>
          <p:nvPr/>
        </p:nvSpPr>
        <p:spPr>
          <a:xfrm>
            <a:off x="8668880" y="2496680"/>
            <a:ext cx="1864640" cy="1864640"/>
          </a:xfrm>
          <a:prstGeom prst="ellipse">
            <a:avLst/>
          </a:prstGeom>
          <a:noFill/>
          <a:ln w="14000">
            <a:solidFill>
              <a:srgbClr val="C08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g17"/>
          <p:cNvSpPr/>
          <p:nvPr/>
        </p:nvSpPr>
        <p:spPr>
          <a:xfrm>
            <a:off x="11647497" y="2791940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g18"/>
          <p:cNvSpPr/>
          <p:nvPr/>
        </p:nvSpPr>
        <p:spPr>
          <a:xfrm>
            <a:off x="11647497" y="3926060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g19"/>
          <p:cNvSpPr/>
          <p:nvPr/>
        </p:nvSpPr>
        <p:spPr>
          <a:xfrm>
            <a:off x="11080437" y="4908237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g20"/>
          <p:cNvSpPr/>
          <p:nvPr/>
        </p:nvSpPr>
        <p:spPr>
          <a:xfrm>
            <a:off x="10098260" y="5475297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g21"/>
          <p:cNvSpPr/>
          <p:nvPr/>
        </p:nvSpPr>
        <p:spPr>
          <a:xfrm>
            <a:off x="8964140" y="5475297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g22"/>
          <p:cNvSpPr/>
          <p:nvPr/>
        </p:nvSpPr>
        <p:spPr>
          <a:xfrm>
            <a:off x="7981963" y="4908237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g23"/>
          <p:cNvSpPr/>
          <p:nvPr/>
        </p:nvSpPr>
        <p:spPr>
          <a:xfrm>
            <a:off x="7414903" y="3926060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g24"/>
          <p:cNvSpPr/>
          <p:nvPr/>
        </p:nvSpPr>
        <p:spPr>
          <a:xfrm>
            <a:off x="7414903" y="2791940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g25"/>
          <p:cNvSpPr/>
          <p:nvPr/>
        </p:nvSpPr>
        <p:spPr>
          <a:xfrm>
            <a:off x="7981963" y="1809763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g26"/>
          <p:cNvSpPr/>
          <p:nvPr/>
        </p:nvSpPr>
        <p:spPr>
          <a:xfrm>
            <a:off x="8964140" y="1242703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g27"/>
          <p:cNvSpPr/>
          <p:nvPr/>
        </p:nvSpPr>
        <p:spPr>
          <a:xfrm>
            <a:off x="10098260" y="1242703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g28"/>
          <p:cNvSpPr/>
          <p:nvPr/>
        </p:nvSpPr>
        <p:spPr>
          <a:xfrm>
            <a:off x="11080437" y="1809763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g29"/>
          <p:cNvSpPr/>
          <p:nvPr/>
        </p:nvSpPr>
        <p:spPr>
          <a:xfrm>
            <a:off x="9041808" y="2869608"/>
            <a:ext cx="1118784" cy="1118784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g30"/>
          <p:cNvSpPr/>
          <p:nvPr/>
        </p:nvSpPr>
        <p:spPr>
          <a:xfrm>
            <a:off x="10989528" y="2579760"/>
            <a:ext cx="300000" cy="3000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s31"/>
          <p:cNvSpPr/>
          <p:nvPr/>
        </p:nvSpPr>
        <p:spPr>
          <a:xfrm>
            <a:off x="838200" y="1180000"/>
            <a:ext cx="180000" cy="180000"/>
          </a:xfrm>
          <a:prstGeom prst="ellipse">
            <a:avLst/>
          </a:prstGeom>
          <a:solidFill>
            <a:srgbClr val="7A7A4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32"/>
          <p:cNvSpPr txBox="1"/>
          <p:nvPr/>
        </p:nvSpPr>
        <p:spPr>
          <a:xfrm>
            <a:off x="1100000" y="1130000"/>
            <a:ext cx="46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spc="300">
                <a:solidFill>
                  <a:srgbClr val="7A7A4E"/>
                </a:solidFill>
                <a:latin typeface="Segoe UI"/>
                <a:cs typeface="Segoe UI"/>
              </a:rPr>
              <a:t>TALENT ACQUISITION</a:t>
            </a:r>
            <a:endParaRPr lang="en-US" sz="1200" b="1" spc="300" dirty="0">
              <a:solidFill>
                <a:srgbClr val="7A7A4E"/>
              </a:solidFill>
              <a:latin typeface="Segoe UI"/>
              <a:cs typeface="Segoe UI"/>
            </a:endParaRPr>
          </a:p>
        </p:txBody>
      </p:sp>
      <p:sp>
        <p:nvSpPr>
          <p:cNvPr id="33" name="t33"/>
          <p:cNvSpPr txBox="1"/>
          <p:nvPr/>
        </p:nvSpPr>
        <p:spPr>
          <a:xfrm>
            <a:off x="838200" y="1560000"/>
            <a:ext cx="5400000" cy="21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4400" b="1" spc="0">
                <a:solidFill>
                  <a:srgbClr val="2E2A26"/>
                </a:solidFill>
                <a:latin typeface="Georgia"/>
                <a:cs typeface="Georgia"/>
              </a:rPr>
              <a:t>AI in Recruitment</a:t>
            </a:r>
            <a:endParaRPr lang="en-US" sz="4400" b="1" spc="0" dirty="0">
              <a:solidFill>
                <a:srgbClr val="2E2A26"/>
              </a:solidFill>
              <a:latin typeface="Georgia"/>
              <a:cs typeface="Georgia"/>
            </a:endParaRPr>
          </a:p>
        </p:txBody>
      </p:sp>
      <p:sp>
        <p:nvSpPr>
          <p:cNvPr id="34" name="s34"/>
          <p:cNvSpPr/>
          <p:nvPr/>
        </p:nvSpPr>
        <p:spPr>
          <a:xfrm>
            <a:off x="838200" y="3560000"/>
            <a:ext cx="1800000" cy="30000"/>
          </a:xfrm>
          <a:prstGeom prst="rect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35"/>
          <p:cNvSpPr txBox="1"/>
          <p:nvPr/>
        </p:nvSpPr>
        <p:spPr>
          <a:xfrm>
            <a:off x="838200" y="3820000"/>
            <a:ext cx="50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lang="en-US" sz="1400" b="0" spc="0">
                <a:solidFill>
                  <a:srgbClr val="4A423A"/>
                </a:solidFill>
                <a:latin typeface="Segoe UI"/>
                <a:cs typeface="Segoe UI"/>
              </a:rPr>
              <a:t>Screening, sourcing and scheduling in hours, not days.</a:t>
            </a:r>
            <a:endParaRPr lang="en-US" sz="140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36" name="s36"/>
          <p:cNvSpPr/>
          <p:nvPr/>
        </p:nvSpPr>
        <p:spPr>
          <a:xfrm>
            <a:off x="838200" y="5180000"/>
            <a:ext cx="5000000" cy="12700"/>
          </a:xfrm>
          <a:prstGeom prst="rect">
            <a:avLst/>
          </a:prstGeom>
          <a:solidFill>
            <a:srgbClr val="E0CD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t37"/>
          <p:cNvSpPr txBox="1"/>
          <p:nvPr/>
        </p:nvSpPr>
        <p:spPr>
          <a:xfrm>
            <a:off x="838200" y="5320000"/>
            <a:ext cx="5000000" cy="6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300" b="1" spc="0">
                <a:solidFill>
                  <a:srgbClr val="2E2A26"/>
                </a:solidFill>
                <a:latin typeface="Segoe UI"/>
                <a:cs typeface="Segoe UI"/>
              </a:rPr>
              <a:t>Vijay Perepa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300" b="1" spc="0">
                <a:solidFill>
                  <a:srgbClr val="2E2A26"/>
                </a:solidFill>
                <a:latin typeface="Segoe UI"/>
                <a:cs typeface="Segoe UI"/>
              </a:rPr>
              <a:t>HR &amp; AI enablement  |  Bangalore</a:t>
            </a:r>
            <a:endParaRPr lang="en-US" sz="1050" b="0" spc="10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B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12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13"/>
          <p:cNvSpPr/>
          <p:nvPr/>
        </p:nvSpPr>
        <p:spPr>
          <a:xfrm>
            <a:off x="838200" y="520700"/>
            <a:ext cx="180000" cy="180000"/>
          </a:xfrm>
          <a:prstGeom prst="ellipse">
            <a:avLst/>
          </a:prstGeom>
          <a:solidFill>
            <a:srgbClr val="7A7A4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xt14"/>
          <p:cNvSpPr txBox="1"/>
          <p:nvPr/>
        </p:nvSpPr>
        <p:spPr>
          <a:xfrm>
            <a:off x="1100000" y="470700"/>
            <a:ext cx="90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spc="300">
                <a:solidFill>
                  <a:srgbClr val="7A7A4E"/>
                </a:solidFill>
                <a:latin typeface="Segoe UI"/>
                <a:cs typeface="Segoe UI"/>
              </a:rPr>
              <a:t>HIGH-VOLUME SCREENING</a:t>
            </a:r>
            <a:endParaRPr lang="en-US" sz="1200" b="1" spc="300" dirty="0">
              <a:solidFill>
                <a:srgbClr val="7A7A4E"/>
              </a:solidFill>
              <a:latin typeface="Segoe UI"/>
              <a:cs typeface="Segoe UI"/>
            </a:endParaRPr>
          </a:p>
        </p:txBody>
      </p:sp>
      <p:sp>
        <p:nvSpPr>
          <p:cNvPr id="15" name="txt15"/>
          <p:cNvSpPr txBox="1"/>
          <p:nvPr/>
        </p:nvSpPr>
        <p:spPr>
          <a:xfrm>
            <a:off x="838200" y="830000"/>
            <a:ext cx="9600000" cy="6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200" b="1" spc="0">
                <a:solidFill>
                  <a:srgbClr val="2E2A26"/>
                </a:solidFill>
                <a:latin typeface="Georgia"/>
                <a:cs typeface="Georgia"/>
              </a:rPr>
              <a:t>Compare Hundreds of Resumes at Once</a:t>
            </a:r>
            <a:endParaRPr lang="en-US" sz="3200" b="1" spc="0" dirty="0">
              <a:solidFill>
                <a:srgbClr val="2E2A26"/>
              </a:solidFill>
              <a:latin typeface="Georgia"/>
              <a:cs typeface="Georgia"/>
            </a:endParaRPr>
          </a:p>
        </p:txBody>
      </p:sp>
      <p:sp>
        <p:nvSpPr>
          <p:cNvPr id="16" name="shape16"/>
          <p:cNvSpPr/>
          <p:nvPr/>
        </p:nvSpPr>
        <p:spPr>
          <a:xfrm>
            <a:off x="838200" y="1560000"/>
            <a:ext cx="3200000" cy="26000"/>
          </a:xfrm>
          <a:prstGeom prst="rect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xt17"/>
          <p:cNvSpPr txBox="1"/>
          <p:nvPr/>
        </p:nvSpPr>
        <p:spPr>
          <a:xfrm>
            <a:off x="838200" y="1700000"/>
            <a:ext cx="10515600" cy="5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sz="1400" b="0" spc="0">
                <a:solidFill>
                  <a:srgbClr val="554C43"/>
                </a:solidFill>
                <a:latin typeface="Segoe UI"/>
                <a:cs typeface="Segoe UI"/>
              </a:rPr>
              <a:t>Upload the full applicant pack once, then ask the same structured questions of every resume — so the shortlist is built on one consistent standard instead of reader fatigue.</a:t>
            </a:r>
            <a:endParaRPr lang="en-US" sz="1400" b="0" spc="0" dirty="0">
              <a:solidFill>
                <a:srgbClr val="554C43"/>
              </a:solidFill>
              <a:latin typeface="Segoe UI"/>
              <a:cs typeface="Segoe UI"/>
            </a:endParaRPr>
          </a:p>
        </p:txBody>
      </p:sp>
      <p:sp>
        <p:nvSpPr>
          <p:cNvPr id="18" name="shape18"/>
          <p:cNvSpPr/>
          <p:nvPr/>
        </p:nvSpPr>
        <p:spPr>
          <a:xfrm>
            <a:off x="838200" y="2400000"/>
            <a:ext cx="10515600" cy="596000"/>
          </a:xfrm>
          <a:prstGeom prst="roundRect">
            <a:avLst>
              <a:gd name="adj" fmla="val 8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19"/>
          <p:cNvSpPr/>
          <p:nvPr/>
        </p:nvSpPr>
        <p:spPr>
          <a:xfrm>
            <a:off x="1098200" y="2543040"/>
            <a:ext cx="309920" cy="309920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20"/>
          <p:cNvSpPr/>
          <p:nvPr/>
        </p:nvSpPr>
        <p:spPr>
          <a:xfrm>
            <a:off x="1184978" y="2629818"/>
            <a:ext cx="136364" cy="136364"/>
          </a:xfrm>
          <a:prstGeom prst="flowChartExtra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xt21"/>
          <p:cNvSpPr txBox="1"/>
          <p:nvPr/>
        </p:nvSpPr>
        <p:spPr>
          <a:xfrm>
            <a:off x="1708120" y="2495360"/>
            <a:ext cx="8300000" cy="4172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00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500" b="1" spc="0">
                <a:solidFill>
                  <a:srgbClr val="2E2A26"/>
                </a:solidFill>
                <a:latin typeface="Segoe UI"/>
                <a:cs typeface="Segoe UI"/>
              </a:rPr>
              <a:t>Bulk upload the applicant pack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500" b="1" spc="0">
                <a:solidFill>
                  <a:srgbClr val="2E2A26"/>
                </a:solidFill>
                <a:latin typeface="Segoe UI"/>
                <a:cs typeface="Segoe UI"/>
              </a:rPr>
              <a:t>Drop hundreds of resumes plus the job description into one workspace so every candidate is read against the same brief.</a:t>
            </a:r>
            <a:endParaRPr lang="en-US" sz="1200" b="0" spc="0" dirty="0">
              <a:solidFill>
                <a:srgbClr val="554C43"/>
              </a:solidFill>
              <a:latin typeface="Segoe UI"/>
              <a:cs typeface="Segoe UI"/>
            </a:endParaRPr>
          </a:p>
        </p:txBody>
      </p:sp>
      <p:sp>
        <p:nvSpPr>
          <p:cNvPr id="22" name="shape22"/>
          <p:cNvSpPr/>
          <p:nvPr/>
        </p:nvSpPr>
        <p:spPr>
          <a:xfrm>
            <a:off x="838200" y="3196000"/>
            <a:ext cx="10515600" cy="596000"/>
          </a:xfrm>
          <a:prstGeom prst="roundRect">
            <a:avLst>
              <a:gd name="adj" fmla="val 8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23"/>
          <p:cNvSpPr/>
          <p:nvPr/>
        </p:nvSpPr>
        <p:spPr>
          <a:xfrm>
            <a:off x="1098200" y="3339040"/>
            <a:ext cx="309920" cy="309920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24"/>
          <p:cNvSpPr/>
          <p:nvPr/>
        </p:nvSpPr>
        <p:spPr>
          <a:xfrm>
            <a:off x="1184978" y="3425818"/>
            <a:ext cx="136364" cy="136364"/>
          </a:xfrm>
          <a:prstGeom prst="wedgeRoundRectCallou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xt25"/>
          <p:cNvSpPr txBox="1"/>
          <p:nvPr/>
        </p:nvSpPr>
        <p:spPr>
          <a:xfrm>
            <a:off x="1708120" y="3291360"/>
            <a:ext cx="8300000" cy="4172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00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500" b="1" spc="0">
                <a:solidFill>
                  <a:srgbClr val="2E2A26"/>
                </a:solidFill>
                <a:latin typeface="Segoe UI"/>
                <a:cs typeface="Segoe UI"/>
              </a:rPr>
              <a:t>Score against a fixed rubric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500" b="1" spc="0">
                <a:solidFill>
                  <a:srgbClr val="2E2A26"/>
                </a:solidFill>
                <a:latin typeface="Segoe UI"/>
                <a:cs typeface="Segoe UI"/>
              </a:rPr>
              <a:t>Define must-have skills, years of experience and certifications once, then apply that rubric to every resume identically.</a:t>
            </a:r>
            <a:endParaRPr lang="en-US" sz="1200" b="0" spc="0" dirty="0">
              <a:solidFill>
                <a:srgbClr val="554C43"/>
              </a:solidFill>
              <a:latin typeface="Segoe UI"/>
              <a:cs typeface="Segoe UI"/>
            </a:endParaRPr>
          </a:p>
        </p:txBody>
      </p:sp>
      <p:sp>
        <p:nvSpPr>
          <p:cNvPr id="26" name="shape26"/>
          <p:cNvSpPr/>
          <p:nvPr/>
        </p:nvSpPr>
        <p:spPr>
          <a:xfrm>
            <a:off x="838200" y="3992000"/>
            <a:ext cx="10515600" cy="596000"/>
          </a:xfrm>
          <a:prstGeom prst="roundRect">
            <a:avLst>
              <a:gd name="adj" fmla="val 8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27"/>
          <p:cNvSpPr/>
          <p:nvPr/>
        </p:nvSpPr>
        <p:spPr>
          <a:xfrm>
            <a:off x="1098200" y="4135040"/>
            <a:ext cx="309920" cy="309920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28"/>
          <p:cNvSpPr/>
          <p:nvPr/>
        </p:nvSpPr>
        <p:spPr>
          <a:xfrm>
            <a:off x="1184978" y="4221818"/>
            <a:ext cx="136364" cy="136364"/>
          </a:xfrm>
          <a:prstGeom prst="up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xt29"/>
          <p:cNvSpPr txBox="1"/>
          <p:nvPr/>
        </p:nvSpPr>
        <p:spPr>
          <a:xfrm>
            <a:off x="1708120" y="4087360"/>
            <a:ext cx="8300000" cy="4172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500" b="1" spc="0">
                <a:solidFill>
                  <a:srgbClr val="2E2A26"/>
                </a:solidFill>
                <a:latin typeface="Segoe UI"/>
                <a:cs typeface="Segoe UI"/>
              </a:rPr>
              <a:t>Get a ranked shortlist with evidence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500" b="1" spc="0">
                <a:solidFill>
                  <a:srgbClr val="2E2A26"/>
                </a:solidFill>
                <a:latin typeface="Segoe UI"/>
                <a:cs typeface="Segoe UI"/>
              </a:rPr>
              <a:t>Return a comparison table of top candidates with the exact resume line that supports each rating.</a:t>
            </a:r>
            <a:endParaRPr lang="en-US" sz="1200" b="0" spc="0" dirty="0">
              <a:solidFill>
                <a:srgbClr val="554C43"/>
              </a:solidFill>
              <a:latin typeface="Segoe UI"/>
              <a:cs typeface="Segoe UI"/>
            </a:endParaRPr>
          </a:p>
        </p:txBody>
      </p:sp>
      <p:sp>
        <p:nvSpPr>
          <p:cNvPr id="30" name="shape30"/>
          <p:cNvSpPr/>
          <p:nvPr/>
        </p:nvSpPr>
        <p:spPr>
          <a:xfrm>
            <a:off x="838200" y="4788000"/>
            <a:ext cx="10515600" cy="596000"/>
          </a:xfrm>
          <a:prstGeom prst="roundRect">
            <a:avLst>
              <a:gd name="adj" fmla="val 8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31"/>
          <p:cNvSpPr/>
          <p:nvPr/>
        </p:nvSpPr>
        <p:spPr>
          <a:xfrm>
            <a:off x="1098200" y="4931040"/>
            <a:ext cx="309920" cy="309920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32"/>
          <p:cNvSpPr/>
          <p:nvPr/>
        </p:nvSpPr>
        <p:spPr>
          <a:xfrm>
            <a:off x="1184978" y="5017818"/>
            <a:ext cx="136364" cy="136364"/>
          </a:xfrm>
          <a:prstGeom prst="flowChartDocumen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xt33"/>
          <p:cNvSpPr txBox="1"/>
          <p:nvPr/>
        </p:nvSpPr>
        <p:spPr>
          <a:xfrm>
            <a:off x="1708120" y="4883360"/>
            <a:ext cx="8300000" cy="4172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500" b="1" spc="0">
                <a:solidFill>
                  <a:srgbClr val="2E2A26"/>
                </a:solidFill>
                <a:latin typeface="Segoe UI"/>
                <a:cs typeface="Segoe UI"/>
              </a:rPr>
              <a:t>Surface adjacent and transferable skills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500" b="1" spc="0">
                <a:solidFill>
                  <a:srgbClr val="2E2A26"/>
                </a:solidFill>
                <a:latin typeface="Segoe UI"/>
                <a:cs typeface="Segoe UI"/>
              </a:rPr>
              <a:t>Catch strong candidates whose wording differs from the job ad instead of losing them to keyword filters.</a:t>
            </a:r>
            <a:endParaRPr lang="en-US" sz="1200" b="0" spc="0" dirty="0">
              <a:solidFill>
                <a:srgbClr val="554C43"/>
              </a:solidFill>
              <a:latin typeface="Segoe UI"/>
              <a:cs typeface="Segoe UI"/>
            </a:endParaRPr>
          </a:p>
        </p:txBody>
      </p:sp>
      <p:sp>
        <p:nvSpPr>
          <p:cNvPr id="34" name="shape34"/>
          <p:cNvSpPr/>
          <p:nvPr/>
        </p:nvSpPr>
        <p:spPr>
          <a:xfrm>
            <a:off x="838200" y="5584000"/>
            <a:ext cx="10515600" cy="596000"/>
          </a:xfrm>
          <a:prstGeom prst="roundRect">
            <a:avLst>
              <a:gd name="adj" fmla="val 8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35"/>
          <p:cNvSpPr/>
          <p:nvPr/>
        </p:nvSpPr>
        <p:spPr>
          <a:xfrm>
            <a:off x="1098200" y="5727040"/>
            <a:ext cx="309920" cy="309920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36"/>
          <p:cNvSpPr/>
          <p:nvPr/>
        </p:nvSpPr>
        <p:spPr>
          <a:xfrm>
            <a:off x="1184978" y="5813818"/>
            <a:ext cx="136364" cy="136364"/>
          </a:xfrm>
          <a:prstGeom prst="flowChartMultidocumen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txt37"/>
          <p:cNvSpPr txBox="1"/>
          <p:nvPr/>
        </p:nvSpPr>
        <p:spPr>
          <a:xfrm>
            <a:off x="1708120" y="5679360"/>
            <a:ext cx="8300000" cy="4172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500" b="1" spc="0">
                <a:solidFill>
                  <a:srgbClr val="2E2A26"/>
                </a:solidFill>
                <a:latin typeface="Segoe UI"/>
                <a:cs typeface="Segoe UI"/>
              </a:rPr>
              <a:t>Hand a clean brief to the hiring manager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500" b="1" spc="0">
                <a:solidFill>
                  <a:srgbClr val="2E2A26"/>
                </a:solidFill>
                <a:latin typeface="Segoe UI"/>
                <a:cs typeface="Segoe UI"/>
              </a:rPr>
              <a:t>Produce interview questions and gap notes per shortlisted candidate, ready for a human decision.</a:t>
            </a:r>
            <a:endParaRPr lang="en-US" sz="1200" b="0" spc="0" dirty="0">
              <a:solidFill>
                <a:srgbClr val="554C43"/>
              </a:solidFill>
              <a:latin typeface="Segoe UI"/>
              <a:cs typeface="Segoe UI"/>
            </a:endParaRPr>
          </a:p>
        </p:txBody>
      </p:sp>
      <p:sp>
        <p:nvSpPr>
          <p:cNvPr id="38" name="shape38"/>
          <p:cNvSpPr/>
          <p:nvPr/>
        </p:nvSpPr>
        <p:spPr>
          <a:xfrm>
            <a:off x="838200" y="6420000"/>
            <a:ext cx="10515600" cy="12700"/>
          </a:xfrm>
          <a:prstGeom prst="rect">
            <a:avLst/>
          </a:prstGeom>
          <a:solidFill>
            <a:srgbClr val="E0CD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txt39"/>
          <p:cNvSpPr txBox="1"/>
          <p:nvPr/>
        </p:nvSpPr>
        <p:spPr>
          <a:xfrm>
            <a:off x="838200" y="6510000"/>
            <a:ext cx="10515600" cy="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200">
                <a:solidFill>
                  <a:srgbClr val="554C43"/>
                </a:solidFill>
                <a:latin typeface="Segoe UI"/>
                <a:cs typeface="Segoe UI"/>
              </a:rPr>
              <a:t>Screening at scale  |  final hiring decisions stay with people</a:t>
            </a:r>
            <a:endParaRPr lang="en-US" sz="1000" b="0" spc="200" dirty="0">
              <a:solidFill>
                <a:srgbClr val="554C43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B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s12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13"/>
          <p:cNvSpPr/>
          <p:nvPr/>
        </p:nvSpPr>
        <p:spPr>
          <a:xfrm>
            <a:off x="838200" y="520700"/>
            <a:ext cx="180000" cy="180000"/>
          </a:xfrm>
          <a:prstGeom prst="ellipse">
            <a:avLst/>
          </a:prstGeom>
          <a:solidFill>
            <a:srgbClr val="7A7A4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14"/>
          <p:cNvSpPr txBox="1"/>
          <p:nvPr/>
        </p:nvSpPr>
        <p:spPr>
          <a:xfrm>
            <a:off x="1100000" y="470700"/>
            <a:ext cx="90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spc="300">
                <a:solidFill>
                  <a:srgbClr val="7A7A4E"/>
                </a:solidFill>
                <a:latin typeface="Segoe UI"/>
                <a:cs typeface="Segoe UI"/>
              </a:rPr>
              <a:t>WHY NOTEBOOKLM FOR RESUME SCREENING</a:t>
            </a:r>
            <a:endParaRPr lang="en-US" sz="1200" b="1" spc="300" dirty="0">
              <a:solidFill>
                <a:srgbClr val="7A7A4E"/>
              </a:solidFill>
              <a:latin typeface="Segoe UI"/>
              <a:cs typeface="Segoe UI"/>
            </a:endParaRPr>
          </a:p>
        </p:txBody>
      </p:sp>
      <p:sp>
        <p:nvSpPr>
          <p:cNvPr id="15" name="t15"/>
          <p:cNvSpPr txBox="1"/>
          <p:nvPr/>
        </p:nvSpPr>
        <p:spPr>
          <a:xfrm>
            <a:off x="838200" y="830000"/>
            <a:ext cx="10515600" cy="6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000" b="1" spc="0">
                <a:solidFill>
                  <a:srgbClr val="2E2A26"/>
                </a:solidFill>
                <a:latin typeface="Georgia"/>
                <a:cs typeface="Georgia"/>
              </a:rPr>
              <a:t>Where NotebookLM Pulls Ahead</a:t>
            </a:r>
            <a:endParaRPr lang="en-US" sz="3000" b="1" spc="0" dirty="0">
              <a:solidFill>
                <a:srgbClr val="2E2A26"/>
              </a:solidFill>
              <a:latin typeface="Georgia"/>
              <a:cs typeface="Georgia"/>
            </a:endParaRPr>
          </a:p>
        </p:txBody>
      </p:sp>
      <p:sp>
        <p:nvSpPr>
          <p:cNvPr id="16" name="s16"/>
          <p:cNvSpPr/>
          <p:nvPr/>
        </p:nvSpPr>
        <p:spPr>
          <a:xfrm>
            <a:off x="838200" y="1540000"/>
            <a:ext cx="3200000" cy="26000"/>
          </a:xfrm>
          <a:prstGeom prst="rect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17"/>
          <p:cNvSpPr txBox="1"/>
          <p:nvPr/>
        </p:nvSpPr>
        <p:spPr>
          <a:xfrm>
            <a:off x="838200" y="1700000"/>
            <a:ext cx="10515600" cy="4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300" b="0" spc="0">
                <a:solidFill>
                  <a:srgbClr val="4A423A"/>
                </a:solidFill>
                <a:latin typeface="Segoe UI"/>
                <a:cs typeface="Segoe UI"/>
              </a:rPr>
              <a:t>For comparing a fixed pile of resumes, being locked to your own sources is the feature — not the limitation.</a:t>
            </a:r>
            <a:endParaRPr lang="en-US" sz="130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18" name="s18"/>
          <p:cNvSpPr/>
          <p:nvPr/>
        </p:nvSpPr>
        <p:spPr>
          <a:xfrm>
            <a:off x="838200" y="6420000"/>
            <a:ext cx="10515600" cy="12700"/>
          </a:xfrm>
          <a:prstGeom prst="rect">
            <a:avLst/>
          </a:prstGeom>
          <a:solidFill>
            <a:srgbClr val="E0CD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19"/>
          <p:cNvSpPr txBox="1"/>
          <p:nvPr/>
        </p:nvSpPr>
        <p:spPr>
          <a:xfrm>
            <a:off x="838200" y="6510000"/>
            <a:ext cx="10515600" cy="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200">
                <a:solidFill>
                  <a:srgbClr val="4A423A"/>
                </a:solidFill>
                <a:latin typeface="Segoe UI"/>
                <a:cs typeface="Segoe UI"/>
              </a:rPr>
              <a:t>AI in recruitment  |  comparing tools for high-volume screening</a:t>
            </a:r>
            <a:endParaRPr lang="en-US" sz="1000" b="0" spc="20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20" name="s20"/>
          <p:cNvSpPr/>
          <p:nvPr/>
        </p:nvSpPr>
        <p:spPr>
          <a:xfrm>
            <a:off x="838200" y="2320000"/>
            <a:ext cx="2478900" cy="3580000"/>
          </a:xfrm>
          <a:prstGeom prst="roundRect">
            <a:avLst>
              <a:gd name="adj" fmla="val 6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s21"/>
          <p:cNvSpPr/>
          <p:nvPr/>
        </p:nvSpPr>
        <p:spPr>
          <a:xfrm>
            <a:off x="838200" y="2320000"/>
            <a:ext cx="2478900" cy="140000"/>
          </a:xfrm>
          <a:prstGeom prst="roundRect">
            <a:avLst>
              <a:gd name="adj" fmla="val 20000"/>
            </a:avLst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s22"/>
          <p:cNvSpPr/>
          <p:nvPr/>
        </p:nvSpPr>
        <p:spPr>
          <a:xfrm>
            <a:off x="1118200" y="2620000"/>
            <a:ext cx="420000" cy="420000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s23"/>
          <p:cNvSpPr/>
          <p:nvPr/>
        </p:nvSpPr>
        <p:spPr>
          <a:xfrm>
            <a:off x="1235800" y="2737600"/>
            <a:ext cx="184800" cy="18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24"/>
          <p:cNvSpPr txBox="1"/>
          <p:nvPr/>
        </p:nvSpPr>
        <p:spPr>
          <a:xfrm>
            <a:off x="1118200" y="3150000"/>
            <a:ext cx="19189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E2A26"/>
                </a:solidFill>
                <a:latin typeface="Segoe UI"/>
                <a:cs typeface="Segoe UI"/>
              </a:rPr>
              <a:t>Source-grounded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E2A26"/>
                </a:solidFill>
                <a:latin typeface="Segoe UI"/>
                <a:cs typeface="Segoe UI"/>
              </a:rPr>
              <a:t>No outside guessing</a:t>
            </a:r>
            <a:endParaRPr lang="en-US" sz="1050" b="1" spc="100" dirty="0">
              <a:solidFill>
                <a:srgbClr val="B4553A"/>
              </a:solidFill>
              <a:latin typeface="Segoe UI"/>
              <a:cs typeface="Segoe UI"/>
            </a:endParaRPr>
          </a:p>
        </p:txBody>
      </p:sp>
      <p:sp>
        <p:nvSpPr>
          <p:cNvPr id="25" name="t25"/>
          <p:cNvSpPr txBox="1"/>
          <p:nvPr/>
        </p:nvSpPr>
        <p:spPr>
          <a:xfrm>
            <a:off x="1118200" y="3770000"/>
            <a:ext cx="1918900" cy="19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Answers come only from resumes you upload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Cuts invented experience and employers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The candidate pool is a closed set</a:t>
            </a:r>
            <a:endParaRPr lang="en-US" sz="110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26" name="s26"/>
          <p:cNvSpPr/>
          <p:nvPr/>
        </p:nvSpPr>
        <p:spPr>
          <a:xfrm>
            <a:off x="3517100" y="2320000"/>
            <a:ext cx="2478900" cy="3580000"/>
          </a:xfrm>
          <a:prstGeom prst="roundRect">
            <a:avLst>
              <a:gd name="adj" fmla="val 6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s27"/>
          <p:cNvSpPr/>
          <p:nvPr/>
        </p:nvSpPr>
        <p:spPr>
          <a:xfrm>
            <a:off x="3517100" y="2320000"/>
            <a:ext cx="2478900" cy="140000"/>
          </a:xfrm>
          <a:prstGeom prst="roundRect">
            <a:avLst>
              <a:gd name="adj" fmla="val 20000"/>
            </a:avLst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s28"/>
          <p:cNvSpPr/>
          <p:nvPr/>
        </p:nvSpPr>
        <p:spPr>
          <a:xfrm>
            <a:off x="3797100" y="2620000"/>
            <a:ext cx="420000" cy="420000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s29"/>
          <p:cNvSpPr/>
          <p:nvPr/>
        </p:nvSpPr>
        <p:spPr>
          <a:xfrm>
            <a:off x="3914700" y="2737600"/>
            <a:ext cx="184800" cy="184800"/>
          </a:xfrm>
          <a:prstGeom prst="flowChartPreparation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30"/>
          <p:cNvSpPr txBox="1"/>
          <p:nvPr/>
        </p:nvSpPr>
        <p:spPr>
          <a:xfrm>
            <a:off x="3797100" y="3150000"/>
            <a:ext cx="19189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E2A26"/>
                </a:solidFill>
                <a:latin typeface="Segoe UI"/>
                <a:cs typeface="Segoe UI"/>
              </a:rPr>
              <a:t>Cited answers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E2A26"/>
                </a:solidFill>
                <a:latin typeface="Segoe UI"/>
                <a:cs typeface="Segoe UI"/>
              </a:rPr>
              <a:t>Auditable shortlists</a:t>
            </a:r>
            <a:endParaRPr lang="en-US" sz="1050" b="1" spc="100" dirty="0">
              <a:solidFill>
                <a:srgbClr val="B4553A"/>
              </a:solidFill>
              <a:latin typeface="Segoe UI"/>
              <a:cs typeface="Segoe UI"/>
            </a:endParaRPr>
          </a:p>
        </p:txBody>
      </p:sp>
      <p:sp>
        <p:nvSpPr>
          <p:cNvPr id="31" name="t31"/>
          <p:cNvSpPr txBox="1"/>
          <p:nvPr/>
        </p:nvSpPr>
        <p:spPr>
          <a:xfrm>
            <a:off x="3797100" y="3770000"/>
            <a:ext cx="1918900" cy="19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Each rating links back to the exact resume passage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Recruiters verify in one click instead of re-reading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Creates a defensible trail for hiring decisions</a:t>
            </a:r>
            <a:endParaRPr lang="en-US" sz="110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32" name="s32"/>
          <p:cNvSpPr/>
          <p:nvPr/>
        </p:nvSpPr>
        <p:spPr>
          <a:xfrm>
            <a:off x="6196000" y="2320000"/>
            <a:ext cx="2478900" cy="3580000"/>
          </a:xfrm>
          <a:prstGeom prst="roundRect">
            <a:avLst>
              <a:gd name="adj" fmla="val 6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s33"/>
          <p:cNvSpPr/>
          <p:nvPr/>
        </p:nvSpPr>
        <p:spPr>
          <a:xfrm>
            <a:off x="6196000" y="2320000"/>
            <a:ext cx="2478900" cy="140000"/>
          </a:xfrm>
          <a:prstGeom prst="roundRect">
            <a:avLst>
              <a:gd name="adj" fmla="val 20000"/>
            </a:avLst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s34"/>
          <p:cNvSpPr/>
          <p:nvPr/>
        </p:nvSpPr>
        <p:spPr>
          <a:xfrm>
            <a:off x="6476000" y="2620000"/>
            <a:ext cx="420000" cy="420000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s35"/>
          <p:cNvSpPr/>
          <p:nvPr/>
        </p:nvSpPr>
        <p:spPr>
          <a:xfrm>
            <a:off x="6593600" y="2737600"/>
            <a:ext cx="184800" cy="184800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36"/>
          <p:cNvSpPr txBox="1"/>
          <p:nvPr/>
        </p:nvSpPr>
        <p:spPr>
          <a:xfrm>
            <a:off x="6476000" y="3150000"/>
            <a:ext cx="19189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E2A26"/>
                </a:solidFill>
                <a:latin typeface="Segoe UI"/>
                <a:cs typeface="Segoe UI"/>
              </a:rPr>
              <a:t>Many sources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E2A26"/>
                </a:solidFill>
                <a:latin typeface="Segoe UI"/>
                <a:cs typeface="Segoe UI"/>
              </a:rPr>
              <a:t>Whole pack at once</a:t>
            </a:r>
            <a:endParaRPr lang="en-US" sz="1050" b="1" spc="100" dirty="0">
              <a:solidFill>
                <a:srgbClr val="B4553A"/>
              </a:solidFill>
              <a:latin typeface="Segoe UI"/>
              <a:cs typeface="Segoe UI"/>
            </a:endParaRPr>
          </a:p>
        </p:txBody>
      </p:sp>
      <p:sp>
        <p:nvSpPr>
          <p:cNvPr id="37" name="t37"/>
          <p:cNvSpPr txBox="1"/>
          <p:nvPr/>
        </p:nvSpPr>
        <p:spPr>
          <a:xfrm>
            <a:off x="6476000" y="3770000"/>
            <a:ext cx="1918900" cy="19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Holds a large set of resumes in one notebook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Job description and rubric sit beside the candidates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Ask one question across the entire pool</a:t>
            </a:r>
            <a:endParaRPr lang="en-US" sz="110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38" name="s38"/>
          <p:cNvSpPr/>
          <p:nvPr/>
        </p:nvSpPr>
        <p:spPr>
          <a:xfrm>
            <a:off x="8874900" y="2320000"/>
            <a:ext cx="2478900" cy="3580000"/>
          </a:xfrm>
          <a:prstGeom prst="roundRect">
            <a:avLst>
              <a:gd name="adj" fmla="val 6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s39"/>
          <p:cNvSpPr/>
          <p:nvPr/>
        </p:nvSpPr>
        <p:spPr>
          <a:xfrm>
            <a:off x="8874900" y="2320000"/>
            <a:ext cx="2478900" cy="140000"/>
          </a:xfrm>
          <a:prstGeom prst="roundRect">
            <a:avLst>
              <a:gd name="adj" fmla="val 20000"/>
            </a:avLst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s40"/>
          <p:cNvSpPr/>
          <p:nvPr/>
        </p:nvSpPr>
        <p:spPr>
          <a:xfrm>
            <a:off x="9154900" y="2620000"/>
            <a:ext cx="420000" cy="420000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s41"/>
          <p:cNvSpPr/>
          <p:nvPr/>
        </p:nvSpPr>
        <p:spPr>
          <a:xfrm>
            <a:off x="9272500" y="2737600"/>
            <a:ext cx="184800" cy="184800"/>
          </a:xfrm>
          <a:prstGeom prst="flowChartDocumen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t42"/>
          <p:cNvSpPr txBox="1"/>
          <p:nvPr/>
        </p:nvSpPr>
        <p:spPr>
          <a:xfrm>
            <a:off x="9154900" y="3150000"/>
            <a:ext cx="19189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E2A26"/>
                </a:solidFill>
                <a:latin typeface="Segoe UI"/>
                <a:cs typeface="Segoe UI"/>
              </a:rPr>
              <a:t>Reusable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E2A26"/>
                </a:solidFill>
                <a:latin typeface="Segoe UI"/>
                <a:cs typeface="Segoe UI"/>
              </a:rPr>
              <a:t>One shared view</a:t>
            </a:r>
            <a:endParaRPr lang="en-US" sz="1050" b="1" spc="100" dirty="0">
              <a:solidFill>
                <a:srgbClr val="B4553A"/>
              </a:solidFill>
              <a:latin typeface="Segoe UI"/>
              <a:cs typeface="Segoe UI"/>
            </a:endParaRPr>
          </a:p>
        </p:txBody>
      </p:sp>
      <p:sp>
        <p:nvSpPr>
          <p:cNvPr id="43" name="t43"/>
          <p:cNvSpPr txBox="1"/>
          <p:nvPr/>
        </p:nvSpPr>
        <p:spPr>
          <a:xfrm>
            <a:off x="9154900" y="3770000"/>
            <a:ext cx="1918900" cy="19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Notebooks persist, so the rubric is reused each round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Share with the hiring panel for a common view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Briefings and mind maps summarise the pool fast</a:t>
            </a:r>
            <a:endParaRPr lang="en-US" sz="110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B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s45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s46"/>
          <p:cNvSpPr/>
          <p:nvPr/>
        </p:nvSpPr>
        <p:spPr>
          <a:xfrm>
            <a:off x="838200" y="520700"/>
            <a:ext cx="180000" cy="180000"/>
          </a:xfrm>
          <a:prstGeom prst="ellipse">
            <a:avLst/>
          </a:prstGeom>
          <a:solidFill>
            <a:srgbClr val="7A7A4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t47"/>
          <p:cNvSpPr txBox="1"/>
          <p:nvPr/>
        </p:nvSpPr>
        <p:spPr>
          <a:xfrm>
            <a:off x="1100000" y="470700"/>
            <a:ext cx="90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spc="300">
                <a:solidFill>
                  <a:srgbClr val="7A7A4E"/>
                </a:solidFill>
                <a:latin typeface="Segoe UI"/>
                <a:cs typeface="Segoe UI"/>
              </a:rPr>
              <a:t>LIMITATIONS TO PLAN FOR</a:t>
            </a:r>
            <a:endParaRPr lang="en-US" sz="1200" b="1" spc="300" dirty="0">
              <a:solidFill>
                <a:srgbClr val="7A7A4E"/>
              </a:solidFill>
              <a:latin typeface="Segoe UI"/>
              <a:cs typeface="Segoe UI"/>
            </a:endParaRPr>
          </a:p>
        </p:txBody>
      </p:sp>
      <p:sp>
        <p:nvSpPr>
          <p:cNvPr id="48" name="t48"/>
          <p:cNvSpPr txBox="1"/>
          <p:nvPr/>
        </p:nvSpPr>
        <p:spPr>
          <a:xfrm>
            <a:off x="838200" y="830000"/>
            <a:ext cx="10515600" cy="6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000" b="1" spc="0">
                <a:solidFill>
                  <a:srgbClr val="2E2A26"/>
                </a:solidFill>
                <a:latin typeface="Georgia"/>
                <a:cs typeface="Georgia"/>
              </a:rPr>
              <a:t>Where the Other Tools Fall Short</a:t>
            </a:r>
            <a:endParaRPr lang="en-US" sz="3000" b="1" spc="0" dirty="0">
              <a:solidFill>
                <a:srgbClr val="2E2A26"/>
              </a:solidFill>
              <a:latin typeface="Georgia"/>
              <a:cs typeface="Georgia"/>
            </a:endParaRPr>
          </a:p>
        </p:txBody>
      </p:sp>
      <p:sp>
        <p:nvSpPr>
          <p:cNvPr id="49" name="s49"/>
          <p:cNvSpPr/>
          <p:nvPr/>
        </p:nvSpPr>
        <p:spPr>
          <a:xfrm>
            <a:off x="838200" y="1540000"/>
            <a:ext cx="3200000" cy="26000"/>
          </a:xfrm>
          <a:prstGeom prst="rect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t50"/>
          <p:cNvSpPr txBox="1"/>
          <p:nvPr/>
        </p:nvSpPr>
        <p:spPr>
          <a:xfrm>
            <a:off x="838200" y="1700000"/>
            <a:ext cx="10515600" cy="4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300" b="0" spc="0">
                <a:solidFill>
                  <a:srgbClr val="4A423A"/>
                </a:solidFill>
                <a:latin typeface="Segoe UI"/>
                <a:cs typeface="Segoe UI"/>
              </a:rPr>
              <a:t>General assistants can screen resumes, but each brings a trade-off that matters when the output drives hiring decisions.</a:t>
            </a:r>
            <a:endParaRPr lang="en-US" sz="130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51" name="s51"/>
          <p:cNvSpPr/>
          <p:nvPr/>
        </p:nvSpPr>
        <p:spPr>
          <a:xfrm>
            <a:off x="838200" y="6420000"/>
            <a:ext cx="10515600" cy="12700"/>
          </a:xfrm>
          <a:prstGeom prst="rect">
            <a:avLst/>
          </a:prstGeom>
          <a:solidFill>
            <a:srgbClr val="E0CD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52"/>
          <p:cNvSpPr txBox="1"/>
          <p:nvPr/>
        </p:nvSpPr>
        <p:spPr>
          <a:xfrm>
            <a:off x="838200" y="6510000"/>
            <a:ext cx="10515600" cy="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200">
                <a:solidFill>
                  <a:srgbClr val="4A423A"/>
                </a:solidFill>
                <a:latin typeface="Segoe UI"/>
                <a:cs typeface="Segoe UI"/>
              </a:rPr>
              <a:t>AI in recruitment  |  human review remains essential</a:t>
            </a:r>
            <a:endParaRPr lang="en-US" sz="1000" b="0" spc="20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53" name="s53"/>
          <p:cNvSpPr/>
          <p:nvPr/>
        </p:nvSpPr>
        <p:spPr>
          <a:xfrm>
            <a:off x="838200" y="2320000"/>
            <a:ext cx="2478900" cy="3580000"/>
          </a:xfrm>
          <a:prstGeom prst="roundRect">
            <a:avLst>
              <a:gd name="adj" fmla="val 6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s54"/>
          <p:cNvSpPr/>
          <p:nvPr/>
        </p:nvSpPr>
        <p:spPr>
          <a:xfrm>
            <a:off x="838200" y="2320000"/>
            <a:ext cx="2478900" cy="140000"/>
          </a:xfrm>
          <a:prstGeom prst="roundRect">
            <a:avLst>
              <a:gd name="adj" fmla="val 20000"/>
            </a:avLst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s55"/>
          <p:cNvSpPr/>
          <p:nvPr/>
        </p:nvSpPr>
        <p:spPr>
          <a:xfrm>
            <a:off x="1118200" y="2620000"/>
            <a:ext cx="420000" cy="420000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s56"/>
          <p:cNvSpPr/>
          <p:nvPr/>
        </p:nvSpPr>
        <p:spPr>
          <a:xfrm>
            <a:off x="1235800" y="2737600"/>
            <a:ext cx="184800" cy="18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t57"/>
          <p:cNvSpPr txBox="1"/>
          <p:nvPr/>
        </p:nvSpPr>
        <p:spPr>
          <a:xfrm>
            <a:off x="1118200" y="3150000"/>
            <a:ext cx="19189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E2A26"/>
                </a:solidFill>
                <a:latin typeface="Segoe UI"/>
                <a:cs typeface="Segoe UI"/>
              </a:rPr>
              <a:t>ChatGPT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E2A26"/>
                </a:solidFill>
                <a:latin typeface="Segoe UI"/>
                <a:cs typeface="Segoe UI"/>
              </a:rPr>
              <a:t>Drift and file limits</a:t>
            </a:r>
            <a:endParaRPr lang="en-US" sz="1050" b="1" spc="100" dirty="0">
              <a:solidFill>
                <a:srgbClr val="B4553A"/>
              </a:solidFill>
              <a:latin typeface="Segoe UI"/>
              <a:cs typeface="Segoe UI"/>
            </a:endParaRPr>
          </a:p>
        </p:txBody>
      </p:sp>
      <p:sp>
        <p:nvSpPr>
          <p:cNvPr id="58" name="t58"/>
          <p:cNvSpPr txBox="1"/>
          <p:nvPr/>
        </p:nvSpPr>
        <p:spPr>
          <a:xfrm>
            <a:off x="1118200" y="3770000"/>
            <a:ext cx="1918900" cy="19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Can generalise beyond the resume text without flagging it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Attachment and context limits cap batch size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Answers rarely cite the exact source line</a:t>
            </a:r>
            <a:endParaRPr lang="en-US" sz="110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59" name="s59"/>
          <p:cNvSpPr/>
          <p:nvPr/>
        </p:nvSpPr>
        <p:spPr>
          <a:xfrm>
            <a:off x="3517100" y="2320000"/>
            <a:ext cx="2478900" cy="3580000"/>
          </a:xfrm>
          <a:prstGeom prst="roundRect">
            <a:avLst>
              <a:gd name="adj" fmla="val 6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s60"/>
          <p:cNvSpPr/>
          <p:nvPr/>
        </p:nvSpPr>
        <p:spPr>
          <a:xfrm>
            <a:off x="3517100" y="2320000"/>
            <a:ext cx="2478900" cy="140000"/>
          </a:xfrm>
          <a:prstGeom prst="roundRect">
            <a:avLst>
              <a:gd name="adj" fmla="val 20000"/>
            </a:avLst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s61"/>
          <p:cNvSpPr/>
          <p:nvPr/>
        </p:nvSpPr>
        <p:spPr>
          <a:xfrm>
            <a:off x="3797100" y="2620000"/>
            <a:ext cx="420000" cy="420000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s62"/>
          <p:cNvSpPr/>
          <p:nvPr/>
        </p:nvSpPr>
        <p:spPr>
          <a:xfrm>
            <a:off x="3914700" y="2737600"/>
            <a:ext cx="184800" cy="184800"/>
          </a:xfrm>
          <a:prstGeom prst="flowChartPreparation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t63"/>
          <p:cNvSpPr txBox="1"/>
          <p:nvPr/>
        </p:nvSpPr>
        <p:spPr>
          <a:xfrm>
            <a:off x="3797100" y="3150000"/>
            <a:ext cx="19189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E2A26"/>
                </a:solidFill>
                <a:latin typeface="Segoe UI"/>
                <a:cs typeface="Segoe UI"/>
              </a:rPr>
              <a:t>Claude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E2A26"/>
                </a:solidFill>
                <a:latin typeface="Segoe UI"/>
                <a:cs typeface="Segoe UI"/>
              </a:rPr>
              <a:t>Strong, but capped</a:t>
            </a:r>
            <a:endParaRPr lang="en-US" sz="1050" b="1" spc="100" dirty="0">
              <a:solidFill>
                <a:srgbClr val="B4553A"/>
              </a:solidFill>
              <a:latin typeface="Segoe UI"/>
              <a:cs typeface="Segoe UI"/>
            </a:endParaRPr>
          </a:p>
        </p:txBody>
      </p:sp>
      <p:sp>
        <p:nvSpPr>
          <p:cNvPr id="64" name="t64"/>
          <p:cNvSpPr txBox="1"/>
          <p:nvPr/>
        </p:nvSpPr>
        <p:spPr>
          <a:xfrm>
            <a:off x="3797100" y="3770000"/>
            <a:ext cx="1918900" cy="19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Excellent reasoning, yet usage caps bite on large batches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Fewer native connectors into ATS and HR systems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Long packs must be split, breaking one-pass comparison</a:t>
            </a:r>
            <a:endParaRPr lang="en-US" sz="110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65" name="s65"/>
          <p:cNvSpPr/>
          <p:nvPr/>
        </p:nvSpPr>
        <p:spPr>
          <a:xfrm>
            <a:off x="6196000" y="2320000"/>
            <a:ext cx="2478900" cy="3580000"/>
          </a:xfrm>
          <a:prstGeom prst="roundRect">
            <a:avLst>
              <a:gd name="adj" fmla="val 6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6" name="s66"/>
          <p:cNvSpPr/>
          <p:nvPr/>
        </p:nvSpPr>
        <p:spPr>
          <a:xfrm>
            <a:off x="6196000" y="2320000"/>
            <a:ext cx="2478900" cy="140000"/>
          </a:xfrm>
          <a:prstGeom prst="roundRect">
            <a:avLst>
              <a:gd name="adj" fmla="val 20000"/>
            </a:avLst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s67"/>
          <p:cNvSpPr/>
          <p:nvPr/>
        </p:nvSpPr>
        <p:spPr>
          <a:xfrm>
            <a:off x="6476000" y="2620000"/>
            <a:ext cx="420000" cy="420000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s68"/>
          <p:cNvSpPr/>
          <p:nvPr/>
        </p:nvSpPr>
        <p:spPr>
          <a:xfrm>
            <a:off x="6593600" y="2737600"/>
            <a:ext cx="184800" cy="184800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t69"/>
          <p:cNvSpPr txBox="1"/>
          <p:nvPr/>
        </p:nvSpPr>
        <p:spPr>
          <a:xfrm>
            <a:off x="6476000" y="3150000"/>
            <a:ext cx="19189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E2A26"/>
                </a:solidFill>
                <a:latin typeface="Segoe UI"/>
                <a:cs typeface="Segoe UI"/>
              </a:rPr>
              <a:t>Gemini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E2A26"/>
                </a:solidFill>
                <a:latin typeface="Segoe UI"/>
                <a:cs typeface="Segoe UI"/>
              </a:rPr>
              <a:t>Uneven and opaque</a:t>
            </a:r>
            <a:endParaRPr lang="en-US" sz="1050" b="1" spc="100" dirty="0">
              <a:solidFill>
                <a:srgbClr val="B4553A"/>
              </a:solidFill>
              <a:latin typeface="Segoe UI"/>
              <a:cs typeface="Segoe UI"/>
            </a:endParaRPr>
          </a:p>
        </p:txBody>
      </p:sp>
      <p:sp>
        <p:nvSpPr>
          <p:cNvPr id="70" name="t70"/>
          <p:cNvSpPr txBox="1"/>
          <p:nvPr/>
        </p:nvSpPr>
        <p:spPr>
          <a:xfrm>
            <a:off x="6476000" y="3770000"/>
            <a:ext cx="1918900" cy="19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Quality varies across surfaces and features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Compute-based limits are hard to predict for bulk runs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Best value assumes you are on the Google stack</a:t>
            </a:r>
            <a:endParaRPr lang="en-US" sz="110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71" name="s71"/>
          <p:cNvSpPr/>
          <p:nvPr/>
        </p:nvSpPr>
        <p:spPr>
          <a:xfrm>
            <a:off x="8874900" y="2320000"/>
            <a:ext cx="2478900" cy="3580000"/>
          </a:xfrm>
          <a:prstGeom prst="roundRect">
            <a:avLst>
              <a:gd name="adj" fmla="val 6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s72"/>
          <p:cNvSpPr/>
          <p:nvPr/>
        </p:nvSpPr>
        <p:spPr>
          <a:xfrm>
            <a:off x="8874900" y="2320000"/>
            <a:ext cx="2478900" cy="140000"/>
          </a:xfrm>
          <a:prstGeom prst="roundRect">
            <a:avLst>
              <a:gd name="adj" fmla="val 20000"/>
            </a:avLst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s73"/>
          <p:cNvSpPr/>
          <p:nvPr/>
        </p:nvSpPr>
        <p:spPr>
          <a:xfrm>
            <a:off x="9154900" y="2620000"/>
            <a:ext cx="420000" cy="420000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s74"/>
          <p:cNvSpPr/>
          <p:nvPr/>
        </p:nvSpPr>
        <p:spPr>
          <a:xfrm>
            <a:off x="9272500" y="2737600"/>
            <a:ext cx="184800" cy="184800"/>
          </a:xfrm>
          <a:prstGeom prst="flowChartDocumen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t75"/>
          <p:cNvSpPr txBox="1"/>
          <p:nvPr/>
        </p:nvSpPr>
        <p:spPr>
          <a:xfrm>
            <a:off x="9154900" y="3150000"/>
            <a:ext cx="19189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E2A26"/>
                </a:solidFill>
                <a:latin typeface="Segoe UI"/>
                <a:cs typeface="Segoe UI"/>
              </a:rPr>
              <a:t>NotebookLM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E2A26"/>
                </a:solidFill>
                <a:latin typeface="Segoe UI"/>
                <a:cs typeface="Segoe UI"/>
              </a:rPr>
              <a:t>Narrow by design</a:t>
            </a:r>
            <a:endParaRPr lang="en-US" sz="1050" b="1" spc="100" dirty="0">
              <a:solidFill>
                <a:srgbClr val="B4553A"/>
              </a:solidFill>
              <a:latin typeface="Segoe UI"/>
              <a:cs typeface="Segoe UI"/>
            </a:endParaRPr>
          </a:p>
        </p:txBody>
      </p:sp>
      <p:sp>
        <p:nvSpPr>
          <p:cNvPr id="76" name="t76"/>
          <p:cNvSpPr txBox="1"/>
          <p:nvPr/>
        </p:nvSpPr>
        <p:spPr>
          <a:xfrm>
            <a:off x="9154900" y="3770000"/>
            <a:ext cx="1918900" cy="19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Cannot reach beyond the resumes you upload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No live web checks on employers or credentials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lang="en-US" sz="1100" b="1" spc="0">
                <a:solidFill>
                  <a:srgbClr val="B4553A"/>
                </a:solidFill>
                <a:latin typeface="Segoe UI"/>
                <a:cs typeface="Segoe UI"/>
              </a:rPr>
              <a:t>— Source count and query limits apply on free tiers</a:t>
            </a:r>
            <a:endParaRPr lang="en-US" sz="110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B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s12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13"/>
          <p:cNvSpPr/>
          <p:nvPr/>
        </p:nvSpPr>
        <p:spPr>
          <a:xfrm>
            <a:off x="838200" y="520700"/>
            <a:ext cx="180000" cy="180000"/>
          </a:xfrm>
          <a:prstGeom prst="ellipse">
            <a:avLst/>
          </a:prstGeom>
          <a:solidFill>
            <a:srgbClr val="7A7A4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14"/>
          <p:cNvSpPr txBox="1"/>
          <p:nvPr/>
        </p:nvSpPr>
        <p:spPr>
          <a:xfrm>
            <a:off x="1100000" y="470700"/>
            <a:ext cx="90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spc="300">
                <a:solidFill>
                  <a:srgbClr val="7A7A4E"/>
                </a:solidFill>
                <a:latin typeface="Segoe UI"/>
                <a:cs typeface="Segoe UI"/>
              </a:rPr>
              <a:t>USE CASE 01</a:t>
            </a:r>
            <a:endParaRPr lang="en-US" sz="1200" b="1" spc="300" dirty="0">
              <a:solidFill>
                <a:srgbClr val="7A7A4E"/>
              </a:solidFill>
              <a:latin typeface="Segoe UI"/>
              <a:cs typeface="Segoe UI"/>
            </a:endParaRPr>
          </a:p>
        </p:txBody>
      </p:sp>
      <p:sp>
        <p:nvSpPr>
          <p:cNvPr id="15" name="t15"/>
          <p:cNvSpPr txBox="1"/>
          <p:nvPr/>
        </p:nvSpPr>
        <p:spPr>
          <a:xfrm>
            <a:off x="838200" y="830000"/>
            <a:ext cx="10515600" cy="6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000" b="1" spc="0">
                <a:solidFill>
                  <a:srgbClr val="2E2A26"/>
                </a:solidFill>
                <a:latin typeface="Georgia"/>
                <a:cs typeface="Georgia"/>
              </a:rPr>
              <a:t>Rank Candidates Against the JD</a:t>
            </a:r>
            <a:endParaRPr lang="en-US" sz="3000" b="1" spc="0" dirty="0">
              <a:solidFill>
                <a:srgbClr val="2E2A26"/>
              </a:solidFill>
              <a:latin typeface="Georgia"/>
              <a:cs typeface="Georgia"/>
            </a:endParaRPr>
          </a:p>
        </p:txBody>
      </p:sp>
      <p:sp>
        <p:nvSpPr>
          <p:cNvPr id="16" name="s16"/>
          <p:cNvSpPr/>
          <p:nvPr/>
        </p:nvSpPr>
        <p:spPr>
          <a:xfrm>
            <a:off x="838200" y="1540000"/>
            <a:ext cx="3200000" cy="26000"/>
          </a:xfrm>
          <a:prstGeom prst="rect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17"/>
          <p:cNvSpPr txBox="1"/>
          <p:nvPr/>
        </p:nvSpPr>
        <p:spPr>
          <a:xfrm>
            <a:off x="838200" y="1700000"/>
            <a:ext cx="10515600" cy="4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300" b="0" spc="0">
                <a:solidFill>
                  <a:srgbClr val="4A423A"/>
                </a:solidFill>
                <a:latin typeface="Segoe UI"/>
                <a:cs typeface="Segoe UI"/>
              </a:rPr>
              <a:t>Turn the job description into a weighted scorecard, then score every resume against the same criteria in one pass.</a:t>
            </a:r>
            <a:endParaRPr lang="en-US" sz="130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18" name="s18"/>
          <p:cNvSpPr/>
          <p:nvPr/>
        </p:nvSpPr>
        <p:spPr>
          <a:xfrm>
            <a:off x="838200" y="6420000"/>
            <a:ext cx="10515600" cy="12700"/>
          </a:xfrm>
          <a:prstGeom prst="rect">
            <a:avLst/>
          </a:prstGeom>
          <a:solidFill>
            <a:srgbClr val="E0CD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19"/>
          <p:cNvSpPr txBox="1"/>
          <p:nvPr/>
        </p:nvSpPr>
        <p:spPr>
          <a:xfrm>
            <a:off x="838200" y="6510000"/>
            <a:ext cx="10515600" cy="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200">
                <a:solidFill>
                  <a:srgbClr val="4A423A"/>
                </a:solidFill>
                <a:latin typeface="Segoe UI"/>
                <a:cs typeface="Segoe UI"/>
              </a:rPr>
              <a:t>AI in recruitment  |  screening at scale with NotebookLM</a:t>
            </a:r>
            <a:endParaRPr lang="en-US" sz="1000" b="0" spc="20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20" name="s20"/>
          <p:cNvSpPr/>
          <p:nvPr/>
        </p:nvSpPr>
        <p:spPr>
          <a:xfrm>
            <a:off x="838200" y="2320000"/>
            <a:ext cx="5127800" cy="3800000"/>
          </a:xfrm>
          <a:prstGeom prst="roundRect">
            <a:avLst>
              <a:gd name="adj" fmla="val 6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t21"/>
          <p:cNvSpPr txBox="1"/>
          <p:nvPr/>
        </p:nvSpPr>
        <p:spPr>
          <a:xfrm>
            <a:off x="1178200" y="2660000"/>
            <a:ext cx="4447800" cy="31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50" b="1" spc="150">
                <a:solidFill>
                  <a:srgbClr val="B4553A"/>
                </a:solidFill>
                <a:latin typeface="Segoe UI"/>
                <a:cs typeface="Segoe UI"/>
              </a:rPr>
              <a:t>What it is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1250" b="0" spc="0">
                <a:solidFill>
                  <a:srgbClr val="4A423A"/>
                </a:solidFill>
                <a:latin typeface="Segoe UI"/>
                <a:cs typeface="Segoe UI"/>
              </a:rPr>
              <a:t>You upload the job description and the resume pack, define the scoring criteria and weights, and ask for one ranked table.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lang="en-US" sz="1150" b="1" spc="150">
                <a:solidFill>
                  <a:srgbClr val="B4553A"/>
                </a:solidFill>
                <a:latin typeface="Segoe UI"/>
                <a:cs typeface="Segoe UI"/>
              </a:rPr>
              <a:t>Use it when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1250" b="0" spc="0">
                <a:solidFill>
                  <a:srgbClr val="4A423A"/>
                </a:solidFill>
                <a:latin typeface="Segoe UI"/>
                <a:cs typeface="Segoe UI"/>
              </a:rPr>
              <a:t>High-volume roles where a long list must become a defensible shortlist quickly and consistently.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lang="en-US" sz="1150" b="1" spc="150">
                <a:solidFill>
                  <a:srgbClr val="B4553A"/>
                </a:solidFill>
                <a:latin typeface="Segoe UI"/>
                <a:cs typeface="Segoe UI"/>
              </a:rPr>
              <a:t>Watch out for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1250" b="0" spc="0">
                <a:solidFill>
                  <a:srgbClr val="4A423A"/>
                </a:solidFill>
                <a:latin typeface="Segoe UI"/>
                <a:cs typeface="Segoe UI"/>
              </a:rPr>
              <a:t>Rankings are a first pass, not a decision. Check the cited evidence before anyone is rejected or advanced.</a:t>
            </a:r>
            <a:endParaRPr lang="en-US" sz="125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22" name="s22"/>
          <p:cNvSpPr/>
          <p:nvPr/>
        </p:nvSpPr>
        <p:spPr>
          <a:xfrm>
            <a:off x="6226000" y="2320000"/>
            <a:ext cx="5127800" cy="3800000"/>
          </a:xfrm>
          <a:prstGeom prst="roundRect">
            <a:avLst>
              <a:gd name="adj" fmla="val 8000"/>
            </a:avLst>
          </a:prstGeom>
          <a:solidFill>
            <a:srgbClr val="F6EEE0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s23"/>
          <p:cNvSpPr/>
          <p:nvPr/>
        </p:nvSpPr>
        <p:spPr>
          <a:xfrm>
            <a:off x="6226000" y="2320000"/>
            <a:ext cx="60000" cy="3800000"/>
          </a:xfrm>
          <a:prstGeom prst="rect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24"/>
          <p:cNvSpPr txBox="1"/>
          <p:nvPr/>
        </p:nvSpPr>
        <p:spPr>
          <a:xfrm>
            <a:off x="6526000" y="2540000"/>
            <a:ext cx="4567800" cy="3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1" spc="200">
                <a:solidFill>
                  <a:srgbClr val="B4553A"/>
                </a:solidFill>
                <a:latin typeface="Segoe UI"/>
                <a:cs typeface="Segoe UI"/>
              </a:rPr>
              <a:t>EXAMPLE PROMPT</a:t>
            </a:r>
          </a:p>
          <a:p>
            <a:pPr algn="l">
              <a:lnSpc>
                <a:spcPct val="115000"/>
              </a:lnSpc>
              <a:spcBef>
                <a:spcPts val="420"/>
              </a:spcBef>
            </a:pPr>
            <a:r>
              <a:rPr lang="en-US" sz="1100" b="0" spc="0">
                <a:solidFill>
                  <a:srgbClr val="2E2A26"/>
                </a:solidFill>
                <a:latin typeface="Consolas"/>
                <a:cs typeface="Consolas"/>
              </a:rPr>
              <a:t>Using only the uploaded job description and</a:t>
            </a:r>
          </a:p>
          <a:p>
            <a:pPr algn="l">
              <a:lnSpc>
                <a:spcPct val="115000"/>
              </a:lnSpc>
              <a:spcBef>
                <a:spcPts val="420"/>
              </a:spcBef>
            </a:pPr>
            <a:r>
              <a:rPr lang="en-US" sz="1100" b="0" spc="0">
                <a:solidFill>
                  <a:srgbClr val="2E2A26"/>
                </a:solidFill>
                <a:latin typeface="Consolas"/>
                <a:cs typeface="Consolas"/>
              </a:rPr>
              <a:t>resumes, score each candidate 0-5 on skills</a:t>
            </a:r>
          </a:p>
          <a:p>
            <a:pPr algn="l">
              <a:lnSpc>
                <a:spcPct val="115000"/>
              </a:lnSpc>
              <a:spcBef>
                <a:spcPts val="420"/>
              </a:spcBef>
            </a:pPr>
            <a:r>
              <a:rPr lang="en-US" sz="1100" b="0" spc="0">
                <a:solidFill>
                  <a:srgbClr val="2E2A26"/>
                </a:solidFill>
                <a:latin typeface="Consolas"/>
                <a:cs typeface="Consolas"/>
              </a:rPr>
              <a:t>(40%), years (25%), domain (20%), certs (15%).</a:t>
            </a:r>
          </a:p>
          <a:p>
            <a:pPr algn="l">
              <a:lnSpc>
                <a:spcPct val="115000"/>
              </a:lnSpc>
              <a:spcBef>
                <a:spcPts val="420"/>
              </a:spcBef>
            </a:pPr>
            <a:endParaRPr lang="en-US" sz="1100" b="0" spc="0">
              <a:solidFill>
                <a:srgbClr val="2E2A26"/>
              </a:solidFill>
              <a:latin typeface="Consolas"/>
              <a:cs typeface="Consolas"/>
            </a:endParaRPr>
          </a:p>
          <a:p>
            <a:pPr algn="l">
              <a:lnSpc>
                <a:spcPct val="115000"/>
              </a:lnSpc>
              <a:spcBef>
                <a:spcPts val="420"/>
              </a:spcBef>
            </a:pPr>
            <a:r>
              <a:rPr lang="en-US" sz="1100" b="0" spc="0">
                <a:solidFill>
                  <a:srgbClr val="2E2A26"/>
                </a:solidFill>
                <a:latin typeface="Consolas"/>
                <a:cs typeface="Consolas"/>
              </a:rPr>
              <a:t>Return a ranked table: name, total score, score</a:t>
            </a:r>
          </a:p>
          <a:p>
            <a:pPr algn="l">
              <a:lnSpc>
                <a:spcPct val="115000"/>
              </a:lnSpc>
              <a:spcBef>
                <a:spcPts val="420"/>
              </a:spcBef>
            </a:pPr>
            <a:r>
              <a:rPr lang="en-US" sz="1100" b="0" spc="0">
                <a:solidFill>
                  <a:srgbClr val="2E2A26"/>
                </a:solidFill>
                <a:latin typeface="Consolas"/>
                <a:cs typeface="Consolas"/>
              </a:rPr>
              <a:t>per criterion, and one citation per score.</a:t>
            </a:r>
          </a:p>
          <a:p>
            <a:pPr algn="l">
              <a:lnSpc>
                <a:spcPct val="115000"/>
              </a:lnSpc>
              <a:spcBef>
                <a:spcPts val="420"/>
              </a:spcBef>
            </a:pPr>
            <a:r>
              <a:rPr lang="en-US" sz="1100" b="0" spc="0">
                <a:solidFill>
                  <a:srgbClr val="2E2A26"/>
                </a:solidFill>
                <a:latin typeface="Consolas"/>
                <a:cs typeface="Consolas"/>
              </a:rPr>
              <a:t>Mark any criterion with no evidence as</a:t>
            </a:r>
          </a:p>
          <a:p>
            <a:pPr algn="l">
              <a:lnSpc>
                <a:spcPct val="115000"/>
              </a:lnSpc>
              <a:spcBef>
                <a:spcPts val="420"/>
              </a:spcBef>
            </a:pPr>
            <a:r>
              <a:rPr lang="en-US" sz="1100" b="0" spc="0">
                <a:solidFill>
                  <a:srgbClr val="2E2A26"/>
                </a:solidFill>
                <a:latin typeface="Consolas"/>
                <a:cs typeface="Consolas"/>
              </a:rPr>
              <a:t>NOT FOUND rather than guessing.</a:t>
            </a:r>
            <a:endParaRPr lang="en-US" sz="1100" b="0" spc="0" dirty="0">
              <a:solidFill>
                <a:srgbClr val="2E2A26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B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s40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s41"/>
          <p:cNvSpPr/>
          <p:nvPr/>
        </p:nvSpPr>
        <p:spPr>
          <a:xfrm>
            <a:off x="838200" y="520700"/>
            <a:ext cx="180000" cy="180000"/>
          </a:xfrm>
          <a:prstGeom prst="ellipse">
            <a:avLst/>
          </a:prstGeom>
          <a:solidFill>
            <a:srgbClr val="7A7A4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t42"/>
          <p:cNvSpPr txBox="1"/>
          <p:nvPr/>
        </p:nvSpPr>
        <p:spPr>
          <a:xfrm>
            <a:off x="1100000" y="470700"/>
            <a:ext cx="90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spc="300">
                <a:solidFill>
                  <a:srgbClr val="7A7A4E"/>
                </a:solidFill>
                <a:latin typeface="Segoe UI"/>
                <a:cs typeface="Segoe UI"/>
              </a:rPr>
              <a:t>USE CASE 02</a:t>
            </a:r>
            <a:endParaRPr lang="en-US" sz="1200" b="1" spc="300" dirty="0">
              <a:solidFill>
                <a:srgbClr val="7A7A4E"/>
              </a:solidFill>
              <a:latin typeface="Segoe UI"/>
              <a:cs typeface="Segoe UI"/>
            </a:endParaRPr>
          </a:p>
        </p:txBody>
      </p:sp>
      <p:sp>
        <p:nvSpPr>
          <p:cNvPr id="43" name="t43"/>
          <p:cNvSpPr txBox="1"/>
          <p:nvPr/>
        </p:nvSpPr>
        <p:spPr>
          <a:xfrm>
            <a:off x="838200" y="830000"/>
            <a:ext cx="10515600" cy="6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000" b="1" spc="0">
                <a:solidFill>
                  <a:srgbClr val="2E2A26"/>
                </a:solidFill>
                <a:latin typeface="Georgia"/>
                <a:cs typeface="Georgia"/>
              </a:rPr>
              <a:t>Identify Missing Skills</a:t>
            </a:r>
            <a:endParaRPr lang="en-US" sz="3000" b="1" spc="0" dirty="0">
              <a:solidFill>
                <a:srgbClr val="2E2A26"/>
              </a:solidFill>
              <a:latin typeface="Georgia"/>
              <a:cs typeface="Georgia"/>
            </a:endParaRPr>
          </a:p>
        </p:txBody>
      </p:sp>
      <p:sp>
        <p:nvSpPr>
          <p:cNvPr id="44" name="s44"/>
          <p:cNvSpPr/>
          <p:nvPr/>
        </p:nvSpPr>
        <p:spPr>
          <a:xfrm>
            <a:off x="838200" y="1540000"/>
            <a:ext cx="3200000" cy="26000"/>
          </a:xfrm>
          <a:prstGeom prst="rect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t45"/>
          <p:cNvSpPr txBox="1"/>
          <p:nvPr/>
        </p:nvSpPr>
        <p:spPr>
          <a:xfrm>
            <a:off x="838200" y="1700000"/>
            <a:ext cx="10515600" cy="4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300" b="0" spc="0">
                <a:solidFill>
                  <a:srgbClr val="4A423A"/>
                </a:solidFill>
                <a:latin typeface="Segoe UI"/>
                <a:cs typeface="Segoe UI"/>
              </a:rPr>
              <a:t>Find the exact gaps between each shortlisted candidate and the role, so interviews probe what the resume cannot answer.</a:t>
            </a:r>
            <a:endParaRPr lang="en-US" sz="130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46" name="s46"/>
          <p:cNvSpPr/>
          <p:nvPr/>
        </p:nvSpPr>
        <p:spPr>
          <a:xfrm>
            <a:off x="838200" y="6420000"/>
            <a:ext cx="10515600" cy="12700"/>
          </a:xfrm>
          <a:prstGeom prst="rect">
            <a:avLst/>
          </a:prstGeom>
          <a:solidFill>
            <a:srgbClr val="E0CD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t47"/>
          <p:cNvSpPr txBox="1"/>
          <p:nvPr/>
        </p:nvSpPr>
        <p:spPr>
          <a:xfrm>
            <a:off x="838200" y="6510000"/>
            <a:ext cx="10515600" cy="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200">
                <a:solidFill>
                  <a:srgbClr val="4A423A"/>
                </a:solidFill>
                <a:latin typeface="Segoe UI"/>
                <a:cs typeface="Segoe UI"/>
              </a:rPr>
              <a:t>AI in recruitment  |  screening at scale with NotebookLM</a:t>
            </a:r>
            <a:endParaRPr lang="en-US" sz="1000" b="0" spc="20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48" name="s48"/>
          <p:cNvSpPr/>
          <p:nvPr/>
        </p:nvSpPr>
        <p:spPr>
          <a:xfrm>
            <a:off x="838200" y="2320000"/>
            <a:ext cx="5127800" cy="3800000"/>
          </a:xfrm>
          <a:prstGeom prst="roundRect">
            <a:avLst>
              <a:gd name="adj" fmla="val 6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9" name="t49"/>
          <p:cNvSpPr txBox="1"/>
          <p:nvPr/>
        </p:nvSpPr>
        <p:spPr>
          <a:xfrm>
            <a:off x="1178200" y="2660000"/>
            <a:ext cx="4447800" cy="31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50" b="1" spc="150">
                <a:solidFill>
                  <a:srgbClr val="B4553A"/>
                </a:solidFill>
                <a:latin typeface="Segoe UI"/>
                <a:cs typeface="Segoe UI"/>
              </a:rPr>
              <a:t>What it is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1250" b="0" spc="0">
                <a:solidFill>
                  <a:srgbClr val="4A423A"/>
                </a:solidFill>
                <a:latin typeface="Segoe UI"/>
                <a:cs typeface="Segoe UI"/>
              </a:rPr>
              <a:t>A gap analysis per candidate: which job requirements are evidenced, which are partial, and which are absent entirely.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lang="en-US" sz="1150" b="1" spc="150">
                <a:solidFill>
                  <a:srgbClr val="B4553A"/>
                </a:solidFill>
                <a:latin typeface="Segoe UI"/>
                <a:cs typeface="Segoe UI"/>
              </a:rPr>
              <a:t>Use it when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1250" b="0" spc="0">
                <a:solidFill>
                  <a:srgbClr val="4A423A"/>
                </a:solidFill>
                <a:latin typeface="Segoe UI"/>
                <a:cs typeface="Segoe UI"/>
              </a:rPr>
              <a:t>Building interview plans, deciding between close finalists, or planning ramp-up training for the person you hire.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lang="en-US" sz="1150" b="1" spc="150">
                <a:solidFill>
                  <a:srgbClr val="B4553A"/>
                </a:solidFill>
                <a:latin typeface="Segoe UI"/>
                <a:cs typeface="Segoe UI"/>
              </a:rPr>
              <a:t>Watch out for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1250" b="0" spc="0">
                <a:solidFill>
                  <a:srgbClr val="4A423A"/>
                </a:solidFill>
                <a:latin typeface="Segoe UI"/>
                <a:cs typeface="Segoe UI"/>
              </a:rPr>
              <a:t>A gap in the resume is not a gap in the person. Treat it as a question to ask, not a disqualification.</a:t>
            </a:r>
            <a:endParaRPr lang="en-US" sz="125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50" name="s50"/>
          <p:cNvSpPr/>
          <p:nvPr/>
        </p:nvSpPr>
        <p:spPr>
          <a:xfrm>
            <a:off x="6226000" y="2320000"/>
            <a:ext cx="5127800" cy="3800000"/>
          </a:xfrm>
          <a:prstGeom prst="roundRect">
            <a:avLst>
              <a:gd name="adj" fmla="val 8000"/>
            </a:avLst>
          </a:prstGeom>
          <a:solidFill>
            <a:srgbClr val="F6EEE0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s51"/>
          <p:cNvSpPr/>
          <p:nvPr/>
        </p:nvSpPr>
        <p:spPr>
          <a:xfrm>
            <a:off x="6226000" y="2320000"/>
            <a:ext cx="60000" cy="3800000"/>
          </a:xfrm>
          <a:prstGeom prst="rect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52"/>
          <p:cNvSpPr txBox="1"/>
          <p:nvPr/>
        </p:nvSpPr>
        <p:spPr>
          <a:xfrm>
            <a:off x="6526000" y="2540000"/>
            <a:ext cx="4567800" cy="3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1" spc="200">
                <a:solidFill>
                  <a:srgbClr val="B4553A"/>
                </a:solidFill>
                <a:latin typeface="Segoe UI"/>
                <a:cs typeface="Segoe UI"/>
              </a:rPr>
              <a:t>EXAMPLE PROMPT</a:t>
            </a:r>
          </a:p>
          <a:p>
            <a:pPr algn="l">
              <a:lnSpc>
                <a:spcPct val="115000"/>
              </a:lnSpc>
              <a:spcBef>
                <a:spcPts val="420"/>
              </a:spcBef>
            </a:pPr>
            <a:r>
              <a:rPr lang="en-US" sz="1100" b="0" spc="0">
                <a:solidFill>
                  <a:srgbClr val="2E2A26"/>
                </a:solidFill>
                <a:latin typeface="Consolas"/>
                <a:cs typeface="Consolas"/>
              </a:rPr>
              <a:t>For each shortlisted candidate, list:</a:t>
            </a:r>
          </a:p>
          <a:p>
            <a:pPr algn="l">
              <a:lnSpc>
                <a:spcPct val="115000"/>
              </a:lnSpc>
              <a:spcBef>
                <a:spcPts val="420"/>
              </a:spcBef>
            </a:pPr>
            <a:endParaRPr lang="en-US" sz="1100" b="0" spc="0">
              <a:solidFill>
                <a:srgbClr val="2E2A26"/>
              </a:solidFill>
              <a:latin typeface="Consolas"/>
              <a:cs typeface="Consolas"/>
            </a:endParaRPr>
          </a:p>
          <a:p>
            <a:pPr algn="l">
              <a:lnSpc>
                <a:spcPct val="115000"/>
              </a:lnSpc>
              <a:spcBef>
                <a:spcPts val="420"/>
              </a:spcBef>
            </a:pPr>
            <a:r>
              <a:rPr lang="en-US" sz="1100" b="0" spc="0">
                <a:solidFill>
                  <a:srgbClr val="2E2A26"/>
                </a:solidFill>
                <a:latin typeface="Consolas"/>
                <a:cs typeface="Consolas"/>
              </a:rPr>
              <a:t>1. Requirements clearly evidenced, with a quote.</a:t>
            </a:r>
          </a:p>
          <a:p>
            <a:pPr algn="l">
              <a:lnSpc>
                <a:spcPct val="115000"/>
              </a:lnSpc>
              <a:spcBef>
                <a:spcPts val="420"/>
              </a:spcBef>
            </a:pPr>
            <a:r>
              <a:rPr lang="en-US" sz="1100" b="0" spc="0">
                <a:solidFill>
                  <a:srgbClr val="2E2A26"/>
                </a:solidFill>
                <a:latin typeface="Consolas"/>
                <a:cs typeface="Consolas"/>
              </a:rPr>
              <a:t>2. Requirements partially met, with the gap.</a:t>
            </a:r>
          </a:p>
          <a:p>
            <a:pPr algn="l">
              <a:lnSpc>
                <a:spcPct val="115000"/>
              </a:lnSpc>
              <a:spcBef>
                <a:spcPts val="420"/>
              </a:spcBef>
            </a:pPr>
            <a:r>
              <a:rPr lang="en-US" sz="1100" b="0" spc="0">
                <a:solidFill>
                  <a:srgbClr val="2E2A26"/>
                </a:solidFill>
                <a:latin typeface="Consolas"/>
                <a:cs typeface="Consolas"/>
              </a:rPr>
              <a:t>3. Requirements with no evidence at all.</a:t>
            </a:r>
          </a:p>
          <a:p>
            <a:pPr algn="l">
              <a:lnSpc>
                <a:spcPct val="115000"/>
              </a:lnSpc>
              <a:spcBef>
                <a:spcPts val="420"/>
              </a:spcBef>
            </a:pPr>
            <a:r>
              <a:rPr lang="en-US" sz="1100" b="0" spc="0">
                <a:solidFill>
                  <a:srgbClr val="2E2A26"/>
                </a:solidFill>
                <a:latin typeface="Consolas"/>
                <a:cs typeface="Consolas"/>
              </a:rPr>
              <a:t>4. Three interview questions targeting the gaps.</a:t>
            </a:r>
          </a:p>
          <a:p>
            <a:pPr algn="l">
              <a:lnSpc>
                <a:spcPct val="115000"/>
              </a:lnSpc>
              <a:spcBef>
                <a:spcPts val="420"/>
              </a:spcBef>
            </a:pPr>
            <a:r>
              <a:rPr lang="en-US" sz="1100" b="0" spc="0">
                <a:solidFill>
                  <a:srgbClr val="2E2A26"/>
                </a:solidFill>
                <a:latin typeface="Consolas"/>
                <a:cs typeface="Consolas"/>
              </a:rPr>
              <a:t>Use only the uploaded sources and cite</a:t>
            </a:r>
          </a:p>
          <a:p>
            <a:pPr algn="l">
              <a:lnSpc>
                <a:spcPct val="115000"/>
              </a:lnSpc>
              <a:spcBef>
                <a:spcPts val="420"/>
              </a:spcBef>
            </a:pPr>
            <a:endParaRPr lang="en-US" sz="1100" b="0" spc="0">
              <a:solidFill>
                <a:srgbClr val="2E2A26"/>
              </a:solidFill>
              <a:latin typeface="Consolas"/>
              <a:cs typeface="Consolas"/>
            </a:endParaRPr>
          </a:p>
          <a:p>
            <a:pPr algn="l">
              <a:lnSpc>
                <a:spcPct val="115000"/>
              </a:lnSpc>
              <a:spcBef>
                <a:spcPts val="420"/>
              </a:spcBef>
            </a:pPr>
            <a:r>
              <a:rPr lang="en-US" sz="1100" b="0" spc="0">
                <a:solidFill>
                  <a:srgbClr val="2E2A26"/>
                </a:solidFill>
                <a:latin typeface="Consolas"/>
                <a:cs typeface="Consolas"/>
              </a:rPr>
              <a:t>every claim.</a:t>
            </a:r>
            <a:endParaRPr lang="en-US" sz="1100" b="0" spc="0" dirty="0">
              <a:solidFill>
                <a:srgbClr val="2E2A26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1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B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838200" y="520700"/>
            <a:ext cx="180000" cy="180000"/>
          </a:xfrm>
          <a:prstGeom prst="ellipse">
            <a:avLst/>
          </a:prstGeom>
          <a:solidFill>
            <a:srgbClr val="7A7A4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131"/>
          <p:cNvSpPr txBox="1"/>
          <p:nvPr/>
        </p:nvSpPr>
        <p:spPr>
          <a:xfrm>
            <a:off x="1100000" y="470700"/>
            <a:ext cx="90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spc="300">
                <a:solidFill>
                  <a:srgbClr val="7A7A4E"/>
                </a:solidFill>
                <a:latin typeface="Segoe UI"/>
                <a:cs typeface="Segoe UI"/>
              </a:rPr>
              <a:t>STEP-BY-STEP TUTORIAL</a:t>
            </a:r>
            <a:endParaRPr lang="en-US" sz="1200" b="1" spc="300" dirty="0">
              <a:solidFill>
                <a:srgbClr val="7A7A4E"/>
              </a:solidFill>
              <a:latin typeface="Segoe UI"/>
              <a:cs typeface="Segoe UI"/>
            </a:endParaRPr>
          </a:p>
        </p:txBody>
      </p:sp>
      <p:sp>
        <p:nvSpPr>
          <p:cNvPr id="132" name="t132"/>
          <p:cNvSpPr txBox="1"/>
          <p:nvPr/>
        </p:nvSpPr>
        <p:spPr>
          <a:xfrm>
            <a:off x="838200" y="830000"/>
            <a:ext cx="10515600" cy="6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000" b="1" spc="0">
                <a:solidFill>
                  <a:srgbClr val="2E2A26"/>
                </a:solidFill>
                <a:latin typeface="Georgia"/>
                <a:cs typeface="Georgia"/>
              </a:rPr>
              <a:t>Screening Resumes in NotebookLM</a:t>
            </a:r>
            <a:endParaRPr lang="en-US" sz="3000" b="1" spc="0" dirty="0">
              <a:solidFill>
                <a:srgbClr val="2E2A26"/>
              </a:solidFill>
              <a:latin typeface="Georgia"/>
              <a:cs typeface="Georgia"/>
            </a:endParaRPr>
          </a:p>
        </p:txBody>
      </p:sp>
      <p:sp>
        <p:nvSpPr>
          <p:cNvPr id="133" name="s133"/>
          <p:cNvSpPr/>
          <p:nvPr/>
        </p:nvSpPr>
        <p:spPr>
          <a:xfrm>
            <a:off x="838200" y="1540000"/>
            <a:ext cx="3200000" cy="26000"/>
          </a:xfrm>
          <a:prstGeom prst="rect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838200" y="1700000"/>
            <a:ext cx="10515600" cy="4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300" b="0" spc="0">
                <a:solidFill>
                  <a:srgbClr val="4A423A"/>
                </a:solidFill>
                <a:latin typeface="Segoe UI"/>
                <a:cs typeface="Segoe UI"/>
              </a:rPr>
              <a:t>Six steps from a folder of resumes to a cited shortlist your hiring manager can act on.</a:t>
            </a:r>
            <a:endParaRPr lang="en-US" sz="130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135" name="s135"/>
          <p:cNvSpPr/>
          <p:nvPr/>
        </p:nvSpPr>
        <p:spPr>
          <a:xfrm>
            <a:off x="838200" y="6420000"/>
            <a:ext cx="10515600" cy="12700"/>
          </a:xfrm>
          <a:prstGeom prst="rect">
            <a:avLst/>
          </a:prstGeom>
          <a:solidFill>
            <a:srgbClr val="E0CD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838200" y="6510000"/>
            <a:ext cx="10515600" cy="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200">
                <a:solidFill>
                  <a:srgbClr val="4A423A"/>
                </a:solidFill>
                <a:latin typeface="Segoe UI"/>
                <a:cs typeface="Segoe UI"/>
              </a:rPr>
              <a:t>AI in recruitment  |  screening at scale with NotebookLM</a:t>
            </a:r>
            <a:endParaRPr lang="en-US" sz="1000" b="0" spc="20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137" name="s137"/>
          <p:cNvSpPr/>
          <p:nvPr/>
        </p:nvSpPr>
        <p:spPr>
          <a:xfrm>
            <a:off x="838200" y="2320000"/>
            <a:ext cx="3371866" cy="1800000"/>
          </a:xfrm>
          <a:prstGeom prst="roundRect">
            <a:avLst>
              <a:gd name="adj" fmla="val 8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838200" y="2320000"/>
            <a:ext cx="3371866" cy="110000"/>
          </a:xfrm>
          <a:prstGeom prst="roundRect">
            <a:avLst>
              <a:gd name="adj" fmla="val 20000"/>
            </a:avLst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1138200" y="2670000"/>
            <a:ext cx="2771866" cy="1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E2A26"/>
                </a:solidFill>
                <a:latin typeface="Segoe UI"/>
                <a:cs typeface="Segoe UI"/>
              </a:rPr>
              <a:t>1 — Create the notebook</a:t>
            </a:r>
          </a:p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lang="en-US" sz="1150" b="0" spc="0">
                <a:solidFill>
                  <a:srgbClr val="4A423A"/>
                </a:solidFill>
                <a:latin typeface="Segoe UI"/>
                <a:cs typeface="Segoe UI"/>
              </a:rPr>
              <a:t>Open NotebookLM and start a notebook named for the role and hiring round.</a:t>
            </a:r>
            <a:endParaRPr lang="en-US" sz="115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140" name="s140"/>
          <p:cNvSpPr/>
          <p:nvPr/>
        </p:nvSpPr>
        <p:spPr>
          <a:xfrm>
            <a:off x="4410066" y="2320000"/>
            <a:ext cx="3371866" cy="1800000"/>
          </a:xfrm>
          <a:prstGeom prst="roundRect">
            <a:avLst>
              <a:gd name="adj" fmla="val 8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4410066" y="2320000"/>
            <a:ext cx="3371866" cy="110000"/>
          </a:xfrm>
          <a:prstGeom prst="roundRect">
            <a:avLst>
              <a:gd name="adj" fmla="val 20000"/>
            </a:avLst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4710066" y="2670000"/>
            <a:ext cx="2771866" cy="1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E2A26"/>
                </a:solidFill>
                <a:latin typeface="Segoe UI"/>
                <a:cs typeface="Segoe UI"/>
              </a:rPr>
              <a:t>2 — Add your sources</a:t>
            </a:r>
          </a:p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lang="en-US" sz="1150" b="0" spc="0">
                <a:solidFill>
                  <a:srgbClr val="4A423A"/>
                </a:solidFill>
                <a:latin typeface="Segoe UI"/>
                <a:cs typeface="Segoe UI"/>
              </a:rPr>
              <a:t>Upload the job description, the scoring rubric and the resume pack.</a:t>
            </a:r>
            <a:endParaRPr lang="en-US" sz="115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143" name="s143"/>
          <p:cNvSpPr/>
          <p:nvPr/>
        </p:nvSpPr>
        <p:spPr>
          <a:xfrm>
            <a:off x="7981932" y="2320000"/>
            <a:ext cx="3371866" cy="1800000"/>
          </a:xfrm>
          <a:prstGeom prst="roundRect">
            <a:avLst>
              <a:gd name="adj" fmla="val 8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7981932" y="2320000"/>
            <a:ext cx="3371866" cy="110000"/>
          </a:xfrm>
          <a:prstGeom prst="roundRect">
            <a:avLst>
              <a:gd name="adj" fmla="val 20000"/>
            </a:avLst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8281932" y="2670000"/>
            <a:ext cx="2771866" cy="1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 dirty="0">
                <a:solidFill>
                  <a:srgbClr val="2E2A26"/>
                </a:solidFill>
                <a:latin typeface="Segoe UI"/>
                <a:cs typeface="Segoe UI"/>
              </a:rPr>
              <a:t>3 — Set the rubric</a:t>
            </a:r>
          </a:p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lang="en-US" sz="1150" b="0" spc="0" dirty="0">
                <a:solidFill>
                  <a:srgbClr val="4A423A"/>
                </a:solidFill>
                <a:latin typeface="Segoe UI"/>
                <a:cs typeface="Segoe UI"/>
              </a:rPr>
              <a:t>Paste the criteria and weights and ask </a:t>
            </a:r>
            <a:r>
              <a:rPr lang="en-US" sz="1150" b="0" spc="0" dirty="0" err="1">
                <a:solidFill>
                  <a:srgbClr val="4A423A"/>
                </a:solidFill>
                <a:latin typeface="Segoe UI"/>
                <a:cs typeface="Segoe UI"/>
              </a:rPr>
              <a:t>NotebookLM</a:t>
            </a:r>
            <a:r>
              <a:rPr lang="en-US" sz="1150" b="0" spc="0" dirty="0">
                <a:solidFill>
                  <a:srgbClr val="4A423A"/>
                </a:solidFill>
                <a:latin typeface="Segoe UI"/>
                <a:cs typeface="Segoe UI"/>
              </a:rPr>
              <a:t> to restate them.</a:t>
            </a:r>
          </a:p>
        </p:txBody>
      </p:sp>
      <p:sp>
        <p:nvSpPr>
          <p:cNvPr id="146" name="s146"/>
          <p:cNvSpPr/>
          <p:nvPr/>
        </p:nvSpPr>
        <p:spPr>
          <a:xfrm>
            <a:off x="838200" y="4320000"/>
            <a:ext cx="3371866" cy="1800000"/>
          </a:xfrm>
          <a:prstGeom prst="roundRect">
            <a:avLst>
              <a:gd name="adj" fmla="val 8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838200" y="4320000"/>
            <a:ext cx="3371866" cy="110000"/>
          </a:xfrm>
          <a:prstGeom prst="roundRect">
            <a:avLst>
              <a:gd name="adj" fmla="val 20000"/>
            </a:avLst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1138200" y="4670000"/>
            <a:ext cx="2771866" cy="1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E2A26"/>
                </a:solidFill>
                <a:latin typeface="Segoe UI"/>
                <a:cs typeface="Segoe UI"/>
              </a:rPr>
              <a:t>4 — Run the comparison</a:t>
            </a:r>
          </a:p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lang="en-US" sz="1150" b="0" spc="0">
                <a:solidFill>
                  <a:srgbClr val="4A423A"/>
                </a:solidFill>
                <a:latin typeface="Segoe UI"/>
                <a:cs typeface="Segoe UI"/>
              </a:rPr>
              <a:t>Ask for one ranked table scoring every candidate on each criterion.</a:t>
            </a:r>
            <a:endParaRPr lang="en-US" sz="115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149" name="s149"/>
          <p:cNvSpPr/>
          <p:nvPr/>
        </p:nvSpPr>
        <p:spPr>
          <a:xfrm>
            <a:off x="4410066" y="4320000"/>
            <a:ext cx="3371866" cy="1800000"/>
          </a:xfrm>
          <a:prstGeom prst="roundRect">
            <a:avLst>
              <a:gd name="adj" fmla="val 8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s150"/>
          <p:cNvSpPr/>
          <p:nvPr/>
        </p:nvSpPr>
        <p:spPr>
          <a:xfrm>
            <a:off x="4410066" y="4320000"/>
            <a:ext cx="3371866" cy="110000"/>
          </a:xfrm>
          <a:prstGeom prst="roundRect">
            <a:avLst>
              <a:gd name="adj" fmla="val 20000"/>
            </a:avLst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4710066" y="4670000"/>
            <a:ext cx="2771866" cy="1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E2A26"/>
                </a:solidFill>
                <a:latin typeface="Segoe UI"/>
                <a:cs typeface="Segoe UI"/>
              </a:rPr>
              <a:t>5 — Check the citations</a:t>
            </a:r>
          </a:p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lang="en-US" sz="1150" b="0" spc="0">
                <a:solidFill>
                  <a:srgbClr val="4A423A"/>
                </a:solidFill>
                <a:latin typeface="Segoe UI"/>
                <a:cs typeface="Segoe UI"/>
              </a:rPr>
              <a:t>Click the source links to verify each score before trusting the ranking.</a:t>
            </a:r>
            <a:endParaRPr lang="en-US" sz="115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152" name="s152"/>
          <p:cNvSpPr/>
          <p:nvPr/>
        </p:nvSpPr>
        <p:spPr>
          <a:xfrm>
            <a:off x="7981932" y="4320000"/>
            <a:ext cx="3371866" cy="1800000"/>
          </a:xfrm>
          <a:prstGeom prst="roundRect">
            <a:avLst>
              <a:gd name="adj" fmla="val 8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7981932" y="4320000"/>
            <a:ext cx="3371866" cy="110000"/>
          </a:xfrm>
          <a:prstGeom prst="roundRect">
            <a:avLst>
              <a:gd name="adj" fmla="val 20000"/>
            </a:avLst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8281932" y="4670000"/>
            <a:ext cx="2771866" cy="1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spc="0">
                <a:solidFill>
                  <a:srgbClr val="2E2A26"/>
                </a:solidFill>
                <a:latin typeface="Segoe UI"/>
                <a:cs typeface="Segoe UI"/>
              </a:rPr>
              <a:t>6 — Share the brief</a:t>
            </a:r>
          </a:p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lang="en-US" sz="1150" b="0" spc="0">
                <a:solidFill>
                  <a:srgbClr val="4A423A"/>
                </a:solidFill>
                <a:latin typeface="Segoe UI"/>
                <a:cs typeface="Segoe UI"/>
              </a:rPr>
              <a:t>Save the shortlist and gap notes, then share the notebook with the panel.</a:t>
            </a:r>
            <a:endParaRPr lang="en-US" sz="115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1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B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s156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s157"/>
          <p:cNvSpPr/>
          <p:nvPr/>
        </p:nvSpPr>
        <p:spPr>
          <a:xfrm>
            <a:off x="838200" y="520700"/>
            <a:ext cx="180000" cy="180000"/>
          </a:xfrm>
          <a:prstGeom prst="ellipse">
            <a:avLst/>
          </a:prstGeom>
          <a:solidFill>
            <a:srgbClr val="7A7A4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t158"/>
          <p:cNvSpPr txBox="1"/>
          <p:nvPr/>
        </p:nvSpPr>
        <p:spPr>
          <a:xfrm>
            <a:off x="1100000" y="470700"/>
            <a:ext cx="90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spc="300">
                <a:solidFill>
                  <a:srgbClr val="7A7A4E"/>
                </a:solidFill>
                <a:latin typeface="Segoe UI"/>
                <a:cs typeface="Segoe UI"/>
              </a:rPr>
              <a:t>RESPONSIBLE SCREENING</a:t>
            </a:r>
            <a:endParaRPr lang="en-US" sz="1200" b="1" spc="300" dirty="0">
              <a:solidFill>
                <a:srgbClr val="7A7A4E"/>
              </a:solidFill>
              <a:latin typeface="Segoe UI"/>
              <a:cs typeface="Segoe UI"/>
            </a:endParaRPr>
          </a:p>
        </p:txBody>
      </p:sp>
      <p:sp>
        <p:nvSpPr>
          <p:cNvPr id="159" name="t159"/>
          <p:cNvSpPr txBox="1"/>
          <p:nvPr/>
        </p:nvSpPr>
        <p:spPr>
          <a:xfrm>
            <a:off x="838200" y="830000"/>
            <a:ext cx="10515600" cy="6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000" b="1" spc="0">
                <a:solidFill>
                  <a:srgbClr val="2E2A26"/>
                </a:solidFill>
                <a:latin typeface="Georgia"/>
                <a:cs typeface="Georgia"/>
              </a:rPr>
              <a:t>Bias, Fairness and Candidate Privacy</a:t>
            </a:r>
            <a:endParaRPr lang="en-US" sz="3000" b="1" spc="0" dirty="0">
              <a:solidFill>
                <a:srgbClr val="2E2A26"/>
              </a:solidFill>
              <a:latin typeface="Georgia"/>
              <a:cs typeface="Georgia"/>
            </a:endParaRPr>
          </a:p>
        </p:txBody>
      </p:sp>
      <p:sp>
        <p:nvSpPr>
          <p:cNvPr id="160" name="s160"/>
          <p:cNvSpPr/>
          <p:nvPr/>
        </p:nvSpPr>
        <p:spPr>
          <a:xfrm>
            <a:off x="838200" y="1540000"/>
            <a:ext cx="3200000" cy="26000"/>
          </a:xfrm>
          <a:prstGeom prst="rect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838200" y="1700000"/>
            <a:ext cx="10515600" cy="4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300" b="0" spc="0">
                <a:solidFill>
                  <a:srgbClr val="4A423A"/>
                </a:solidFill>
                <a:latin typeface="Segoe UI"/>
                <a:cs typeface="Segoe UI"/>
              </a:rPr>
              <a:t>Automated screening scales your judgment — including its blind spots. These are the controls that keep it fair and lawful.</a:t>
            </a:r>
            <a:endParaRPr lang="en-US" sz="130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162" name="s162"/>
          <p:cNvSpPr/>
          <p:nvPr/>
        </p:nvSpPr>
        <p:spPr>
          <a:xfrm>
            <a:off x="838200" y="6420000"/>
            <a:ext cx="10515600" cy="12700"/>
          </a:xfrm>
          <a:prstGeom prst="rect">
            <a:avLst/>
          </a:prstGeom>
          <a:solidFill>
            <a:srgbClr val="E0CD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838200" y="6510000"/>
            <a:ext cx="10515600" cy="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200">
                <a:solidFill>
                  <a:srgbClr val="4A423A"/>
                </a:solidFill>
                <a:latin typeface="Segoe UI"/>
                <a:cs typeface="Segoe UI"/>
              </a:rPr>
              <a:t>AI in recruitment  |  fairness and data protection controls</a:t>
            </a:r>
            <a:endParaRPr lang="en-US" sz="1000" b="0" spc="20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164" name="s164"/>
          <p:cNvSpPr/>
          <p:nvPr/>
        </p:nvSpPr>
        <p:spPr>
          <a:xfrm>
            <a:off x="838200" y="2320000"/>
            <a:ext cx="5147800" cy="1153333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5" name="s165"/>
          <p:cNvSpPr/>
          <p:nvPr/>
        </p:nvSpPr>
        <p:spPr>
          <a:xfrm>
            <a:off x="1078200" y="2654467"/>
            <a:ext cx="484399" cy="484399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t166"/>
          <p:cNvSpPr txBox="1"/>
          <p:nvPr/>
        </p:nvSpPr>
        <p:spPr>
          <a:xfrm>
            <a:off x="1078200" y="2654467"/>
            <a:ext cx="484399" cy="4843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b="1" spc="0" dirty="0">
                <a:solidFill>
                  <a:srgbClr val="FBF6EC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1822599" y="2492999"/>
            <a:ext cx="3903401" cy="86499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350" b="1" spc="0">
                <a:solidFill>
                  <a:srgbClr val="2E2A26"/>
                </a:solidFill>
                <a:latin typeface="Segoe UI"/>
                <a:cs typeface="Segoe UI"/>
              </a:rPr>
              <a:t>Biased training and biased data</a:t>
            </a:r>
          </a:p>
          <a:p>
            <a:pPr algn="l">
              <a:lnSpc>
                <a:spcPct val="115000"/>
              </a:lnSpc>
              <a:spcBef>
                <a:spcPts val="450"/>
              </a:spcBef>
            </a:pPr>
            <a:r>
              <a:rPr lang="en-US" sz="1100" b="0" spc="0">
                <a:solidFill>
                  <a:srgbClr val="4A423A"/>
                </a:solidFill>
                <a:latin typeface="Segoe UI"/>
                <a:cs typeface="Segoe UI"/>
              </a:rPr>
              <a:t>Models learn from past hiring patterns. Screening on 'culture fit' or pedigree can quietly repeat old exclusions.</a:t>
            </a:r>
            <a:endParaRPr lang="en-US" sz="110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168" name="s168"/>
          <p:cNvSpPr/>
          <p:nvPr/>
        </p:nvSpPr>
        <p:spPr>
          <a:xfrm>
            <a:off x="6206000" y="2320000"/>
            <a:ext cx="5147800" cy="1153333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9" name="s169"/>
          <p:cNvSpPr/>
          <p:nvPr/>
        </p:nvSpPr>
        <p:spPr>
          <a:xfrm>
            <a:off x="6446000" y="2654467"/>
            <a:ext cx="484399" cy="484399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t170"/>
          <p:cNvSpPr txBox="1"/>
          <p:nvPr/>
        </p:nvSpPr>
        <p:spPr>
          <a:xfrm>
            <a:off x="6446000" y="2654467"/>
            <a:ext cx="484399" cy="4843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b="1" spc="0" dirty="0">
                <a:solidFill>
                  <a:srgbClr val="FBF6EC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71" name="t171"/>
          <p:cNvSpPr txBox="1"/>
          <p:nvPr/>
        </p:nvSpPr>
        <p:spPr>
          <a:xfrm>
            <a:off x="7190399" y="2492999"/>
            <a:ext cx="3903401" cy="86499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350" b="1" spc="0">
                <a:solidFill>
                  <a:srgbClr val="2E2A26"/>
                </a:solidFill>
                <a:latin typeface="Segoe UI"/>
                <a:cs typeface="Segoe UI"/>
              </a:rPr>
              <a:t>Proxy variables</a:t>
            </a:r>
          </a:p>
          <a:p>
            <a:pPr algn="l">
              <a:lnSpc>
                <a:spcPct val="115000"/>
              </a:lnSpc>
              <a:spcBef>
                <a:spcPts val="450"/>
              </a:spcBef>
            </a:pPr>
            <a:r>
              <a:rPr lang="en-US" sz="1100" b="0" spc="0">
                <a:solidFill>
                  <a:srgbClr val="4A423A"/>
                </a:solidFill>
                <a:latin typeface="Segoe UI"/>
                <a:cs typeface="Segoe UI"/>
              </a:rPr>
              <a:t>Names, addresses and career gaps stand in for gender, age and background.</a:t>
            </a:r>
            <a:endParaRPr lang="en-US" sz="110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172" name="s172"/>
          <p:cNvSpPr/>
          <p:nvPr/>
        </p:nvSpPr>
        <p:spPr>
          <a:xfrm>
            <a:off x="838200" y="3643333"/>
            <a:ext cx="5147800" cy="1153333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s173"/>
          <p:cNvSpPr/>
          <p:nvPr/>
        </p:nvSpPr>
        <p:spPr>
          <a:xfrm>
            <a:off x="1078200" y="3977800"/>
            <a:ext cx="484399" cy="484399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1078200" y="3977800"/>
            <a:ext cx="484399" cy="4843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b="1" spc="0" dirty="0">
                <a:solidFill>
                  <a:srgbClr val="FBF6EC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1822599" y="3816332"/>
            <a:ext cx="3903401" cy="86499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350" b="1" spc="0">
                <a:solidFill>
                  <a:srgbClr val="2E2A26"/>
                </a:solidFill>
                <a:latin typeface="Segoe UI"/>
                <a:cs typeface="Segoe UI"/>
              </a:rPr>
              <a:t>Anonymise before you screen</a:t>
            </a:r>
          </a:p>
          <a:p>
            <a:pPr algn="l">
              <a:lnSpc>
                <a:spcPct val="115000"/>
              </a:lnSpc>
              <a:spcBef>
                <a:spcPts val="450"/>
              </a:spcBef>
            </a:pPr>
            <a:r>
              <a:rPr lang="en-US" sz="1100" b="0" spc="0">
                <a:solidFill>
                  <a:srgbClr val="4A423A"/>
                </a:solidFill>
                <a:latin typeface="Segoe UI"/>
                <a:cs typeface="Segoe UI"/>
              </a:rPr>
              <a:t>Strip names, photos, addresses and dates of birth so scoring runs on skills and evidence alone.</a:t>
            </a:r>
            <a:endParaRPr lang="en-US" sz="110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176" name="s176"/>
          <p:cNvSpPr/>
          <p:nvPr/>
        </p:nvSpPr>
        <p:spPr>
          <a:xfrm>
            <a:off x="6206000" y="3643333"/>
            <a:ext cx="5147800" cy="1153333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7" name="s177"/>
          <p:cNvSpPr/>
          <p:nvPr/>
        </p:nvSpPr>
        <p:spPr>
          <a:xfrm>
            <a:off x="6446000" y="3977800"/>
            <a:ext cx="484399" cy="484399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t178"/>
          <p:cNvSpPr txBox="1"/>
          <p:nvPr/>
        </p:nvSpPr>
        <p:spPr>
          <a:xfrm>
            <a:off x="6446000" y="3977800"/>
            <a:ext cx="484399" cy="4843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b="1" spc="0" dirty="0">
                <a:solidFill>
                  <a:srgbClr val="FBF6EC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7190399" y="3816332"/>
            <a:ext cx="3903401" cy="86499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350" b="1" spc="0">
                <a:solidFill>
                  <a:srgbClr val="2E2A26"/>
                </a:solidFill>
                <a:latin typeface="Segoe UI"/>
                <a:cs typeface="Segoe UI"/>
              </a:rPr>
              <a:t>Score on the JD, nothing else</a:t>
            </a:r>
          </a:p>
          <a:p>
            <a:pPr algn="l">
              <a:lnSpc>
                <a:spcPct val="115000"/>
              </a:lnSpc>
              <a:spcBef>
                <a:spcPts val="450"/>
              </a:spcBef>
            </a:pPr>
            <a:r>
              <a:rPr lang="en-US" sz="1100" b="0" spc="0">
                <a:solidFill>
                  <a:srgbClr val="4A423A"/>
                </a:solidFill>
                <a:latin typeface="Segoe UI"/>
                <a:cs typeface="Segoe UI"/>
              </a:rPr>
              <a:t>Limit criteria to published requirements; require a cited line per score.</a:t>
            </a:r>
            <a:endParaRPr lang="en-US" sz="110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180" name="s180"/>
          <p:cNvSpPr/>
          <p:nvPr/>
        </p:nvSpPr>
        <p:spPr>
          <a:xfrm>
            <a:off x="838200" y="4966666"/>
            <a:ext cx="5147800" cy="1153333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1078200" y="5301133"/>
            <a:ext cx="484399" cy="484399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t182"/>
          <p:cNvSpPr txBox="1"/>
          <p:nvPr/>
        </p:nvSpPr>
        <p:spPr>
          <a:xfrm>
            <a:off x="1078200" y="5301133"/>
            <a:ext cx="484399" cy="4843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b="1" spc="0" dirty="0">
                <a:solidFill>
                  <a:srgbClr val="FBF6EC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1822599" y="5139665"/>
            <a:ext cx="3903401" cy="86499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350" b="1" spc="0">
                <a:solidFill>
                  <a:srgbClr val="2E2A26"/>
                </a:solidFill>
                <a:latin typeface="Segoe UI"/>
                <a:cs typeface="Segoe UI"/>
              </a:rPr>
              <a:t>Keep a human decision-maker</a:t>
            </a:r>
          </a:p>
          <a:p>
            <a:pPr algn="l">
              <a:lnSpc>
                <a:spcPct val="115000"/>
              </a:lnSpc>
              <a:spcBef>
                <a:spcPts val="450"/>
              </a:spcBef>
            </a:pPr>
            <a:r>
              <a:rPr lang="en-US" sz="1100" b="0" spc="0">
                <a:solidFill>
                  <a:srgbClr val="4A423A"/>
                </a:solidFill>
                <a:latin typeface="Segoe UI"/>
                <a:cs typeface="Segoe UI"/>
              </a:rPr>
              <a:t>AI gives a ranked draft; an accountable recruiter decides.</a:t>
            </a:r>
            <a:endParaRPr lang="en-US" sz="110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184" name="s184"/>
          <p:cNvSpPr/>
          <p:nvPr/>
        </p:nvSpPr>
        <p:spPr>
          <a:xfrm>
            <a:off x="6206000" y="4966666"/>
            <a:ext cx="5147800" cy="1153333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5" name="s185"/>
          <p:cNvSpPr/>
          <p:nvPr/>
        </p:nvSpPr>
        <p:spPr>
          <a:xfrm>
            <a:off x="6446000" y="5301133"/>
            <a:ext cx="484399" cy="484399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t186"/>
          <p:cNvSpPr txBox="1"/>
          <p:nvPr/>
        </p:nvSpPr>
        <p:spPr>
          <a:xfrm>
            <a:off x="6446000" y="5301133"/>
            <a:ext cx="484399" cy="4843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b="1" spc="0" dirty="0">
                <a:solidFill>
                  <a:srgbClr val="FBF6EC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7190399" y="5139665"/>
            <a:ext cx="3903401" cy="86499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350" b="1" spc="0">
                <a:solidFill>
                  <a:srgbClr val="2E2A26"/>
                </a:solidFill>
                <a:latin typeface="Segoe UI"/>
                <a:cs typeface="Segoe UI"/>
              </a:rPr>
              <a:t>Consent, retention, residency</a:t>
            </a:r>
          </a:p>
          <a:p>
            <a:pPr algn="l">
              <a:lnSpc>
                <a:spcPct val="115000"/>
              </a:lnSpc>
              <a:spcBef>
                <a:spcPts val="450"/>
              </a:spcBef>
            </a:pPr>
            <a:r>
              <a:rPr lang="en-US" sz="1100" b="0" spc="0">
                <a:solidFill>
                  <a:srgbClr val="4A423A"/>
                </a:solidFill>
                <a:latin typeface="Segoe UI"/>
                <a:cs typeface="Segoe UI"/>
              </a:rPr>
              <a:t>Tell candidates AI assists screening, and delete resume packs on schedule.</a:t>
            </a:r>
            <a:endParaRPr lang="en-US" sz="110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1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B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838200" y="520700"/>
            <a:ext cx="180000" cy="180000"/>
          </a:xfrm>
          <a:prstGeom prst="ellipse">
            <a:avLst/>
          </a:prstGeom>
          <a:solidFill>
            <a:srgbClr val="7A7A4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1100000" y="470700"/>
            <a:ext cx="90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spc="300">
                <a:solidFill>
                  <a:srgbClr val="7A7A4E"/>
                </a:solidFill>
                <a:latin typeface="Segoe UI"/>
                <a:cs typeface="Segoe UI"/>
              </a:rPr>
              <a:t>NEXT STEPS</a:t>
            </a:r>
            <a:endParaRPr lang="en-US" sz="1200" b="1" spc="300" dirty="0">
              <a:solidFill>
                <a:srgbClr val="7A7A4E"/>
              </a:solidFill>
              <a:latin typeface="Segoe UI"/>
              <a:cs typeface="Segoe UI"/>
            </a:endParaRPr>
          </a:p>
        </p:txBody>
      </p:sp>
      <p:sp>
        <p:nvSpPr>
          <p:cNvPr id="120" name="t120"/>
          <p:cNvSpPr txBox="1"/>
          <p:nvPr/>
        </p:nvSpPr>
        <p:spPr>
          <a:xfrm>
            <a:off x="838200" y="830000"/>
            <a:ext cx="10515600" cy="6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000" b="1" spc="0">
                <a:solidFill>
                  <a:srgbClr val="2E2A26"/>
                </a:solidFill>
                <a:latin typeface="Georgia"/>
                <a:cs typeface="Georgia"/>
              </a:rPr>
              <a:t>Where to Start on Monday</a:t>
            </a:r>
            <a:endParaRPr lang="en-US" sz="3000" b="1" spc="0" dirty="0">
              <a:solidFill>
                <a:srgbClr val="2E2A26"/>
              </a:solidFill>
              <a:latin typeface="Georgia"/>
              <a:cs typeface="Georgia"/>
            </a:endParaRPr>
          </a:p>
        </p:txBody>
      </p:sp>
      <p:sp>
        <p:nvSpPr>
          <p:cNvPr id="121" name="s121"/>
          <p:cNvSpPr/>
          <p:nvPr/>
        </p:nvSpPr>
        <p:spPr>
          <a:xfrm>
            <a:off x="838200" y="1540000"/>
            <a:ext cx="3200000" cy="26000"/>
          </a:xfrm>
          <a:prstGeom prst="rect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838200" y="1700000"/>
            <a:ext cx="10515600" cy="4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300" b="0" spc="0">
                <a:solidFill>
                  <a:srgbClr val="4A423A"/>
                </a:solidFill>
                <a:latin typeface="Segoe UI"/>
                <a:cs typeface="Segoe UI"/>
              </a:rPr>
              <a:t>A five-step pilot that proves the time saving without putting a single hiring decision at risk.</a:t>
            </a:r>
            <a:endParaRPr lang="en-US" sz="130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123" name="s123"/>
          <p:cNvSpPr/>
          <p:nvPr/>
        </p:nvSpPr>
        <p:spPr>
          <a:xfrm>
            <a:off x="838200" y="6420000"/>
            <a:ext cx="10515600" cy="12700"/>
          </a:xfrm>
          <a:prstGeom prst="rect">
            <a:avLst/>
          </a:prstGeom>
          <a:solidFill>
            <a:srgbClr val="E0CD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838200" y="6510000"/>
            <a:ext cx="10515600" cy="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b="0" spc="200">
                <a:solidFill>
                  <a:srgbClr val="4A423A"/>
                </a:solidFill>
                <a:latin typeface="Segoe UI"/>
                <a:cs typeface="Segoe UI"/>
              </a:rPr>
              <a:t>AI in recruitment  |  pilot plan for the next 30 days</a:t>
            </a:r>
            <a:endParaRPr lang="en-US" sz="1000" b="0" spc="20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125" name="s125"/>
          <p:cNvSpPr/>
          <p:nvPr/>
        </p:nvSpPr>
        <p:spPr>
          <a:xfrm>
            <a:off x="838200" y="2320000"/>
            <a:ext cx="10515600" cy="62400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1078200" y="2476000"/>
            <a:ext cx="312000" cy="312000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1078200" y="2476000"/>
            <a:ext cx="312000" cy="312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300" b="1" spc="0" dirty="0">
                <a:solidFill>
                  <a:srgbClr val="FBF6EC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670200" y="2419840"/>
            <a:ext cx="9100000" cy="44928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b="1" spc="0">
                <a:solidFill>
                  <a:srgbClr val="2E2A26"/>
                </a:solidFill>
                <a:latin typeface="Segoe UI"/>
                <a:cs typeface="Segoe UI"/>
              </a:rPr>
              <a:t>Pick one role to pilot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lang="en-US" sz="1150" b="0" spc="0">
                <a:solidFill>
                  <a:srgbClr val="4A423A"/>
                </a:solidFill>
                <a:latin typeface="Segoe UI"/>
                <a:cs typeface="Segoe UI"/>
              </a:rPr>
              <a:t>Choose a single high-volume opening where the applicant pack is large enough to prove the time saving.</a:t>
            </a:r>
            <a:endParaRPr lang="en-US" sz="115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129" name="s129"/>
          <p:cNvSpPr/>
          <p:nvPr/>
        </p:nvSpPr>
        <p:spPr>
          <a:xfrm>
            <a:off x="838200" y="3114000"/>
            <a:ext cx="10515600" cy="62400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1078200" y="3270000"/>
            <a:ext cx="312000" cy="312000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131"/>
          <p:cNvSpPr txBox="1"/>
          <p:nvPr/>
        </p:nvSpPr>
        <p:spPr>
          <a:xfrm>
            <a:off x="1078200" y="3270000"/>
            <a:ext cx="312000" cy="312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300" b="1" spc="0" dirty="0">
                <a:solidFill>
                  <a:srgbClr val="FBF6EC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670200" y="3213840"/>
            <a:ext cx="9100000" cy="44928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b="1" spc="0">
                <a:solidFill>
                  <a:srgbClr val="2E2A26"/>
                </a:solidFill>
                <a:latin typeface="Segoe UI"/>
                <a:cs typeface="Segoe UI"/>
              </a:rPr>
              <a:t>Agree the rubric with the hiring manager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lang="en-US" sz="1150" b="0" spc="0">
                <a:solidFill>
                  <a:srgbClr val="4A423A"/>
                </a:solidFill>
                <a:latin typeface="Segoe UI"/>
                <a:cs typeface="Segoe UI"/>
              </a:rPr>
              <a:t>Write down the criteria and weights before any resume is uploaded, so scoring is not retrofitted.</a:t>
            </a:r>
            <a:endParaRPr lang="en-US" sz="115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133" name="s133"/>
          <p:cNvSpPr/>
          <p:nvPr/>
        </p:nvSpPr>
        <p:spPr>
          <a:xfrm>
            <a:off x="838200" y="3908000"/>
            <a:ext cx="10515600" cy="62400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1078200" y="4064000"/>
            <a:ext cx="312000" cy="312000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1078200" y="4064000"/>
            <a:ext cx="312000" cy="312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300" b="1" spc="0" dirty="0">
                <a:solidFill>
                  <a:srgbClr val="FBF6EC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670200" y="4007840"/>
            <a:ext cx="9100000" cy="44928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b="1" spc="0">
                <a:solidFill>
                  <a:srgbClr val="2E2A26"/>
                </a:solidFill>
                <a:latin typeface="Segoe UI"/>
                <a:cs typeface="Segoe UI"/>
              </a:rPr>
              <a:t>Run AI and manual screening in parallel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lang="en-US" sz="1150" b="0" spc="0">
                <a:solidFill>
                  <a:srgbClr val="4A423A"/>
                </a:solidFill>
                <a:latin typeface="Segoe UI"/>
                <a:cs typeface="Segoe UI"/>
              </a:rPr>
              <a:t>Compare the two shortlists once. It builds trust and exposes where the rubric needs tightening.</a:t>
            </a:r>
            <a:endParaRPr lang="en-US" sz="115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137" name="s137"/>
          <p:cNvSpPr/>
          <p:nvPr/>
        </p:nvSpPr>
        <p:spPr>
          <a:xfrm>
            <a:off x="838200" y="4702000"/>
            <a:ext cx="10515600" cy="62400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1078200" y="4858000"/>
            <a:ext cx="312000" cy="312000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1078200" y="4858000"/>
            <a:ext cx="312000" cy="312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300" b="1" spc="0" dirty="0">
                <a:solidFill>
                  <a:srgbClr val="FBF6EC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1670200" y="4801840"/>
            <a:ext cx="9100000" cy="44928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b="1" spc="0">
                <a:solidFill>
                  <a:srgbClr val="2E2A26"/>
                </a:solidFill>
                <a:latin typeface="Segoe UI"/>
                <a:cs typeface="Segoe UI"/>
              </a:rPr>
              <a:t>Set the guardrails in writing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lang="en-US" sz="1150" b="0" spc="0">
                <a:solidFill>
                  <a:srgbClr val="4A423A"/>
                </a:solidFill>
                <a:latin typeface="Segoe UI"/>
                <a:cs typeface="Segoe UI"/>
              </a:rPr>
              <a:t>Anonymisation, citation checks, retention limits and who signs off on every rejection.</a:t>
            </a:r>
            <a:endParaRPr lang="en-US" sz="115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  <p:sp>
        <p:nvSpPr>
          <p:cNvPr id="141" name="s141"/>
          <p:cNvSpPr/>
          <p:nvPr/>
        </p:nvSpPr>
        <p:spPr>
          <a:xfrm>
            <a:off x="838200" y="5496000"/>
            <a:ext cx="10515600" cy="62400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12700">
            <a:solidFill>
              <a:srgbClr val="E0CD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78200" y="5652000"/>
            <a:ext cx="312000" cy="312000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1078200" y="5652000"/>
            <a:ext cx="312000" cy="312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300" b="1" spc="0" dirty="0">
                <a:solidFill>
                  <a:srgbClr val="FBF6EC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670200" y="5595840"/>
            <a:ext cx="9100000" cy="44928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b="1" spc="0">
                <a:solidFill>
                  <a:srgbClr val="2E2A26"/>
                </a:solidFill>
                <a:latin typeface="Segoe UI"/>
                <a:cs typeface="Segoe UI"/>
              </a:rPr>
              <a:t>Review after 30 days, then scale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lang="en-US" sz="1150" b="0" spc="0">
                <a:solidFill>
                  <a:srgbClr val="4A423A"/>
                </a:solidFill>
                <a:latin typeface="Segoe UI"/>
                <a:cs typeface="Segoe UI"/>
              </a:rPr>
              <a:t>Measure time-to-shortlist, panel feedback and any adverse impact before extending to more roles.</a:t>
            </a:r>
            <a:endParaRPr lang="en-US" sz="1150" b="0" spc="0" dirty="0">
              <a:solidFill>
                <a:srgbClr val="4A423A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B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s12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g13"/>
          <p:cNvSpPr/>
          <p:nvPr/>
        </p:nvSpPr>
        <p:spPr>
          <a:xfrm>
            <a:off x="7010400" y="0"/>
            <a:ext cx="5181600" cy="6858000"/>
          </a:xfrm>
          <a:prstGeom prst="rect">
            <a:avLst/>
          </a:prstGeom>
          <a:solidFill>
            <a:srgbClr val="332E2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g14"/>
          <p:cNvSpPr/>
          <p:nvPr/>
        </p:nvSpPr>
        <p:spPr>
          <a:xfrm>
            <a:off x="7410248" y="1238048"/>
            <a:ext cx="4381904" cy="4381904"/>
          </a:xfrm>
          <a:prstGeom prst="ellipse">
            <a:avLst/>
          </a:prstGeom>
          <a:noFill/>
          <a:ln w="22000">
            <a:solidFill>
              <a:srgbClr val="B455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g15"/>
          <p:cNvSpPr/>
          <p:nvPr/>
        </p:nvSpPr>
        <p:spPr>
          <a:xfrm>
            <a:off x="8062872" y="1890672"/>
            <a:ext cx="3076656" cy="3076656"/>
          </a:xfrm>
          <a:prstGeom prst="ellipse">
            <a:avLst/>
          </a:prstGeom>
          <a:noFill/>
          <a:ln w="16000">
            <a:solidFill>
              <a:srgbClr val="7A7A4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g16"/>
          <p:cNvSpPr/>
          <p:nvPr/>
        </p:nvSpPr>
        <p:spPr>
          <a:xfrm>
            <a:off x="8668880" y="2496680"/>
            <a:ext cx="1864640" cy="1864640"/>
          </a:xfrm>
          <a:prstGeom prst="ellipse">
            <a:avLst/>
          </a:prstGeom>
          <a:noFill/>
          <a:ln w="14000">
            <a:solidFill>
              <a:srgbClr val="C08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g17"/>
          <p:cNvSpPr/>
          <p:nvPr/>
        </p:nvSpPr>
        <p:spPr>
          <a:xfrm>
            <a:off x="11647497" y="2791940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g18"/>
          <p:cNvSpPr/>
          <p:nvPr/>
        </p:nvSpPr>
        <p:spPr>
          <a:xfrm>
            <a:off x="11647497" y="3926060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g19"/>
          <p:cNvSpPr/>
          <p:nvPr/>
        </p:nvSpPr>
        <p:spPr>
          <a:xfrm>
            <a:off x="11080437" y="4908237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g20"/>
          <p:cNvSpPr/>
          <p:nvPr/>
        </p:nvSpPr>
        <p:spPr>
          <a:xfrm>
            <a:off x="10098260" y="5475297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g21"/>
          <p:cNvSpPr/>
          <p:nvPr/>
        </p:nvSpPr>
        <p:spPr>
          <a:xfrm>
            <a:off x="8964140" y="5475297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g22"/>
          <p:cNvSpPr/>
          <p:nvPr/>
        </p:nvSpPr>
        <p:spPr>
          <a:xfrm>
            <a:off x="7981963" y="4908237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g23"/>
          <p:cNvSpPr/>
          <p:nvPr/>
        </p:nvSpPr>
        <p:spPr>
          <a:xfrm>
            <a:off x="7414903" y="3926060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g24"/>
          <p:cNvSpPr/>
          <p:nvPr/>
        </p:nvSpPr>
        <p:spPr>
          <a:xfrm>
            <a:off x="7414903" y="2791940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g25"/>
          <p:cNvSpPr/>
          <p:nvPr/>
        </p:nvSpPr>
        <p:spPr>
          <a:xfrm>
            <a:off x="7981963" y="1809763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g26"/>
          <p:cNvSpPr/>
          <p:nvPr/>
        </p:nvSpPr>
        <p:spPr>
          <a:xfrm>
            <a:off x="8964140" y="1242703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g27"/>
          <p:cNvSpPr/>
          <p:nvPr/>
        </p:nvSpPr>
        <p:spPr>
          <a:xfrm>
            <a:off x="10098260" y="1242703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g28"/>
          <p:cNvSpPr/>
          <p:nvPr/>
        </p:nvSpPr>
        <p:spPr>
          <a:xfrm>
            <a:off x="11080437" y="1809763"/>
            <a:ext cx="140000" cy="140000"/>
          </a:xfrm>
          <a:prstGeom prst="ellipse">
            <a:avLst/>
          </a:prstGeom>
          <a:solidFill>
            <a:srgbClr val="F3EBDD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g29"/>
          <p:cNvSpPr/>
          <p:nvPr/>
        </p:nvSpPr>
        <p:spPr>
          <a:xfrm>
            <a:off x="9041808" y="2869608"/>
            <a:ext cx="1118784" cy="1118784"/>
          </a:xfrm>
          <a:prstGeom prst="ellipse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g30"/>
          <p:cNvSpPr/>
          <p:nvPr/>
        </p:nvSpPr>
        <p:spPr>
          <a:xfrm>
            <a:off x="10989528" y="2579760"/>
            <a:ext cx="300000" cy="3000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s31"/>
          <p:cNvSpPr/>
          <p:nvPr/>
        </p:nvSpPr>
        <p:spPr>
          <a:xfrm>
            <a:off x="838200" y="1180000"/>
            <a:ext cx="180000" cy="180000"/>
          </a:xfrm>
          <a:prstGeom prst="ellipse">
            <a:avLst/>
          </a:prstGeom>
          <a:solidFill>
            <a:srgbClr val="7A7A4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32"/>
          <p:cNvSpPr txBox="1"/>
          <p:nvPr/>
        </p:nvSpPr>
        <p:spPr>
          <a:xfrm>
            <a:off x="1100000" y="1130000"/>
            <a:ext cx="46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spc="300">
                <a:solidFill>
                  <a:srgbClr val="7A7A4E"/>
                </a:solidFill>
                <a:latin typeface="Segoe UI"/>
                <a:cs typeface="Segoe UI"/>
              </a:rPr>
              <a:t>YOUR TURN</a:t>
            </a:r>
          </a:p>
        </p:txBody>
      </p:sp>
      <p:sp>
        <p:nvSpPr>
          <p:cNvPr id="33" name="t33"/>
          <p:cNvSpPr txBox="1"/>
          <p:nvPr/>
        </p:nvSpPr>
        <p:spPr>
          <a:xfrm>
            <a:off x="838200" y="1560000"/>
            <a:ext cx="5400000" cy="21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4400" b="1" spc="0">
                <a:solidFill>
                  <a:srgbClr val="2E2A26"/>
                </a:solidFill>
                <a:latin typeface="Georgia"/>
                <a:cs typeface="Georgia"/>
              </a:rPr>
              <a:t>Hands-on!!</a:t>
            </a:r>
          </a:p>
        </p:txBody>
      </p:sp>
      <p:sp>
        <p:nvSpPr>
          <p:cNvPr id="34" name="s34"/>
          <p:cNvSpPr/>
          <p:nvPr/>
        </p:nvSpPr>
        <p:spPr>
          <a:xfrm>
            <a:off x="838200" y="3560000"/>
            <a:ext cx="1800000" cy="30000"/>
          </a:xfrm>
          <a:prstGeom prst="rect">
            <a:avLst/>
          </a:prstGeom>
          <a:solidFill>
            <a:srgbClr val="B455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35"/>
          <p:cNvSpPr txBox="1"/>
          <p:nvPr/>
        </p:nvSpPr>
        <p:spPr>
          <a:xfrm>
            <a:off x="838200" y="3820000"/>
            <a:ext cx="50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lang="en-US" sz="1400" b="0" spc="0">
                <a:solidFill>
                  <a:srgbClr val="4A423A"/>
                </a:solidFill>
                <a:latin typeface="Segoe UI"/>
                <a:cs typeface="Segoe UI"/>
              </a:rPr>
              <a:t>Open NotebookLM, load the sample resume pack and run the screening workflow end to end.</a:t>
            </a:r>
          </a:p>
        </p:txBody>
      </p:sp>
      <p:sp>
        <p:nvSpPr>
          <p:cNvPr id="36" name="s36"/>
          <p:cNvSpPr/>
          <p:nvPr/>
        </p:nvSpPr>
        <p:spPr>
          <a:xfrm>
            <a:off x="838200" y="5180000"/>
            <a:ext cx="5000000" cy="12700"/>
          </a:xfrm>
          <a:prstGeom prst="rect">
            <a:avLst/>
          </a:prstGeom>
          <a:solidFill>
            <a:srgbClr val="E0CD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t37"/>
          <p:cNvSpPr txBox="1"/>
          <p:nvPr/>
        </p:nvSpPr>
        <p:spPr>
          <a:xfrm>
            <a:off x="838200" y="5320000"/>
            <a:ext cx="5000000" cy="6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300" b="1" spc="0">
                <a:solidFill>
                  <a:srgbClr val="2E2A26"/>
                </a:solidFill>
                <a:latin typeface="Segoe UI"/>
                <a:cs typeface="Segoe UI"/>
              </a:rPr>
              <a:t>Work in pairs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300" b="1" spc="0">
                <a:solidFill>
                  <a:srgbClr val="2E2A26"/>
                </a:solidFill>
                <a:latin typeface="Segoe UI"/>
                <a:cs typeface="Segoe UI"/>
              </a:rPr>
              <a:t>Bring one shortlist and one question to the group</a:t>
            </a:r>
            <a:endParaRPr lang="en-US" sz="1050" b="0" spc="100">
              <a:solidFill>
                <a:srgbClr val="4A423A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1356</Words>
  <Application>Microsoft Office PowerPoint</Application>
  <PresentationFormat>Widescreen</PresentationFormat>
  <Paragraphs>168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Georgia</vt:lpstr>
      <vt:lpstr>Segoe UI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 Perepa</dc:creator>
  <cp:lastModifiedBy>Vijay Perepa</cp:lastModifiedBy>
  <cp:revision>1</cp:revision>
  <dcterms:created xsi:type="dcterms:W3CDTF">2026-08-18T07:30:41Z</dcterms:created>
  <dcterms:modified xsi:type="dcterms:W3CDTF">2026-08-18T11:31:01Z</dcterms:modified>
</cp:coreProperties>
</file>