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Copilot is not one product. This module helps participants understand the landscape, choose the right experience, and work with Copilot responsibly.
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minutes. Ask participants: Which Copilot do you currently use, and where do you access it?
[Sources]
- https://learn.microsoft.com/en-us/copilot/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Explain that “Copilot” is an umbrella name. Keep the client focus on Microsoft 365 Copilot and Copilot Chat, while briefly showing the wider family.
[Sources]
- https://support.microsoft.com/en-us/topic/what-s-the-difference-between-microsoft-copilot-free-and-copilot-in-microsoft-365-581e3b3e-749e-4904-8ec3-ae4b82ea4a90
- https://learn.microsoft.com/en-us/microsoft-copilot-studio/fundamentals-what-is-copilot-studio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Avoid turning this into a licensing lecture. The practical question is: Is the user working only with web and supplied files, or with permitted organizational content across Microsoft 365?
[Sources]
- https://learn.microsoft.com/en-us/copilot/overview
- https://learn.microsoft.com/en-us/microsoft-365-copilot/microsoft-365-copilot-overview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Use one quick example: turn a long customer email into a short response, action list and meeting brief. Stress that the first output is a draft, not the finish line.
[Sources]
- https://support.microsoft.com/en-us/copilot-microsoft365
- https://learn.microsoft.com/en-us/microsoft-365-copilot/microsoft-365-copilot-overview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Introduce a five-word review loop: Verify, Protect, Decide, Refine, Own. Ask participants to name one output they would never send without review.
[Sources]
- https://learn.microsoft.com/en-us/microsoft-365-copilot/microsoft-365-copilot-privacy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Ask participants to select one daily scenario and describe the before-Copilot and after-Copilot workflow. Keep the emphasis on productivity, not novelty.
[Sources]
- https://support.microsoft.com/en-us/copilot-microsoft365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Run a quick audience exercise: improve a vague prompt by adding goal, context, source and format. Close with the review loop and remind participants to apply Copilot to one real task today.
[Sources]
- https://learn.microsoft.com/en-us/microsoft-365-copilot/get-started-with-copilot
- https://copilot.cloud.microsoft/prompts/all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RN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5F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COPILOT | CLIENT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 Perepa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412091ec29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>
              <a:alpha val="68000"/>
            </a:srgbClr>
          </a:solidFill>
          <a:ln w="12700">
            <a:solidFill>
              <a:srgbClr val="07152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5486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5836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30-MINUTE MODULE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3886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Microsoft Copilot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40080" y="464515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7ECF7"/>
                </a:solidFill>
              </a:rPr>
              <a:t>Choose the right experience. Use it well. Keep humans accountable.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5897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</a:rPr>
              <a:t>Client learning module  |  Vijay Perepa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01 |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participants will leave with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A concise overview built for awareness, judgment and immediate application.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53312" y="214884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5336" y="23682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315468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55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Recognize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76472"/>
            <a:ext cx="2011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Identify the main Microsoft Copilot experiences.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33672" y="214884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3682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74720" y="31546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315468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355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Differentiate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776472"/>
            <a:ext cx="2011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Understand capability and access differences.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148840"/>
            <a:ext cx="822960" cy="8229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23682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55080" y="31546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1546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355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Partner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776472"/>
            <a:ext cx="2011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Know where review and decision-making stay human.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994392" y="2148840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86416" y="23682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35440" y="315468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35440" y="315468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3355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Apply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64040" y="3776472"/>
            <a:ext cx="2011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Use Copilot in practical everyday work.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166360"/>
            <a:ext cx="10972800" cy="73152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41324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</a:rPr>
              <a:t>Running order  •  Copilot landscape  •  Capabilities and limits  •  Human review  •  Everyday scenarios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02 |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Microsoft Copilot is a family of experiences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Choose by audience, data, task and license, not by name alone.</a:t>
            </a:r>
            <a:endParaRPr lang="en-US" sz="1300" dirty="0"/>
          </a:p>
        </p:txBody>
      </p:sp>
      <p:pic>
        <p:nvPicPr>
          <p:cNvPr id="5" name="Image 0" descr="/mnt/data/89e09483e0.png"/>
          <p:cNvPicPr>
            <a:picLocks noChangeAspect="1"/>
          </p:cNvPicPr>
          <p:nvPr/>
        </p:nvPicPr>
        <p:blipFill>
          <a:blip r:embed="rId3"/>
          <a:srcRect l="14103" r="14103"/>
          <a:stretch/>
        </p:blipFill>
        <p:spPr>
          <a:xfrm>
            <a:off x="7086600" y="1874520"/>
            <a:ext cx="448056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196596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Microsoft Copilot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0" y="1874520"/>
            <a:ext cx="3337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Personal AI companion for general web-based tasks.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1792" y="2788920"/>
            <a:ext cx="310896" cy="310896"/>
          </a:xfrm>
          <a:prstGeom prst="ellipse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Microsoft 365 Copilot Chat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83280" y="2697480"/>
            <a:ext cx="3337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Secure AI chat for eligible work or school users.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1792" y="361188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Microsoft 365 Copilot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3520440"/>
            <a:ext cx="3337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Work-grounded chat plus Copilot across Microsoft 365 apps.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21792" y="4434840"/>
            <a:ext cx="310896" cy="310896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343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Specialized Copilots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4343400"/>
            <a:ext cx="3337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GitHub, Security, Dynamics 365 and Power Platform experiences.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1792" y="525780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5166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Copilot Studio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83280" y="5166360"/>
            <a:ext cx="3337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Build and extend agents using organizational data and actions.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40080" y="6108192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" dist="381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618134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Ask: Which one fits my task?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03 | ACCESS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Copilot Chat vs Microsoft 365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The biggest difference is how deeply Copilot can use work context and act inside apps.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73152" cy="338328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Microsoft 365 Copilot 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96312"/>
            <a:ext cx="493776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Included with eligible Microsoft 365 subscriptions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Secure AI chat grounded on the web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Users can upload files for context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Supports Pages, image creation and agents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Work access varies by license and configuration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74520"/>
            <a:ext cx="73152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756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Microsoft 365 Copilot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496312"/>
            <a:ext cx="480060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Paid add-on or included in specified plans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Uses permitted work data such as files, email, chats and meetings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Advanced in-app experiences in Word, Excel, PowerPoint, Outlook and Teams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Includes work-grounded agents and premium capabilities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04 | CAPABILITY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Copilot can do well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Copilot adds most value when the goal, context and source material are clear.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38528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Draft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560320"/>
            <a:ext cx="3063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Create a useful first version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9385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38528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Summarize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560320"/>
            <a:ext cx="3063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Condense long content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02752" y="19385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2752" y="1938528"/>
            <a:ext cx="73152" cy="12344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Find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31352" y="2560320"/>
            <a:ext cx="3063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Locate relevant work information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5387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38728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739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" y="4160520"/>
            <a:ext cx="3063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Explain patterns and options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0560" y="35387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3538728"/>
            <a:ext cx="73152" cy="123444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739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Transform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4160520"/>
            <a:ext cx="3063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Change tone, format or audience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02752" y="35387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5240" dist="508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02752" y="3538728"/>
            <a:ext cx="73152" cy="123444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3739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Prepare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31352" y="4160520"/>
            <a:ext cx="3063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Build briefs, agendas and follow-ups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5321808"/>
            <a:ext cx="10881360" cy="566928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504688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</a:rPr>
              <a:t>Best pattern: start with existing content, give a clear instruction, then refine the result.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05 | JUDGMENT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Copilot cannot own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Copilot can assist with thinking and production. People remain responsible for truth, risk and decisions.</a:t>
            </a:r>
            <a:endParaRPr lang="en-US" sz="1300" dirty="0"/>
          </a:p>
        </p:txBody>
      </p:sp>
      <p:pic>
        <p:nvPicPr>
          <p:cNvPr id="5" name="Image 0" descr="/mnt/data/916150bac5.png"/>
          <p:cNvPicPr>
            <a:picLocks noChangeAspect="1"/>
          </p:cNvPicPr>
          <p:nvPr/>
        </p:nvPicPr>
        <p:blipFill>
          <a:blip r:embed="rId3"/>
          <a:srcRect l="6738" r="6738"/>
          <a:stretch/>
        </p:blipFill>
        <p:spPr>
          <a:xfrm>
            <a:off x="594360" y="1874520"/>
            <a:ext cx="557784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901952"/>
            <a:ext cx="4983480" cy="566928"/>
          </a:xfrm>
          <a:prstGeom prst="roundRect">
            <a:avLst>
              <a:gd name="adj" fmla="val 645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206654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Verify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06654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Facts, calculations and sources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37960" y="2651760"/>
            <a:ext cx="4983480" cy="566928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28163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Protect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28163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Sensitive and confidential information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37960" y="3401568"/>
            <a:ext cx="4983480" cy="566928"/>
          </a:xfrm>
          <a:prstGeom prst="roundRect">
            <a:avLst>
              <a:gd name="adj" fmla="val 645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566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Decide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18120" y="3566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Business trade-offs and approvals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37960" y="4151376"/>
            <a:ext cx="4983480" cy="566928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3159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Refine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18120" y="431596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Tone, nuance and organizational context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37960" y="4901184"/>
            <a:ext cx="4983480" cy="566928"/>
          </a:xfrm>
          <a:prstGeom prst="roundRect">
            <a:avLst>
              <a:gd name="adj" fmla="val 645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50657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Own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18120" y="50657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The final output and its consequences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06 |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Where Copilot adds value every 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Look for high-volume, repeatable knowledge work with a clear human checkpoint.</a:t>
            </a:r>
            <a:endParaRPr lang="en-US" sz="1300" dirty="0"/>
          </a:p>
        </p:txBody>
      </p:sp>
      <p:pic>
        <p:nvPicPr>
          <p:cNvPr id="5" name="Image 0" descr="/mnt/data/a170f12a9f.png"/>
          <p:cNvPicPr>
            <a:picLocks noChangeAspect="1"/>
          </p:cNvPicPr>
          <p:nvPr/>
        </p:nvPicPr>
        <p:blipFill>
          <a:blip r:embed="rId3"/>
          <a:srcRect l="12121" r="12121"/>
          <a:stretch/>
        </p:blipFill>
        <p:spPr>
          <a:xfrm>
            <a:off x="6766560" y="1938528"/>
            <a:ext cx="4800600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2066544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22219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17320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Catch 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60604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Summarize threads, documents and meetings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303580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" y="319125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29992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Create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606040" y="2999232"/>
            <a:ext cx="3749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Draft emails, reports and presentations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" y="4005072"/>
            <a:ext cx="530352" cy="53035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" y="41605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39684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Analyze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606040" y="3968496"/>
            <a:ext cx="3749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Explore spreadsheet patterns and questions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4974336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" y="512978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17320" y="49377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Prepare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606040" y="4937760"/>
            <a:ext cx="3749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Build briefs, agendas and follow-up actions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5943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3B"/>
                </a:solidFill>
              </a:rPr>
              <a:t>Human checkpoint: review before sharing, deciding or publishing.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C3AED"/>
                </a:solidFill>
              </a:rPr>
              <a:t>07 |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A simple way to get better Copilot results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Good prompts reduce rework, but review remains essential.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2542032" cy="18288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9696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494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2834640"/>
            <a:ext cx="20848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What outcome do you need?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938528"/>
            <a:ext cx="2542032" cy="18288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139696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22494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33672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2834640"/>
            <a:ext cx="20848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What should Copilot know?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82512" y="1938528"/>
            <a:ext cx="2542032" cy="18288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2139696"/>
            <a:ext cx="402336" cy="402336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5976" y="22494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95744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Source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2834640"/>
            <a:ext cx="20848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Which files or information should it use?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44584" y="1938528"/>
            <a:ext cx="2542032" cy="18288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27464" y="213969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28048" y="22494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57816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Format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73184" y="2834640"/>
            <a:ext cx="20848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How should the answer be structured?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160520"/>
            <a:ext cx="10972800" cy="1078992"/>
          </a:xfrm>
          <a:prstGeom prst="roundRect">
            <a:avLst>
              <a:gd name="adj" fmla="val 423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407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</a:rPr>
              <a:t>Example prompt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325112"/>
            <a:ext cx="8915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Summarize this client feedback for senior management. Use the attached notes, group findings into strengths, risks and next actions, and keep it under 150 words.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Takeaway: Prompt → Review → Refine → Decide</a:t>
            </a:r>
            <a:endParaRPr 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Client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Copilot: Choose, Use, and Review</dc:title>
  <dc:subject>30-minute Microsoft Copilot fundamentals training</dc:subject>
  <dc:creator>Vijay Perepa</dc:creator>
  <cp:lastModifiedBy>Vijay Perepa</cp:lastModifiedBy>
  <cp:revision>2</cp:revision>
  <dcterms:created xsi:type="dcterms:W3CDTF">2026-08-16T06:23:58Z</dcterms:created>
  <dcterms:modified xsi:type="dcterms:W3CDTF">2026-08-16T06:26:54Z</dcterms:modified>
</cp:coreProperties>
</file>